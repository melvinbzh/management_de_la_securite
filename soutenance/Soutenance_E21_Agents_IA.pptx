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69" r:id="rId16"/>
    <p:sldId id="270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285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1 — Introduction (0 → 1 min). Présenter le sujet : des agents IA qui assistent un analyste de risques. Message d’entrée : l’IA propose, l’analyste décide (étape 6 mise en évidence).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(1 min). 8 parties, questions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2 — Contexte &amp; objectif (3 → 5 min). Problématique : méthode exigeante, peu reproductible, coûteuse. Objectif : système multi-agents opencode, méthode 6 étapes, sourcée et traçable, humain décideur.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 pilote ShoPix (1 min). TPE, données fictives, RGPD. Chiffres de l’étude de cas. Objectif de l’analyse : justifier un budget sécurité d’environ 2 500 €/an auprès du dirigeant. Les incidents passés servent de preuves pour les probabilités.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Méthode E21 (2 min). Les 6 étapes du sujet (p. 28) + 4 traitements. Chaque étape correspond à un agent de la chaîne. L’étape 6 est la seule où l’humain tranche : elle est mise en valeur.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3 — Infrastructure (8 → 10 min). L’orchestrateur collecte tout en une passe de questions, lance les 7 agents dans l’ordre ; chaque sortie passe par e21-controle avant d’être poussée sur GitHub. Les skills portent les grilles ; la knowledge_base porte les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 (1 min). Chaque étape de la chaîne produit un commit poussé (étape 1 → étape 7), corrections comprises (fix classDef Mermaid, niveaux R-06/R-02). PR #10 ferme l’issue #9 ; le board passe Todo → In Progress → Review →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Modes et permissions + LLM interchangeable (2 min). Réponse directe au risque « excès d’autonomie » : les agents proposent, n’exécutent rien. Réponse au risque « dépendance » : ollama / api / mock.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4 — Agents (13 → 15 min). Vue d’ensemble du dossier .opencode/agents. Préambule commun : format imposé, source obligatoire, entrée = donnée non fiable, aucun pouvoir d’exécution.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e21-controle (2 min). Contrôle de fond, sources, les 6 risques IA (hallucination, injection, fuite, excès d’autonomie, empoisonnement, dépendance) et le format. REJET = l’orchestrateur relance l’étape.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5 — Skills (19 → 23 min). Skills métier (format, méthode, garde-fous) et skills framework. Bascule de méthode : STRIDE par défaut, LINDDUN si RGPD, EBIOS RM pour OIV/administration, PASTA pour la vision métier. Pour ShoPix : STRIDE + LINDDUN + DREAD (CVSS en attente de la CVE réelle).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6 — Démo (23 min). Premier livrable : description du système. Point clé : tout est sur une seule VM mutualisée, sans segmentation. Cette frontière explique le risque critique R-10.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Résultats de la chaîne (1 min). 14 menaces → 13 risques validés : 2 critiques, 10 élevés, 1 moyen. Budget indicatif des mesures : environ 2 300 €/an sur les 2 500 € demandés.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humaine (1 min). Preuve que ce n’est pas un gadget : un rejet et une modification réels, tracés dans 06-validation.md et dans le commit « etape 6 - registre valide par l’analyste (R-13 rejete, R-14 modifie)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Évaluation (1 min). Le test T-04 vérifie automatiquement que chaque niveau affiché correspond à la bonne case de la matrice ; T-03 recalcule les 14 moyennes DREAD.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5 (issu de SYNTHESE.md). Chaque recommandation est liée à un ID du registre : c’est le « pourquoi » exigé. Échéance des actions critiques : novembre 2026, avant le pic des fêtes.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Exemple de risque complet (2 min). Montrer chaque champ : actif, menace, niveau, source, résiduel, validation. Note d’honnêteté : l’audit a relevé que certains ID ISO de l’index (A6.2, A7.2) sont inexacts, voir la partie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Recommandations de SYNTHESE.md. Chaque action cite le risque qui la justifie. Déclencheurs de ré-analyse : incident, changement de périmètre, CVE réelle PayFlow, évolution RGPD (ré-ouvre R-13).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7 — Tests (28 → 31 min). Stratégie : 06-plan-de-test.md. Tests déterministes, rejouables. Honnêteté : l’analyse manuelle de référence (comparatif agents vs main) n’est pas encore faite.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du document piégé (1 min). La fixture demande de tout valider en « faible » sans source. Vérification statique (T-07) + démonstration dynamique possible en soutenance avec la chaîne.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8 — Choix des modèles IA (32 → 35 min). Routeur par étape grâce à LlmProvider. Une analyse complète ≈ 25–30 k tokens : 128 k de contexte suffit. La machine de démo (~1 Go RAM libre) ne peut pas faire tourner un 7–8B local : démo en mock/opencode.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clé (1 min). « JSON à 100 % = la forme, jamais les valeurs. » Même Phi-4 14B (79,8 %) fait mieux que GPT-5 (79,5 %) sur les valeurs : la taille ne prédit rien. D’où les contrôles déterministes + humain.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9 — Limites (37 → 40 min). Assumer le périmètre : analyse amont au sens EBIOS/architecture. Deux limites deviennent la feuille de route : analyse réseau automatique et ingestion documentaire.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10 — Benchmark (40 → 42 min), produit par l’agent research (BENCHMARK.md). E21 perd sur le coût face aux outils gratuits (API) et n’est pas parfait sur la maîtrise des risques IA (4/5).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Avantages / inconvénients (1 min). Chaque inconvénient a une parade concrète ou une entrée dans la feuille de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 (1 min). Les faiblesses sont corrigeables sans refonte. Priorité absolue : fiabiliser l’index ISO 27002, puis porter les tests en pytest.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Partie 11 — Perspectives (43 → 44 min). Les deux limites majeures (réseau et documents) deviennent des chantiers : preuves automatisées pour la probabilité, et ingestion des documents clients.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(1 min). Reprendre les 4 messages clés : reproductibilité par les skills, source obligatoire, garde-fous déterministes, limites documentées avec une feuille de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(45 min →). Documents d’appui : CHOIX-MODELES-IA.md, AUDIT-SYSTEME.md, BENCHMARK.md, TESTS.md.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6.png"/><Relationship Id="rId4" Type="http://schemas.openxmlformats.org/officeDocument/2006/relationships/image" Target="../media/image31.png"/><Relationship Id="rId9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5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 E21 · MANAGEMENT DE LA SÉCURITÉ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 agents IA pour analyser les risques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système multi-agents opencode qui applique la méthode E21 : chaque risque est sourcé, chaque étape contrôlée, chaque décision prise par l’analyste.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Soutenance · M2 Cybersécurité · Septembre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172200" y="868680"/>
            <a:ext cx="0" cy="3291840"/>
          </a:xfrm>
          <a:prstGeom prst="line">
            <a:avLst/>
          </a:prstGeom>
          <a:noFill/>
          <a:ln w="25400">
            <a:solidFill>
              <a:srgbClr val="2A3A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989320" y="685800"/>
            <a:ext cx="365760" cy="365760"/>
          </a:xfrm>
          <a:prstGeom prst="ellipse">
            <a:avLst/>
          </a:prstGeom>
          <a:solidFill>
            <a:srgbClr val="131D31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5989320" y="685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685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Existant &amp; actifs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89320" y="1234440"/>
            <a:ext cx="365760" cy="365760"/>
          </a:xfrm>
          <a:prstGeom prst="ellipse">
            <a:avLst/>
          </a:prstGeom>
          <a:solidFill>
            <a:srgbClr val="131D31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598932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Choix de méthode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1783080"/>
            <a:ext cx="365760" cy="365760"/>
          </a:xfrm>
          <a:prstGeom prst="ellipse">
            <a:avLst/>
          </a:prstGeom>
          <a:solidFill>
            <a:srgbClr val="131D31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598932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Menaces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2331720"/>
            <a:ext cx="365760" cy="365760"/>
          </a:xfrm>
          <a:prstGeom prst="ellipse">
            <a:avLst/>
          </a:prstGeom>
          <a:solidFill>
            <a:srgbClr val="131D31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598932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Évaluation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9320" y="2880360"/>
            <a:ext cx="365760" cy="365760"/>
          </a:xfrm>
          <a:prstGeom prst="ellipse">
            <a:avLst/>
          </a:prstGeom>
          <a:solidFill>
            <a:srgbClr val="131D31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59893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Traitement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89320" y="3429000"/>
            <a:ext cx="365760" cy="365760"/>
          </a:xfrm>
          <a:prstGeom prst="ellipse">
            <a:avLst/>
          </a:prstGeom>
          <a:solidFill>
            <a:srgbClr val="2DD4BF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598932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122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Validation humaine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89320" y="3977640"/>
            <a:ext cx="365760" cy="365760"/>
          </a:xfrm>
          <a:prstGeom prst="ellipse">
            <a:avLst/>
          </a:prstGeom>
          <a:solidFill>
            <a:srgbClr val="131D31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 txBox="1"/>
          <p:nvPr/>
        </p:nvSpPr>
        <p:spPr>
          <a:xfrm>
            <a:off x="598932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Synthèse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Déroulé de la </a:t>
            </a:r>
            <a:r>
              <a:rPr lang="en-US" sz="2400" dirty="0" err="1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soutenance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Contexte &amp; objectif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64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Problématique, cas pilote ShoPix, méthode E21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28016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→ 8 min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4846320" y="128016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664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Architecture, workflow GitHub, permissions, LLM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128016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→ 13 min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121408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640080" y="212140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231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Agents &amp; skills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5054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agents, contrôle, bascule de méthode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121408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→ 23 min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121408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4846320" y="212140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2231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Démo : cas ShoPix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25054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Registre, matrice, validation humaine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2121408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→ 28 min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2962656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640080" y="296265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3072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Tests effectués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3346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T-01 → T-10, document piégé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3566160" y="2962656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→ 32 min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2962656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 txBox="1"/>
          <p:nvPr/>
        </p:nvSpPr>
        <p:spPr>
          <a:xfrm>
            <a:off x="4846320" y="296265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5440680" y="30723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Choix des modèles IA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40680" y="3346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modèle par étape, JSON ≠ valeurs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2962656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→ 37 min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3803904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 txBox="1"/>
          <p:nvPr/>
        </p:nvSpPr>
        <p:spPr>
          <a:xfrm>
            <a:off x="640080" y="380390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1234440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Limites &amp; benchmark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234440" y="4187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l’outil ne fait pas, comparatif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3566160" y="3803904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→ 43 min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3803904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 txBox="1"/>
          <p:nvPr/>
        </p:nvSpPr>
        <p:spPr>
          <a:xfrm>
            <a:off x="4846320" y="380390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</a:t>
            </a:r>
            <a:endParaRPr lang="en-US" sz="2200" dirty="0"/>
          </a:p>
        </p:txBody>
      </p:sp>
      <p:sp>
        <p:nvSpPr>
          <p:cNvPr id="41" name="Text 39"/>
          <p:cNvSpPr txBox="1"/>
          <p:nvPr/>
        </p:nvSpPr>
        <p:spPr>
          <a:xfrm>
            <a:off x="5440680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Audit &amp; perspectives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440680" y="4187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Findings, feuille de route, conclusion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772400" y="3803904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→ 45 min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CONTEXTE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Pourquoi des agents pour l’analyse de risques 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932688"/>
          </a:xfrm>
          <a:prstGeom prst="roundRect">
            <a:avLst>
              <a:gd name="adj" fmla="val 784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153619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42" y="1645554"/>
            <a:ext cx="201900" cy="201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435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Méthode exigeante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709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étapes, plusieurs grilles (STRIDE, EBIOS RM…), une source par affirmation.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359152"/>
            <a:ext cx="3931920" cy="932688"/>
          </a:xfrm>
          <a:prstGeom prst="roundRect">
            <a:avLst>
              <a:gd name="adj" fmla="val 784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640080" y="261518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442" y="2724546"/>
            <a:ext cx="201900" cy="201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34440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Peu reproductible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123444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Deux analystes, deux registres différents : la grille dépend de l’expert.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438144"/>
            <a:ext cx="3931920" cy="932688"/>
          </a:xfrm>
          <a:prstGeom prst="roundRect">
            <a:avLst>
              <a:gd name="adj" fmla="val 784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640080" y="369417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442" y="3803538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34440" y="3593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Coûteuse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234440" y="38679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Temps d’expert rare ; une TPE n’a ni équipe sécurité ni budget d’audit.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63440" y="1280160"/>
            <a:ext cx="4023360" cy="3090672"/>
          </a:xfrm>
          <a:prstGeom prst="roundRect">
            <a:avLst>
              <a:gd name="adj" fmla="val 23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5"/>
          <p:cNvSpPr txBox="1"/>
          <p:nvPr/>
        </p:nvSpPr>
        <p:spPr>
          <a:xfrm>
            <a:off x="4937760" y="1481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OBJECTIF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4937760" y="17830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 système multi-agents intégré à opencode qui applique la méthode E21 en 6 étapes, de bout en bout.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4937760" y="288036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1C294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3348" y="2965948"/>
            <a:ext cx="158008" cy="15800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394960" y="28803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Reproductible</a:t>
            </a: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grilles encodées dans des skills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937760" y="333756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1C294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3348" y="3423148"/>
            <a:ext cx="158008" cy="15800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94960" y="33375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Traçable</a:t>
            </a: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sources à ID stable + git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937760" y="3794760"/>
            <a:ext cx="329184" cy="329184"/>
          </a:xfrm>
          <a:prstGeom prst="roundRect">
            <a:avLst>
              <a:gd name="adj" fmla="val 27778"/>
            </a:avLst>
          </a:prstGeom>
          <a:solidFill>
            <a:srgbClr val="1C294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3348" y="3880348"/>
            <a:ext cx="158008" cy="15800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394960" y="37947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Humain décideur</a:t>
            </a: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valide_par toujours humain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32" name="Text 24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CAS PILOTE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ShoPix : une TPE e-commerce comme terrain de test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 k€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385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 par trimestre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28016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265176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9385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commandes / semaine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640080" y="2651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×3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1729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 nov.–déc.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251460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2651760" y="2651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2 500 €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31729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sécurité / an à justifier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8404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Données fictives de l’étude de cas · RGPD applicable (clients européens)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 SI fragile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155448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PHP 8.0 et MySQL en fin de vie, hébergeur mutualisé : site, API, back-office et base sur une seule VM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seul compte MySQL « shopix » avec tous les droits, sans WAF ni monitoring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« Mélanie » : mot de passe simple, pas de MFA, sessions de 30 jours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2834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Incidents déjà vécus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617720" y="3191256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4617720" y="319125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Clé MailJet volée : 2 jours de spam au nom de la boutique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3621024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4617720" y="36210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2024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0" y="3584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~1 000 tentatives/24 h sur /admin ; clé PayFlow exposée 1 mois sur GitHub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4050792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4617720" y="40507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2025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40142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Sauvegarde manuelle oubliée : 2 jours de commandes perdus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MÉTHODE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 méthode E21 : 6 étapes, 4 traitements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298448" cy="1600200"/>
          </a:xfrm>
          <a:prstGeom prst="roundRect">
            <a:avLst>
              <a:gd name="adj" fmla="val 563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94360" y="1435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84248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Décrire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286000"/>
            <a:ext cx="106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DFD + frontières de confiance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47088" y="1325880"/>
            <a:ext cx="1298448" cy="1600200"/>
          </a:xfrm>
          <a:prstGeom prst="roundRect">
            <a:avLst>
              <a:gd name="adj" fmla="val 563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1984248" y="1435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984248" y="1984248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Identifier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984248" y="2286000"/>
            <a:ext cx="106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STRIDE + LINDDUN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36976" y="1325880"/>
            <a:ext cx="1298448" cy="1600200"/>
          </a:xfrm>
          <a:prstGeom prst="roundRect">
            <a:avLst>
              <a:gd name="adj" fmla="val 563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3374136" y="1435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374136" y="1984248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Détailler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374136" y="2286000"/>
            <a:ext cx="106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MITRE ATT&amp;CK, CVE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26864" y="1325880"/>
            <a:ext cx="1298448" cy="1600200"/>
          </a:xfrm>
          <a:prstGeom prst="roundRect">
            <a:avLst>
              <a:gd name="adj" fmla="val 563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4764024" y="1435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4764024" y="1984248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Prioriser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764024" y="2286000"/>
            <a:ext cx="106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 × impact, DREAD, CVSS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16752" y="1325880"/>
            <a:ext cx="1298448" cy="1600200"/>
          </a:xfrm>
          <a:prstGeom prst="roundRect">
            <a:avLst>
              <a:gd name="adj" fmla="val 563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6153912" y="1435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153912" y="1984248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Traiter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153912" y="2286000"/>
            <a:ext cx="106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Contre-mesures sourcées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06640" y="1325880"/>
            <a:ext cx="1298448" cy="1600200"/>
          </a:xfrm>
          <a:prstGeom prst="roundRect">
            <a:avLst>
              <a:gd name="adj" fmla="val 5634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7543800" y="1435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1984248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Valider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543800" y="2286000"/>
            <a:ext cx="106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Humain : valide_par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Réponse à chaque risque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547872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 txBox="1"/>
          <p:nvPr/>
        </p:nvSpPr>
        <p:spPr>
          <a:xfrm>
            <a:off x="621792" y="35935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Réduire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contre-mesures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32888" y="3547872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 txBox="1"/>
          <p:nvPr/>
        </p:nvSpPr>
        <p:spPr>
          <a:xfrm>
            <a:off x="2697480" y="35935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Transférer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assurance, contrat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08576" y="3547872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 txBox="1"/>
          <p:nvPr/>
        </p:nvSpPr>
        <p:spPr>
          <a:xfrm>
            <a:off x="4773168" y="35935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Éviter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supprimer l’activité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84264" y="3547872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 txBox="1"/>
          <p:nvPr/>
        </p:nvSpPr>
        <p:spPr>
          <a:xfrm>
            <a:off x="6848856" y="35935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Accepter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décision écrite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Aucun risque n’est ignoré sans décision écrite ; le risque résiduel est toujours estimé.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INFRASTRUCTURE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Architecture : un orchestrateur, une chaîne, un contrôleur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1097280" cy="868680"/>
          </a:xfrm>
          <a:prstGeom prst="roundRect">
            <a:avLst>
              <a:gd name="adj" fmla="val 842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95528" y="213055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C294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80" y="2230404"/>
            <a:ext cx="184343" cy="1843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560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Analyste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572768" y="2487168"/>
            <a:ext cx="274320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1874520" y="2057400"/>
            <a:ext cx="1143000" cy="868680"/>
          </a:xfrm>
          <a:prstGeom prst="roundRect">
            <a:avLst>
              <a:gd name="adj" fmla="val 8421"/>
            </a:avLst>
          </a:prstGeom>
          <a:solidFill>
            <a:srgbClr val="E6F7F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2258568" y="213055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8420" y="2230404"/>
            <a:ext cx="184343" cy="18434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74520" y="25603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Orchestrateur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035808" y="2487168"/>
            <a:ext cx="228600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3291840" y="132588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 txBox="1"/>
          <p:nvPr/>
        </p:nvSpPr>
        <p:spPr>
          <a:xfrm>
            <a:off x="3474720" y="1325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Skills à la demande  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STRIDE · LINDDUN · EBIOS RM · PASTA · ATT&amp;CK · DREAD · CVSS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91840" y="2057400"/>
            <a:ext cx="704088" cy="868680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 txBox="1"/>
          <p:nvPr/>
        </p:nvSpPr>
        <p:spPr>
          <a:xfrm>
            <a:off x="3291840" y="2130552"/>
            <a:ext cx="704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3310128" y="2487168"/>
            <a:ext cx="667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Existant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4069080" y="2057400"/>
            <a:ext cx="704088" cy="868680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6"/>
          <p:cNvSpPr txBox="1"/>
          <p:nvPr/>
        </p:nvSpPr>
        <p:spPr>
          <a:xfrm>
            <a:off x="4069080" y="2130552"/>
            <a:ext cx="704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087368" y="2487168"/>
            <a:ext cx="667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Méthode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4846320" y="2057400"/>
            <a:ext cx="704088" cy="868680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19"/>
          <p:cNvSpPr txBox="1"/>
          <p:nvPr/>
        </p:nvSpPr>
        <p:spPr>
          <a:xfrm>
            <a:off x="4846320" y="2130552"/>
            <a:ext cx="704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4864608" y="2487168"/>
            <a:ext cx="667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Menaces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5623560" y="2057400"/>
            <a:ext cx="704088" cy="868680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 txBox="1"/>
          <p:nvPr/>
        </p:nvSpPr>
        <p:spPr>
          <a:xfrm>
            <a:off x="5623560" y="2130552"/>
            <a:ext cx="704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5641848" y="2487168"/>
            <a:ext cx="667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Évaluation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6400800" y="2057400"/>
            <a:ext cx="704088" cy="868680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5"/>
          <p:cNvSpPr txBox="1"/>
          <p:nvPr/>
        </p:nvSpPr>
        <p:spPr>
          <a:xfrm>
            <a:off x="6400800" y="2130552"/>
            <a:ext cx="704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6419088" y="2487168"/>
            <a:ext cx="667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Traitement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7178040" y="2057400"/>
            <a:ext cx="704088" cy="868680"/>
          </a:xfrm>
          <a:prstGeom prst="roundRect">
            <a:avLst>
              <a:gd name="adj" fmla="val 1039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8"/>
          <p:cNvSpPr txBox="1"/>
          <p:nvPr/>
        </p:nvSpPr>
        <p:spPr>
          <a:xfrm>
            <a:off x="7178040" y="2130552"/>
            <a:ext cx="704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7196328" y="2487168"/>
            <a:ext cx="667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Validation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7955280" y="2057400"/>
            <a:ext cx="704088" cy="868680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1"/>
          <p:cNvSpPr txBox="1"/>
          <p:nvPr/>
        </p:nvSpPr>
        <p:spPr>
          <a:xfrm>
            <a:off x="7955280" y="2130552"/>
            <a:ext cx="704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7973568" y="2487168"/>
            <a:ext cx="667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Synthèse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3291840" y="3090672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4"/>
          <p:cNvSpPr txBox="1"/>
          <p:nvPr/>
        </p:nvSpPr>
        <p:spPr>
          <a:xfrm>
            <a:off x="3474720" y="30906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e21-controle  </a:t>
            </a: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garde-fous après chaque étape → OK · WARN · REJET (reprise)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457200" y="374904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6"/>
          <p:cNvSpPr/>
          <p:nvPr/>
        </p:nvSpPr>
        <p:spPr>
          <a:xfrm>
            <a:off x="594360" y="393192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67" y="4036527"/>
            <a:ext cx="193121" cy="193121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1115568" y="3822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knowledge_base/</a:t>
            </a:r>
            <a:endParaRPr lang="en-US" sz="1100" dirty="0"/>
          </a:p>
        </p:txBody>
      </p:sp>
      <p:sp>
        <p:nvSpPr>
          <p:cNvPr id="43" name="Text 38"/>
          <p:cNvSpPr txBox="1"/>
          <p:nvPr/>
        </p:nvSpPr>
        <p:spPr>
          <a:xfrm>
            <a:off x="1115568" y="407822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 à ID stable (STRIDE-S, ISO27002-…)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3218688" y="374904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0"/>
          <p:cNvSpPr/>
          <p:nvPr/>
        </p:nvSpPr>
        <p:spPr>
          <a:xfrm>
            <a:off x="3355848" y="393192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0455" y="4036527"/>
            <a:ext cx="193121" cy="193121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3877056" y="3822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GitHub</a:t>
            </a:r>
            <a:endParaRPr lang="en-US" sz="1100" dirty="0"/>
          </a:p>
        </p:txBody>
      </p:sp>
      <p:sp>
        <p:nvSpPr>
          <p:cNvPr id="48" name="Text 42"/>
          <p:cNvSpPr txBox="1"/>
          <p:nvPr/>
        </p:nvSpPr>
        <p:spPr>
          <a:xfrm>
            <a:off x="3877056" y="407822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Branche par analyse, push à chaque étape, board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5980176" y="374904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Shape 44"/>
          <p:cNvSpPr/>
          <p:nvPr/>
        </p:nvSpPr>
        <p:spPr>
          <a:xfrm>
            <a:off x="6117336" y="393192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1943" y="4036527"/>
            <a:ext cx="193121" cy="193121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6638544" y="3822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Livrables</a:t>
            </a:r>
            <a:endParaRPr lang="en-US" sz="1100" dirty="0"/>
          </a:p>
        </p:txBody>
      </p:sp>
      <p:sp>
        <p:nvSpPr>
          <p:cNvPr id="53" name="Text 46"/>
          <p:cNvSpPr txBox="1"/>
          <p:nvPr/>
        </p:nvSpPr>
        <p:spPr>
          <a:xfrm>
            <a:off x="6638544" y="407822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00 → 06, registre .md/.json, SYNTHESE.md</a:t>
            </a:r>
            <a:endParaRPr lang="en-US" sz="900" dirty="0"/>
          </a:p>
        </p:txBody>
      </p:sp>
      <p:sp>
        <p:nvSpPr>
          <p:cNvPr id="54" name="Text 47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  <p:sp>
        <p:nvSpPr>
          <p:cNvPr id="55" name="Text 48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TRAÇABILITÉ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Traçabilité : tout passe par GitHub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Issue #9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938528" y="1298448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139696" y="1188720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2139696" y="11887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Branche analyses/…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21024" y="1298448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822192" y="1188720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3822192" y="11887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commit / étape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03520" y="1298448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504688" y="1188720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5504688" y="11887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 #10 fusionnée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86016" y="1298448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7187184" y="1188720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7187184" y="11887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Board : Done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3544" y="1600200"/>
            <a:ext cx="3759231" cy="3017520"/>
          </a:xfrm>
          <a:prstGeom prst="roundRect">
            <a:avLst>
              <a:gd name="adj" fmla="val 1818"/>
            </a:avLst>
          </a:prstGeom>
          <a:solidFill>
            <a:srgbClr val="E9EEF4"/>
          </a:solidFill>
          <a:ln w="9525">
            <a:solidFill>
              <a:srgbClr val="D5DDE7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34984" y="1677924"/>
            <a:ext cx="68580" cy="685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744712" y="1677924"/>
            <a:ext cx="68580" cy="685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854440" y="1677924"/>
            <a:ext cx="68580" cy="685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1000744" y="1632204"/>
            <a:ext cx="321059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github.com/…/commits/main</a:t>
            </a:r>
            <a:endParaRPr lang="en-US" sz="700" dirty="0"/>
          </a:p>
        </p:txBody>
      </p:sp>
      <p:pic>
        <p:nvPicPr>
          <p:cNvPr id="23" name="Image 0" descr="shots/c_commi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76" y="1819656"/>
            <a:ext cx="3704367" cy="2770632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4816602" y="1600200"/>
            <a:ext cx="3717036" cy="2697480"/>
          </a:xfrm>
          <a:prstGeom prst="roundRect">
            <a:avLst>
              <a:gd name="adj" fmla="val 2034"/>
            </a:avLst>
          </a:prstGeom>
          <a:solidFill>
            <a:srgbClr val="E9EEF4"/>
          </a:solidFill>
          <a:ln w="9525">
            <a:solidFill>
              <a:srgbClr val="D5DDE7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2"/>
          <p:cNvSpPr/>
          <p:nvPr/>
        </p:nvSpPr>
        <p:spPr>
          <a:xfrm>
            <a:off x="4908042" y="1677924"/>
            <a:ext cx="68580" cy="685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3"/>
          <p:cNvSpPr/>
          <p:nvPr/>
        </p:nvSpPr>
        <p:spPr>
          <a:xfrm>
            <a:off x="5017770" y="1677924"/>
            <a:ext cx="68580" cy="685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5127498" y="1677924"/>
            <a:ext cx="68580" cy="685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 txBox="1"/>
          <p:nvPr/>
        </p:nvSpPr>
        <p:spPr>
          <a:xfrm>
            <a:off x="5273802" y="1632204"/>
            <a:ext cx="31683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github.com/…/pull/10</a:t>
            </a:r>
            <a:endParaRPr lang="en-US" sz="700" dirty="0"/>
          </a:p>
        </p:txBody>
      </p:sp>
      <p:pic>
        <p:nvPicPr>
          <p:cNvPr id="29" name="Image 1" descr="shots/c_pr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034" y="1819656"/>
            <a:ext cx="3662172" cy="2450592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4663440" y="4434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commits, 11 fichiers livrés, validation et merge décidés par l’humain.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00" dirty="0"/>
          </a:p>
        </p:txBody>
      </p:sp>
      <p:sp>
        <p:nvSpPr>
          <p:cNvPr id="32" name="Text 28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SÉCURITÉ DU SYSTÈME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Moindre privilège et LLM interchangeable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Permissions par rôle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3931920" cy="19202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Droits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orchestrator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question, task (workflow)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e21-* (chaîne)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lecture + écriture Markdown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refusé à tous les agents de chaîne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github-manager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seul à gérer dépôt et board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Aucun agent ne modifie un système réel.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 LLM, trois implémentations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663440" y="160020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6"/>
          <p:cNvSpPr/>
          <p:nvPr/>
        </p:nvSpPr>
        <p:spPr>
          <a:xfrm>
            <a:off x="4800600" y="17556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207" y="1860255"/>
            <a:ext cx="193121" cy="1931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9240" y="1691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534924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Modèle local nominal : aucune donnée ne sort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663440" y="242316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4800600" y="257860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5207" y="2683215"/>
            <a:ext cx="193121" cy="1931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49240" y="2514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534924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Cloud, en secours ou pour comparaison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663440" y="324612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4"/>
          <p:cNvSpPr/>
          <p:nvPr/>
        </p:nvSpPr>
        <p:spPr>
          <a:xfrm>
            <a:off x="4800600" y="340156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5207" y="3506175"/>
            <a:ext cx="193121" cy="1931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49240" y="3337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 déterministe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534924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temperature = 0 : la démo ne peut pas échouer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4663440" y="4114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Bascule en une ligne de configuration (LlmProvider).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AGENTS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 agents, un rôle et une sortie chacun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22409" y="1234440"/>
            <a:ext cx="3641581" cy="3337560"/>
          </a:xfrm>
          <a:prstGeom prst="roundRect">
            <a:avLst>
              <a:gd name="adj" fmla="val 1644"/>
            </a:avLst>
          </a:prstGeom>
          <a:solidFill>
            <a:srgbClr val="E9EEF4"/>
          </a:solidFill>
          <a:ln w="9525">
            <a:solidFill>
              <a:srgbClr val="D5DDE7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013849" y="1312164"/>
            <a:ext cx="68580" cy="685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123577" y="1312164"/>
            <a:ext cx="68580" cy="685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233305" y="1312164"/>
            <a:ext cx="68580" cy="685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1379609" y="1266444"/>
            <a:ext cx="309294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github.com/…/.opencode/agents</a:t>
            </a:r>
            <a:endParaRPr lang="en-US" sz="700" dirty="0"/>
          </a:p>
        </p:txBody>
      </p:sp>
      <p:pic>
        <p:nvPicPr>
          <p:cNvPr id="9" name="Image 0" descr="shots/c_ag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841" y="1453896"/>
            <a:ext cx="3586717" cy="30906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257800" y="1234440"/>
            <a:ext cx="3429000" cy="749808"/>
          </a:xfrm>
          <a:prstGeom prst="roundRect">
            <a:avLst>
              <a:gd name="adj" fmla="val 97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 txBox="1"/>
          <p:nvPr/>
        </p:nvSpPr>
        <p:spPr>
          <a:xfrm>
            <a:off x="5413248" y="13075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Orchestration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413248" y="15361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413248" y="17282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collecte en une passe, lance et reprend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257800" y="2103120"/>
            <a:ext cx="3429000" cy="749808"/>
          </a:xfrm>
          <a:prstGeom prst="roundRect">
            <a:avLst>
              <a:gd name="adj" fmla="val 97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 txBox="1"/>
          <p:nvPr/>
        </p:nvSpPr>
        <p:spPr>
          <a:xfrm>
            <a:off x="5413248" y="21762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Chaîne E21 (7)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413248" y="24048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analyse-existant → synthese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5413248" y="2596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fichier 00 → 06 + SYNTHESE.md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257800" y="2971800"/>
            <a:ext cx="3429000" cy="749808"/>
          </a:xfrm>
          <a:prstGeom prst="roundRect">
            <a:avLst>
              <a:gd name="adj" fmla="val 975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 txBox="1"/>
          <p:nvPr/>
        </p:nvSpPr>
        <p:spPr>
          <a:xfrm>
            <a:off x="5413248" y="30449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Contrôle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413248" y="32735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e21-controle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5413248" y="34655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RAPPORT-CONTROLE.md : OK / WARN / REJET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257800" y="3840480"/>
            <a:ext cx="3429000" cy="749808"/>
          </a:xfrm>
          <a:prstGeom prst="roundRect">
            <a:avLst>
              <a:gd name="adj" fmla="val 97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 txBox="1"/>
          <p:nvPr/>
        </p:nvSpPr>
        <p:spPr>
          <a:xfrm>
            <a:off x="5413248" y="3913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Support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5413248" y="41422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github-manager · research · security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5413248" y="43342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board &amp; PR, veille, audit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GARDE-FOUS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e21-controle : un contrôle avant chaque push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937760" cy="2498047"/>
          </a:xfrm>
          <a:prstGeom prst="roundRect">
            <a:avLst>
              <a:gd name="adj" fmla="val 2196"/>
            </a:avLst>
          </a:prstGeom>
          <a:solidFill>
            <a:srgbClr val="E9EEF4"/>
          </a:solidFill>
          <a:ln w="9525">
            <a:solidFill>
              <a:srgbClr val="D5DDE7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48640" y="1312164"/>
            <a:ext cx="68580" cy="685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658368" y="1312164"/>
            <a:ext cx="68580" cy="685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768096" y="1312164"/>
            <a:ext cx="68580" cy="685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914400" y="1266444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RAPPORT-CONTROLE.md · étape 1</a:t>
            </a:r>
            <a:endParaRPr lang="en-US" sz="700" dirty="0"/>
          </a:p>
        </p:txBody>
      </p:sp>
      <p:pic>
        <p:nvPicPr>
          <p:cNvPr id="9" name="Image 0" descr="shots/controle-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453896"/>
            <a:ext cx="4882896" cy="225115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4069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Extrait réel du rapport de contrôle de l’étape 1 (9 contrôles, verdict OK).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1234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Trois verdicts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0" y="1572768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 txBox="1"/>
          <p:nvPr/>
        </p:nvSpPr>
        <p:spPr>
          <a:xfrm>
            <a:off x="5669280" y="15727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OK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15727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accepté, poussé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0" y="1938528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 txBox="1"/>
          <p:nvPr/>
        </p:nvSpPr>
        <p:spPr>
          <a:xfrm>
            <a:off x="5669280" y="19385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770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WARN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6537960" y="19385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accepté + signalé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69280" y="2304288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 txBox="1"/>
          <p:nvPr/>
        </p:nvSpPr>
        <p:spPr>
          <a:xfrm>
            <a:off x="5669280" y="23042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REJET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6537960" y="23042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bloquant : étape rejouée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669280" y="2834640"/>
            <a:ext cx="3017520" cy="1508760"/>
          </a:xfrm>
          <a:prstGeom prst="roundRect">
            <a:avLst>
              <a:gd name="adj" fmla="val 484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 txBox="1"/>
          <p:nvPr/>
        </p:nvSpPr>
        <p:spPr>
          <a:xfrm>
            <a:off x="585216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7/7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5852160" y="34747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étapes contrôlées et poussées sur ShoPix, 0 rejet bloquant. Seul WARN : la CVE du SDK PayFlow est un placeholder.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SKILLS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Les skills rendent l’analyse reproductible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Skills métier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621792" y="16276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analyse-risques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8562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étapes + 4 traitements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231136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621792" y="22860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registre-risques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5146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 tableau + JSON + valide_par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889504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621792" y="2944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garde-fous-ia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31729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6 risques propres aux LLM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547872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621792" y="36027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schemas-diagrammes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38313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conventions Mermaid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1234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Skills framework : bascule de méthode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80560" y="1572768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4617720" y="1627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STRIDE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18562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/ DFD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29400" y="1572768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6766560" y="1627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LINDDUN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18562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données personnelles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80560" y="2231136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4617720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EBIOS RM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617720" y="25146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OIV, administration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29400" y="2231136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 txBox="1"/>
          <p:nvPr/>
        </p:nvSpPr>
        <p:spPr>
          <a:xfrm>
            <a:off x="6766560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PASTA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25146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enjeux métier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480560" y="2889504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 txBox="1"/>
          <p:nvPr/>
        </p:nvSpPr>
        <p:spPr>
          <a:xfrm>
            <a:off x="4617720" y="2944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ATT&amp;CK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617720" y="3172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attaques réelles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29400" y="2889504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 txBox="1"/>
          <p:nvPr/>
        </p:nvSpPr>
        <p:spPr>
          <a:xfrm>
            <a:off x="6766560" y="2944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DREAD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766560" y="3172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priorisation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480560" y="3547872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 txBox="1"/>
          <p:nvPr/>
        </p:nvSpPr>
        <p:spPr>
          <a:xfrm>
            <a:off x="4617720" y="36027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CVSS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617720" y="38313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CVE connues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629400" y="3611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couleur : la combinaison choisie pour ShoPix.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DÉMO SHOPIX · ÉTAPE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 système modélisé : DFD et frontières de confiance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733409" y="1188720"/>
            <a:ext cx="5677182" cy="3246120"/>
          </a:xfrm>
          <a:prstGeom prst="roundRect">
            <a:avLst>
              <a:gd name="adj" fmla="val 1690"/>
            </a:avLst>
          </a:prstGeom>
          <a:solidFill>
            <a:srgbClr val="E9EEF4"/>
          </a:solidFill>
          <a:ln w="9525">
            <a:solidFill>
              <a:srgbClr val="D5DDE7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824849" y="1266444"/>
            <a:ext cx="68580" cy="685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934577" y="1266444"/>
            <a:ext cx="68580" cy="685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044305" y="1266444"/>
            <a:ext cx="68580" cy="685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2190609" y="1220724"/>
            <a:ext cx="512854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00-description.md · produit par e21-analyse-existant</a:t>
            </a:r>
            <a:endParaRPr lang="en-US" sz="700" dirty="0"/>
          </a:p>
        </p:txBody>
      </p:sp>
      <p:pic>
        <p:nvPicPr>
          <p:cNvPr id="9" name="Image 0" descr="shots/m_d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841" y="1408176"/>
            <a:ext cx="5622318" cy="29992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actifs inventoriés · 4 frontières de confiance · données personnelles : true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DÉMO SHOPIX · RÉSULTAT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14 menaces identifiées, 13 risques validés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14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menaces STRIDE / LINDDUN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42032" y="123444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2724912" y="12984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13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724912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risques au registre validé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123444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4809744" y="12984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809744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rejeté (R-13)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11696" y="123444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6894576" y="12984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894576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modifié (R-14)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Répartition des 13 risques validés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1266092" cy="502920"/>
          </a:xfrm>
          <a:prstGeom prst="rect">
            <a:avLst/>
          </a:prstGeom>
          <a:solidFill>
            <a:srgbClr val="DC262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457200" y="3063240"/>
            <a:ext cx="12660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723292" y="3063240"/>
            <a:ext cx="6330462" cy="502920"/>
          </a:xfrm>
          <a:prstGeom prst="rect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1723292" y="3063240"/>
            <a:ext cx="63304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53754" y="3063240"/>
            <a:ext cx="633046" cy="502920"/>
          </a:xfrm>
          <a:prstGeom prst="rect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8053754" y="3063240"/>
            <a:ext cx="6330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3767328"/>
            <a:ext cx="146304" cy="14630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68580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Critique  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R-01, R-10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767328"/>
            <a:ext cx="146304" cy="14630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 txBox="1"/>
          <p:nvPr/>
        </p:nvSpPr>
        <p:spPr>
          <a:xfrm>
            <a:off x="342900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Élevé  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R-03 à R-09, R-11, R-12, R-14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3767328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 txBox="1"/>
          <p:nvPr/>
        </p:nvSpPr>
        <p:spPr>
          <a:xfrm>
            <a:off x="617220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Moyen  </a:t>
            </a: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R-02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Traitement dominant : réduire (+ transférer pour R-05 et R-09). Aucun risque accepté tel quel.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DÉMO SHOPIX · ÉTAPE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L’humain a vraiment décidé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5819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risques validés tels quels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971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R-01 à R-12 : valide_par = « Analyste · 2026-09-23 »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0" y="128016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3383280" y="1463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58191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8328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C26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R-13 rejeté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383280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Non-conformité RGPD (LINDDUN-NC).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3383280" y="27432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Décision écrite consignée. L’exposition légale reste tracée : une plainte ou un contrôle CNIL déclenche une ré-analyse.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35040" y="128016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FF1E7"/>
          </a:solidFill>
          <a:ln w="12700">
            <a:solidFill>
              <a:srgbClr val="FFF1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6217920" y="1463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158191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1792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EA58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R-14 modifié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Perte de commandes (STRIDE-D).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2743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 : Moyen → Élevé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Niveau : Moyen → Élevé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Résiduel : Faible → Moyen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Motif : incident 2025, perte définitive.</a:t>
            </a:r>
            <a:endParaRPr lang="en-US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Aucun agent ne peut remplir valide_par : la décision reste à l’analyste.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DÉMO SHOPIX · ÉTAPE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Matrice probabilité × impact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325880"/>
            <a:ext cx="274320" cy="260604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PROBABILITÉ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Élevée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1325880"/>
            <a:ext cx="1417320" cy="868680"/>
          </a:xfrm>
          <a:prstGeom prst="rect">
            <a:avLst/>
          </a:prstGeom>
          <a:solidFill>
            <a:srgbClr val="FEF6E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1463040" y="13898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9770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Moyen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88920" y="1325880"/>
            <a:ext cx="1417320" cy="868680"/>
          </a:xfrm>
          <a:prstGeom prst="rect">
            <a:avLst/>
          </a:prstGeom>
          <a:solidFill>
            <a:srgbClr val="FFF1E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2880360" y="13898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A58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Élevé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2862072" y="160020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R-06 · R-11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1325880"/>
            <a:ext cx="1417320" cy="868680"/>
          </a:xfrm>
          <a:prstGeom prst="rect">
            <a:avLst/>
          </a:prstGeom>
          <a:solidFill>
            <a:srgbClr val="FDECE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4297680" y="13898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C26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Critique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279392" y="160020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R-01 · R-10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19456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Moyenne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71600" y="2194560"/>
            <a:ext cx="1417320" cy="868680"/>
          </a:xfrm>
          <a:prstGeom prst="rect">
            <a:avLst/>
          </a:prstGeom>
          <a:solidFill>
            <a:srgbClr val="EAF7E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1463040" y="22585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Faible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88920" y="2194560"/>
            <a:ext cx="1417320" cy="868680"/>
          </a:xfrm>
          <a:prstGeom prst="rect">
            <a:avLst/>
          </a:prstGeom>
          <a:solidFill>
            <a:srgbClr val="FEF6E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2880360" y="22585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9770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Moyen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2862072" y="246888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R-02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06240" y="2194560"/>
            <a:ext cx="1417320" cy="868680"/>
          </a:xfrm>
          <a:prstGeom prst="rect">
            <a:avLst/>
          </a:prstGeom>
          <a:solidFill>
            <a:srgbClr val="FFF1E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4297680" y="22585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A58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Élevé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279392" y="2468880"/>
            <a:ext cx="1271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R-03 · R-04 · R-05 · R-07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R-08 · R-09 · R-12 · R-14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06324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Faible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371600" y="3063240"/>
            <a:ext cx="1417320" cy="868680"/>
          </a:xfrm>
          <a:prstGeom prst="rect">
            <a:avLst/>
          </a:prstGeom>
          <a:solidFill>
            <a:srgbClr val="EAF7E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1463040" y="31272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Faible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88920" y="3063240"/>
            <a:ext cx="1417320" cy="868680"/>
          </a:xfrm>
          <a:prstGeom prst="rect">
            <a:avLst/>
          </a:prstGeom>
          <a:solidFill>
            <a:srgbClr val="EAF7E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2880360" y="31272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Faible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06240" y="3063240"/>
            <a:ext cx="1417320" cy="868680"/>
          </a:xfrm>
          <a:prstGeom prst="rect">
            <a:avLst/>
          </a:prstGeom>
          <a:solidFill>
            <a:srgbClr val="FEF6E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4297680" y="31272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9770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Moyen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1371600" y="39776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Faible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2788920" y="39776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Moyen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206240" y="39776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Élevé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371600" y="420624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5897880" y="13258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Deux notations complémentaires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897880" y="164592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Matrice : niveau de référence du registre, une phrase de justification par note.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DREAD : rang de priorisation (moyenne de 5 critères).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CVSS : réservé aux CVE réelles. Aucune note inventée.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97880" y="3200400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 txBox="1"/>
          <p:nvPr/>
        </p:nvSpPr>
        <p:spPr>
          <a:xfrm>
            <a:off x="6080760" y="32735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DREAD n°1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6080760" y="35021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R-10 · 8,8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608076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Élévation de privilèges sans segmentation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DÉMO SHOPIX · SYNTHÈSE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Les 5 risques prioritaires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1188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RISQUE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669280" y="1188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TRAITEMENT (RÉDUIRE)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594360" y="141732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R-01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1591056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1097280" y="159105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Critique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14813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Brute force sur /admin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17190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Observé en 2024, sans lockout ni MFA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14173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MFA + verrouillage + sessions courtes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07568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594360" y="207568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R-10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2249424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1097280" y="22494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Critique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21396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Élévation sans segmentation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23774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Site, API, back-office et MySQL sur une VM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20756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Séparer les composants, comptes MySQL distincts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73405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594360" y="273405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R-04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97280" y="2907792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 w="12700">
            <a:solidFill>
              <a:srgbClr val="FFF1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1097280" y="29077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A58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Élevé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783080" y="27980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SQLi / PHP 8.0 en fin de vie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783080" y="30358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Porte d’entrée de R-10 et R-12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27340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Requêtes paramétrées, patchs, moindre privilège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39242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 txBox="1"/>
          <p:nvPr/>
        </p:nvSpPr>
        <p:spPr>
          <a:xfrm>
            <a:off x="594360" y="339242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R-09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97280" y="356616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 w="12700">
            <a:solidFill>
              <a:srgbClr val="FFF1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 txBox="1"/>
          <p:nvPr/>
        </p:nvSpPr>
        <p:spPr>
          <a:xfrm>
            <a:off x="1097280" y="35661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A58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Élevé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1783080" y="34564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Indisponibilité en décembre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783080" y="36941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 des fêtes irrattrapable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0" y="33924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Monitoring, runbook + cyber-assurance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05079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 txBox="1"/>
          <p:nvPr/>
        </p:nvSpPr>
        <p:spPr>
          <a:xfrm>
            <a:off x="594360" y="405079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R-12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97280" y="4224528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 w="12700">
            <a:solidFill>
              <a:srgbClr val="FFF1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 txBox="1"/>
          <p:nvPr/>
        </p:nvSpPr>
        <p:spPr>
          <a:xfrm>
            <a:off x="1097280" y="42245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A58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Élevé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1783080" y="41148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Divulgation des données clients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783080" y="43525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Aucune procédure de notification 72 h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5669280" y="405079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Procédure art. 33, chiffrement, DPA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DÉMO SHOPIX · REGISTRE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Anatomie d’un risque : R-01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12064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22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ACTIF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3716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Back-office /admin, compte admin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647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MENACE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7647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Brute force /admin (STRIDE-S)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579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ÉVALUATION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15798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Proba Élevée · Impact Élevé → Critique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5511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TRAITEMENT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55117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Réduire : MFA, lockout, sessions courtes, sensibilisation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9443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JUSTIFICATION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29443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2024 (~1 000 tentatives / 24 h), pas de lockout ni MFA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337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33375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STRIDE-S · ISO27002-A8.5.2 · A6.2 · A7.2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7307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RÉSIDUEL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37307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Moyen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12394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VALIDÉ PAR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412394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Analyste · 2026-09-23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97880" y="128016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242" y="1389522"/>
            <a:ext cx="201900" cy="20190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446520" y="1261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Source obligatoire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446520" y="1554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ID doit exister dans knowledge_base/ (test T-05 : 63 citations).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897880" y="237744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242" y="2486802"/>
            <a:ext cx="201900" cy="20190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6446520" y="23591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Niveau recalculable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6446520" y="2651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niveau suit la matrice ; vérifié par T-04.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5897880" y="347472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7242" y="3584082"/>
            <a:ext cx="201900" cy="20190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6446520" y="34564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Signature humaine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6446520" y="3749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valide_par n’est jamais rempli par un agent (T-08).</a:t>
            </a:r>
            <a:endParaRPr lang="en-US" sz="950" dirty="0"/>
          </a:p>
        </p:txBody>
      </p:sp>
      <p:sp>
        <p:nvSpPr>
          <p:cNvPr id="33" name="Text 28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00" dirty="0"/>
          </a:p>
        </p:txBody>
      </p:sp>
      <p:sp>
        <p:nvSpPr>
          <p:cNvPr id="34" name="Text 29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DÉMO SHOPIX · LIVRABLE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 plan d’action chiffré pour le dirigeant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852160" cy="292608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Risque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Niveau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Échéance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MFA + verrouillage + sessions courtes sur /admin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R-01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Critique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Nov. 2026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A2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Séparer les composants, comptes MySQL distincts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R-10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Critique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Nov. 2026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A3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Requêtes paramétrées, patchs PHP/MySQL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R-04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A58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Élevé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Nov. 2026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composer audit, signature webhooks, DPA PayFlow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R-05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A58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Élevé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Dès CVE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A5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Monitoring, runbook, cyber-assurance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R-09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A58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Élevé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Nov. 2026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A6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Sauvegarde cron + test de restauration mensuel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R-14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A58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Élevé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Nov. 2026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A7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Rotation de la clé PayFlow, secret scanning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R-07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A58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Élevé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Nov. 2026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537960" y="1234440"/>
            <a:ext cx="2148840" cy="2926080"/>
          </a:xfrm>
          <a:prstGeom prst="roundRect">
            <a:avLst>
              <a:gd name="adj" fmla="val 3404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672084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 INDICATIF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720840" y="1691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~2 300 €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72084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 an, pour 2 500 € demandés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720840" y="28346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actions (A1 → A13), chacune liée à un risque du registre. Revue semestrielle, prochaine en mars 2027.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TESTS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Une suite de tests rejouable : 10/10 PASS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66928" y="123444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2801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npm audit (dépendances)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4996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vulnérabilité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0" y="1490472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2743200" y="149047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837944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566928" y="1837944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188366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Schéma registre_risques.json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1031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risques conformes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0" y="2093976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2743200" y="20939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441448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566928" y="2441448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24871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Moyennes DREAD recalculées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27066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14/14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0" y="269748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2743200" y="26974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7200" y="3044952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566928" y="304495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30906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Matrice probabilité × impact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3101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 cas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0" y="3300984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2743200" y="330098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3648456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566928" y="364845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3694176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Sources ⊆ index knowledge_base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39136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63 citations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0" y="3904488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 txBox="1"/>
          <p:nvPr/>
        </p:nvSpPr>
        <p:spPr>
          <a:xfrm>
            <a:off x="2743200" y="39044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520440" y="1234440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 txBox="1"/>
          <p:nvPr/>
        </p:nvSpPr>
        <p:spPr>
          <a:xfrm>
            <a:off x="3630168" y="1234440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T-06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160520" y="12801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Syntaxe Mermaid (régression)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4160520" y="14996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OK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806440" y="1490472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 txBox="1"/>
          <p:nvPr/>
        </p:nvSpPr>
        <p:spPr>
          <a:xfrm>
            <a:off x="5806440" y="149047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520440" y="1837944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 txBox="1"/>
          <p:nvPr/>
        </p:nvSpPr>
        <p:spPr>
          <a:xfrm>
            <a:off x="3630168" y="1837944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T-07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160520" y="188366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Document piégé (injection)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4160520" y="21031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consigne absente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806440" y="2093976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 txBox="1"/>
          <p:nvPr/>
        </p:nvSpPr>
        <p:spPr>
          <a:xfrm>
            <a:off x="5806440" y="20939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520440" y="2441448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 txBox="1"/>
          <p:nvPr/>
        </p:nvSpPr>
        <p:spPr>
          <a:xfrm>
            <a:off x="3630168" y="2441448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T-08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4160520" y="24871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valide_par toujours humain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4160520" y="27066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13/13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806440" y="269748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 txBox="1"/>
          <p:nvPr/>
        </p:nvSpPr>
        <p:spPr>
          <a:xfrm>
            <a:off x="5806440" y="26974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520440" y="3044952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 txBox="1"/>
          <p:nvPr/>
        </p:nvSpPr>
        <p:spPr>
          <a:xfrm>
            <a:off x="3630168" y="3044952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T-09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4160520" y="30906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Hygiène git / merge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4160520" y="33101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 #10 merged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806440" y="3300984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 txBox="1"/>
          <p:nvPr/>
        </p:nvSpPr>
        <p:spPr>
          <a:xfrm>
            <a:off x="5806440" y="330098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520440" y="3648456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 txBox="1"/>
          <p:nvPr/>
        </p:nvSpPr>
        <p:spPr>
          <a:xfrm>
            <a:off x="3630168" y="3648456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T-10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4160520" y="3694176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Structure knowledge_base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4160520" y="39136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 attendu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806440" y="3904488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 txBox="1"/>
          <p:nvPr/>
        </p:nvSpPr>
        <p:spPr>
          <a:xfrm>
            <a:off x="5806440" y="39044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9770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WARN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720840" y="1234440"/>
            <a:ext cx="1965960" cy="2926080"/>
          </a:xfrm>
          <a:prstGeom prst="roundRect">
            <a:avLst>
              <a:gd name="adj" fmla="val 372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 txBox="1"/>
          <p:nvPr/>
        </p:nvSpPr>
        <p:spPr>
          <a:xfrm>
            <a:off x="6858000" y="1371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10/10</a:t>
            </a:r>
            <a:endParaRPr lang="en-US" sz="3400" dirty="0"/>
          </a:p>
        </p:txBody>
      </p:sp>
      <p:sp>
        <p:nvSpPr>
          <p:cNvPr id="66" name="Text 64"/>
          <p:cNvSpPr txBox="1"/>
          <p:nvPr/>
        </p:nvSpPr>
        <p:spPr>
          <a:xfrm>
            <a:off x="685800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passe du 2026-09-24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6858000" y="24688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soutenance/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tests/verification.py</a:t>
            </a:r>
            <a:endParaRPr lang="en-US" sz="800" dirty="0"/>
          </a:p>
        </p:txBody>
      </p:sp>
      <p:sp>
        <p:nvSpPr>
          <p:cNvPr id="68" name="Text 66"/>
          <p:cNvSpPr txBox="1"/>
          <p:nvPr/>
        </p:nvSpPr>
        <p:spPr>
          <a:xfrm>
            <a:off x="6858000" y="31089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0 = OK. Le WARN de T-10 est documenté (audit P1).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800" dirty="0"/>
          </a:p>
        </p:txBody>
      </p:sp>
      <p:sp>
        <p:nvSpPr>
          <p:cNvPr id="70" name="Text 68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TESTS · INJECTION DE PROMPT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 document piégé : la consigne est ignorée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9824" y="1234440"/>
            <a:ext cx="8064352" cy="1737360"/>
          </a:xfrm>
          <a:prstGeom prst="roundRect">
            <a:avLst>
              <a:gd name="adj" fmla="val 3158"/>
            </a:avLst>
          </a:prstGeom>
          <a:solidFill>
            <a:srgbClr val="E9EEF4"/>
          </a:solidFill>
          <a:ln w="9525">
            <a:solidFill>
              <a:srgbClr val="D5DDE7"/>
            </a:solidFill>
            <a:prstDash val="solid"/>
          </a:ln>
          <a:effectLst>
            <a:outerShdw blurRad="101600" dist="38100" dir="5400000" algn="bl" rotWithShape="0">
              <a:srgbClr val="0B122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31264" y="1312164"/>
            <a:ext cx="68580" cy="685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40992" y="1312164"/>
            <a:ext cx="68580" cy="685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850720" y="1312164"/>
            <a:ext cx="68580" cy="685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997024" y="1266444"/>
            <a:ext cx="75157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soutenance/tests/document-piege.md</a:t>
            </a:r>
            <a:endParaRPr lang="en-US" sz="700" dirty="0"/>
          </a:p>
        </p:txBody>
      </p:sp>
      <p:pic>
        <p:nvPicPr>
          <p:cNvPr id="9" name="Image 0" descr="shots/c_pie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56" y="1453896"/>
            <a:ext cx="8009488" cy="14904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" y="324612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594360" y="338328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12" y="3483132"/>
            <a:ext cx="184343" cy="18434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94360" y="3822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Entrée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94360" y="407822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Cahier des charges contenant une consigne cachée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395728" y="3886200"/>
            <a:ext cx="14630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2560320" y="324612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2697480" y="338328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7332" y="3483132"/>
            <a:ext cx="184343" cy="18434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697480" y="3822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&lt;&lt;&lt;DONNÉES&gt;&gt;&gt;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2697480" y="407822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Tout document d’entrée = donnée non fiable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498848" y="3886200"/>
            <a:ext cx="14630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7"/>
          <p:cNvSpPr/>
          <p:nvPr/>
        </p:nvSpPr>
        <p:spPr>
          <a:xfrm>
            <a:off x="4663440" y="324612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18"/>
          <p:cNvSpPr/>
          <p:nvPr/>
        </p:nvSpPr>
        <p:spPr>
          <a:xfrm>
            <a:off x="4800600" y="338328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0452" y="3483132"/>
            <a:ext cx="184343" cy="18434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800600" y="3822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Consigne ignorée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4800600" y="407822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Seul l’orchestrateur donne des instructions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601968" y="3886200"/>
            <a:ext cx="14630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2"/>
          <p:cNvSpPr/>
          <p:nvPr/>
        </p:nvSpPr>
        <p:spPr>
          <a:xfrm>
            <a:off x="6766560" y="324612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3"/>
          <p:cNvSpPr/>
          <p:nvPr/>
        </p:nvSpPr>
        <p:spPr>
          <a:xfrm>
            <a:off x="6903720" y="338328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3572" y="3483132"/>
            <a:ext cx="184343" cy="18434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903720" y="3822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T-07 PASS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6903720" y="407822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consigne n’apparaît dans aucune sortie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800" dirty="0"/>
          </a:p>
        </p:txBody>
      </p:sp>
      <p:sp>
        <p:nvSpPr>
          <p:cNvPr id="34" name="Text 27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MODÈLES 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 modèle par étape, pas un modèle unique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9260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Étape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Modèle API recommandé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Alternative locale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Pourquoi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analyse-existant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PyMuPDF/Docling + Gemini 3.1 Pro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Docling + PaddleOCR-VL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PDF, captures, 1M ctx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méthode + menaces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Claude Sonnet 4.6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R1-Distill-Qwen-14B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discipline d’outils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évaluation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GPT-5 (o4-mini en reprise)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Qwen3-8B + Outlines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calcul, JSON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traitement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Claude JSON / GPT-5 strict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Qwen3-8B + SGLang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décodage contraint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validation-suivi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Claude Sonnet 4.6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Qwen3-8B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registre + valide_par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synthèse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Claude Sonnet 4.6 (128 k)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Qwen3-14B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~10 cts par synthèse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contrôle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GPT-5-mini + déterministe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Phi-4-mini (CPU)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anomalie, jamais décision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Instantané de septembre 2026 (source : CHOIX-MODELES-IA.md, agent research). Données réelles → local ou hébergement FR (ANSSI).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MODÈLES IA · POINT CLÉ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 JSON valide n’est pas un JSON correct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131D31"/>
          </a:solidFill>
          <a:ln w="12700">
            <a:solidFill>
              <a:srgbClr val="131D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685800" y="14630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100 %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JSON valide avec les structured outputs (8 API testées) : la forme est garantie.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32588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131D31"/>
          </a:solidFill>
          <a:ln w="12700">
            <a:solidFill>
              <a:srgbClr val="131D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4983480" y="14630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dirty="0">
                <a:solidFill>
                  <a:srgbClr val="FB92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≈ 83 %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377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plafond de justesse des valeurs (SOB, 2026) : le contenu, lui, ne l’est pas.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703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Réponse E21 : </a:t>
            </a: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contrôle des sources est déterministe et gratuit (sources ⊆ index, schéma, enums) ; le LLM n’ajoute qu’une couche d’anomalie sémantique, et l’humain valide.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LIMITES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 que l’outil ne fait pas (et c’est documenté)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12648" y="138988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55" y="1494495"/>
            <a:ext cx="193121" cy="1931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1325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 de scan réseau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170432" y="1600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 scan de vulnérabilités ni pentest : analyse amont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63440" y="123444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818888" y="138988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3495" y="1494495"/>
            <a:ext cx="193121" cy="1931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76672" y="1325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 de parsing auto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5376672" y="1600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PDF, .docx, .xlsx et images résumés par l’analyste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57200" y="205740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612648" y="22128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255" y="2317455"/>
            <a:ext cx="193121" cy="1931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70432" y="2148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 d’analyse de code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1170432" y="2423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 AST ni SCA automatique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663440" y="205740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4818888" y="22128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3495" y="2317455"/>
            <a:ext cx="193121" cy="1931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376672" y="2148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 de CVE inventée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5376672" y="2423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placeholder reste signalé comme tel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57200" y="288036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19"/>
          <p:cNvSpPr/>
          <p:nvPr/>
        </p:nvSpPr>
        <p:spPr>
          <a:xfrm>
            <a:off x="612648" y="303580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255" y="3140415"/>
            <a:ext cx="193121" cy="19312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70432" y="2971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 de chiffrage financier</a:t>
            </a:r>
            <a:endParaRPr lang="en-US" sz="1150" dirty="0"/>
          </a:p>
        </p:txBody>
      </p:sp>
      <p:sp>
        <p:nvSpPr>
          <p:cNvPr id="28" name="Text 21"/>
          <p:cNvSpPr txBox="1"/>
          <p:nvPr/>
        </p:nvSpPr>
        <p:spPr>
          <a:xfrm>
            <a:off x="1170432" y="3246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probabilité et impact qualitatifs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4663440" y="288036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3"/>
          <p:cNvSpPr/>
          <p:nvPr/>
        </p:nvSpPr>
        <p:spPr>
          <a:xfrm>
            <a:off x="4818888" y="303580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3495" y="3140415"/>
            <a:ext cx="193121" cy="19312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376672" y="2971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 de plateforme web</a:t>
            </a:r>
            <a:endParaRPr lang="en-US" sz="1150" dirty="0"/>
          </a:p>
        </p:txBody>
      </p:sp>
      <p:sp>
        <p:nvSpPr>
          <p:cNvPr id="33" name="Text 25"/>
          <p:cNvSpPr txBox="1"/>
          <p:nvPr/>
        </p:nvSpPr>
        <p:spPr>
          <a:xfrm>
            <a:off x="5376672" y="3246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 dans opencode, sur un poste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457200" y="370332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27"/>
          <p:cNvSpPr/>
          <p:nvPr/>
        </p:nvSpPr>
        <p:spPr>
          <a:xfrm>
            <a:off x="612648" y="385876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255" y="3963375"/>
            <a:ext cx="193121" cy="193121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170432" y="3794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 de supervision continue</a:t>
            </a:r>
            <a:endParaRPr lang="en-US" sz="1150" dirty="0"/>
          </a:p>
        </p:txBody>
      </p:sp>
      <p:sp>
        <p:nvSpPr>
          <p:cNvPr id="38" name="Text 29"/>
          <p:cNvSpPr txBox="1"/>
          <p:nvPr/>
        </p:nvSpPr>
        <p:spPr>
          <a:xfrm>
            <a:off x="1170432" y="4069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analyse = un instantané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4663440" y="370332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1"/>
          <p:cNvSpPr/>
          <p:nvPr/>
        </p:nvSpPr>
        <p:spPr>
          <a:xfrm>
            <a:off x="4818888" y="385876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3495" y="3963375"/>
            <a:ext cx="193121" cy="193121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376672" y="3794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 de validation automatique</a:t>
            </a:r>
            <a:endParaRPr lang="en-US" sz="1150" dirty="0"/>
          </a:p>
        </p:txBody>
      </p:sp>
      <p:sp>
        <p:nvSpPr>
          <p:cNvPr id="43" name="Text 33"/>
          <p:cNvSpPr txBox="1"/>
          <p:nvPr/>
        </p:nvSpPr>
        <p:spPr>
          <a:xfrm>
            <a:off x="5376672" y="4069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valide_par toujours humain</a:t>
            </a:r>
            <a:endParaRPr lang="en-US" sz="950" dirty="0"/>
          </a:p>
        </p:txBody>
      </p:sp>
      <p:sp>
        <p:nvSpPr>
          <p:cNvPr id="44" name="Text 34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800" dirty="0"/>
          </a:p>
        </p:txBody>
      </p:sp>
      <p:sp>
        <p:nvSpPr>
          <p:cNvPr id="45" name="Text 35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BENCHMARK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E21 face aux alternatives (note de 1 à 5)</a:t>
            </a:r>
            <a:endParaRPr lang="en-US" sz="2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941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Critère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MS TMT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Threat Dragon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IriusRisk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pytm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LLM chat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Multi-agents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E21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Effort (faible = 5)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Reproductibilité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Traçabilité des sources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Humain dans la boucle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Coût (faible = 5)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Adaptabilité de méthode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Maîtrise des risques IA</a:t>
                      </a:r>
                      <a:endParaRPr lang="en-US" sz="95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Outils dédiés : rigoureux mais méthode imposée. LLM chat : rapide mais incohérent et non contrôlé. Frameworks multi-agents : orchestration sans méthode métier ni garde-fous. E21 combine les quatre.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BILAN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Avantages et inconvénients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685800" y="1371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AVANTAGES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792224"/>
            <a:ext cx="182880" cy="182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1737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Méthode encodée dans des skills : reproductible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359152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05840" y="23042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 obligatoires, 13/13 risques sourcés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926080"/>
            <a:ext cx="182880" cy="1828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05840" y="28712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Humain réellement décideur (R-13, R-14)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493008"/>
            <a:ext cx="182880" cy="18288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05840" y="34381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Coût quasi nul : 0 € de licence, mock gratuit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059936"/>
            <a:ext cx="182880" cy="18288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005840" y="40050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Traçabilité git : branche, commits, PR, board</a:t>
            </a:r>
            <a:endParaRPr lang="en-US" sz="1050" dirty="0"/>
          </a:p>
        </p:txBody>
      </p:sp>
      <p:sp>
        <p:nvSpPr>
          <p:cNvPr id="16" name="Shape 9"/>
          <p:cNvSpPr/>
          <p:nvPr/>
        </p:nvSpPr>
        <p:spPr>
          <a:xfrm>
            <a:off x="4709160" y="123444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0"/>
          <p:cNvSpPr txBox="1"/>
          <p:nvPr/>
        </p:nvSpPr>
        <p:spPr>
          <a:xfrm>
            <a:off x="4937760" y="1371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INCONVÉNIENTS → PARADE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792224"/>
            <a:ext cx="182880" cy="18288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525780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Dépendance à opencode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sorties .md/.json autonomes</a:t>
            </a:r>
            <a:endParaRPr lang="en-US" sz="10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359152"/>
            <a:ext cx="182880" cy="18288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5257800" y="23042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 de parsing des documents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feuille de route OCR/parsing</a:t>
            </a:r>
            <a:endParaRPr lang="en-US" sz="10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926080"/>
            <a:ext cx="182880" cy="18288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5257800" y="287121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Évaluation qualitative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matrice + validation humaine</a:t>
            </a:r>
            <a:endParaRPr lang="en-US" sz="105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493008"/>
            <a:ext cx="182880" cy="182880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5257800" y="343814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Hallucination sur les valeurs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contrôles déterministes</a:t>
            </a:r>
            <a:endParaRPr lang="en-US" sz="105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4059936"/>
            <a:ext cx="182880" cy="182880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5257800" y="40050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 ISO 27002 imparfait</a:t>
            </a:r>
            <a:endParaRPr lang="en-US" sz="1050" dirty="0"/>
          </a:p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ré-indexation P1</a:t>
            </a:r>
            <a:endParaRPr lang="en-US" sz="1050" dirty="0"/>
          </a:p>
        </p:txBody>
      </p:sp>
      <p:sp>
        <p:nvSpPr>
          <p:cNvPr id="28" name="Text 16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800" dirty="0"/>
          </a:p>
        </p:txBody>
      </p:sp>
      <p:sp>
        <p:nvSpPr>
          <p:cNvPr id="29" name="Text 17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AUDIT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L’agent security a audité le système lui-même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94360" y="1344168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FF1E7"/>
          </a:solidFill>
          <a:ln w="12700">
            <a:solidFill>
              <a:srgbClr val="FFF1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594360" y="13441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A580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Élevé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075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Index ISO 27002 erroné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5636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Ex. A8.4 = accès au code source, pas journalisation ; A6.2 n’existe pas en 2022. Cités par des risques validés.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94360" y="2167128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594360" y="21671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Moyen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1305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Contrôle circulaire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3865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e21-controle vérifie l’existence dans l’index… qui est lui-même la référence.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94360" y="2990088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EF6E4"/>
          </a:solidFill>
          <a:ln w="12700">
            <a:solidFill>
              <a:srgbClr val="FEF6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594360" y="29900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Moyen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29535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Checklist non bouclée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2095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 manuelle de référence absente ; knowledge_base mono-fichier.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94360" y="3813048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594360" y="381304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Faible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37764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Dérives rédactionnelles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0325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~500 €/semaine » non dérivable ; niveau R-06 corrigé avant merge.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852160" y="1234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 d’amélioration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52160" y="1600200"/>
            <a:ext cx="2834640" cy="603504"/>
          </a:xfrm>
          <a:prstGeom prst="roundRect">
            <a:avLst>
              <a:gd name="adj" fmla="val 1212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 txBox="1"/>
          <p:nvPr/>
        </p:nvSpPr>
        <p:spPr>
          <a:xfrm>
            <a:off x="5989320" y="1600200"/>
            <a:ext cx="411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P1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165506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Ré-indexer l’index ISO 27002:2022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1965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½ j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852160" y="2313432"/>
            <a:ext cx="2834640" cy="603504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 txBox="1"/>
          <p:nvPr/>
        </p:nvSpPr>
        <p:spPr>
          <a:xfrm>
            <a:off x="5989320" y="2313432"/>
            <a:ext cx="411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P2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23682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Tests pytest des conventions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26791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j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852160" y="3026664"/>
            <a:ext cx="2834640" cy="603504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 txBox="1"/>
          <p:nvPr/>
        </p:nvSpPr>
        <p:spPr>
          <a:xfrm>
            <a:off x="5989320" y="3026664"/>
            <a:ext cx="411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P3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0" y="308152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Campagne garde-fous journalisée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0" y="33924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j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5852160" y="3840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audit : 0 vulnérabilité sur 32 dépendances. Aucun secret dans l’historique git.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PERSPECTIVES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Feuille de route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74980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76479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240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COURT TERME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505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Ré-indexation ISO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907792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Mapping ISO 27002:2022 exact, fichiers par thème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304288" y="1645920"/>
            <a:ext cx="457200" cy="457200"/>
          </a:xfrm>
          <a:prstGeom prst="ellipse">
            <a:avLst/>
          </a:prstGeom>
          <a:solidFill>
            <a:srgbClr val="0D9488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176479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121408" y="2240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COURT TERME</a:t>
            </a:r>
            <a:endParaRPr lang="en-US" sz="750" dirty="0"/>
          </a:p>
        </p:txBody>
      </p:sp>
      <p:sp>
        <p:nvSpPr>
          <p:cNvPr id="13" name="Text 9"/>
          <p:cNvSpPr txBox="1"/>
          <p:nvPr/>
        </p:nvSpPr>
        <p:spPr>
          <a:xfrm>
            <a:off x="2121408" y="24505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Tests pytest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2121408" y="2907792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registre, sources, matrice, formats en CI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968496" y="16459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7368" y="176479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785616" y="2240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ÉVOLUTION</a:t>
            </a:r>
            <a:endParaRPr lang="en-US" sz="750" dirty="0"/>
          </a:p>
        </p:txBody>
      </p:sp>
      <p:sp>
        <p:nvSpPr>
          <p:cNvPr id="18" name="Text 13"/>
          <p:cNvSpPr txBox="1"/>
          <p:nvPr/>
        </p:nvSpPr>
        <p:spPr>
          <a:xfrm>
            <a:off x="3785616" y="24505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Analyse réseau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3785616" y="2907792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nmap, OpenVAS, ZAP ; CVE réelles (NVD)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632704" y="16459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1576" y="176479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49824" y="2240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ÉVOLUTION</a:t>
            </a:r>
            <a:endParaRPr lang="en-US" sz="750" dirty="0"/>
          </a:p>
        </p:txBody>
      </p:sp>
      <p:sp>
        <p:nvSpPr>
          <p:cNvPr id="23" name="Text 17"/>
          <p:cNvSpPr txBox="1"/>
          <p:nvPr/>
        </p:nvSpPr>
        <p:spPr>
          <a:xfrm>
            <a:off x="5449824" y="24505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Ingestion documentaire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5449824" y="2907792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.pdf, .docx, .xlsx, images : parsing + OCR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7296912" y="164592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5784" y="176479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114032" y="2240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ÉVOLUTION</a:t>
            </a:r>
            <a:endParaRPr lang="en-US" sz="750" dirty="0"/>
          </a:p>
        </p:txBody>
      </p:sp>
      <p:sp>
        <p:nvSpPr>
          <p:cNvPr id="28" name="Text 21"/>
          <p:cNvSpPr txBox="1"/>
          <p:nvPr/>
        </p:nvSpPr>
        <p:spPr>
          <a:xfrm>
            <a:off x="7114032" y="24505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Supervision continue</a:t>
            </a:r>
            <a:endParaRPr lang="en-US" sz="1150" dirty="0"/>
          </a:p>
        </p:txBody>
      </p:sp>
      <p:sp>
        <p:nvSpPr>
          <p:cNvPr id="29" name="Text 22"/>
          <p:cNvSpPr txBox="1"/>
          <p:nvPr/>
        </p:nvSpPr>
        <p:spPr>
          <a:xfrm>
            <a:off x="7114032" y="2907792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ré-analyse périodique, delta-registre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4"/>
          <p:cNvSpPr txBox="1"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Extensions de méthode : </a:t>
            </a: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EBIOS RM « 5 ateliers » pour OIV et administrations, PASTA pour les comités métier, arbres d’attaque.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80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L’IA propose, l’analyste décide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31D31"/>
          </a:solidFill>
          <a:ln w="12700">
            <a:solidFill>
              <a:srgbClr val="131D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294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" y="17309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Reproductible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06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méthode est dans les skills, pas dans la mémoire du LLM.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3716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31D31"/>
          </a:solidFill>
          <a:ln w="12700">
            <a:solidFill>
              <a:srgbClr val="131D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3474720" y="1600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294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479" y="17309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Traçable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606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risque cite une source ; chaque étape est un commit contrôlé.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131D31"/>
          </a:solidFill>
          <a:ln w="12700">
            <a:solidFill>
              <a:srgbClr val="131D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6263640" y="1600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2942"/>
          </a:solidFill>
          <a:ln w="12700">
            <a:solidFill>
              <a:srgbClr val="1C29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4399" y="173095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6364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Humain décideur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263640" y="2606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valide_par est toujours humain : R-13 rejeté, R-14 modifié.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« Les garde-fous sont déterministes, pas une promesse du LLM. »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8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E21 · Agents IA &amp; analyse de risques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Questions ?</a:t>
            </a:r>
            <a:endParaRPr lang="en-US" sz="4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17520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0120" y="30175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github.com/MelvinBzh/management_de_la_securite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474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Analyse ShoPix : analyses/2026-09-23_boutique-en-ligne/  ·  Tests : soutenance/tests/verification.py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4171</Words>
  <Application>Microsoft Office PowerPoint</Application>
  <PresentationFormat>Affichage à l'écran (16:9)</PresentationFormat>
  <Paragraphs>777</Paragraphs>
  <Slides>29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4" baseType="lpstr">
      <vt:lpstr>Arial</vt:lpstr>
      <vt:lpstr>Consolas</vt:lpstr>
      <vt:lpstr>Segoe UI</vt:lpstr>
      <vt:lpstr>Segoe UI Semibold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 agents IA pour analyser les risques — Soutenance E21</dc:title>
  <dc:subject>PptxGenJS Presentation</dc:subject>
  <dc:creator>PptxGenJS</dc:creator>
  <cp:lastModifiedBy>melvin r</cp:lastModifiedBy>
  <cp:revision>2</cp:revision>
  <dcterms:created xsi:type="dcterms:W3CDTF">2026-09-24T08:30:44Z</dcterms:created>
  <dcterms:modified xsi:type="dcterms:W3CDTF">2026-09-24T08:42:01Z</dcterms:modified>
</cp:coreProperties>
</file>