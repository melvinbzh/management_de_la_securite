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3.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3.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1"/>
  </p:notesMasterIdLst>
  <p:sldIdLst>
    <p:sldId id="256" r:id="rId2"/>
    <p:sldId id="257" r:id="rId3"/>
    <p:sldId id="285" r:id="rId36"/>
    <p:sldId id="258" r:id="rId4"/>
    <p:sldId id="259" r:id="rId5"/>
    <p:sldId id="260" r:id="rId6"/>
    <p:sldId id="261" r:id="rId7"/>
    <p:sldId id="264" r:id="rId10"/>
    <p:sldId id="268" r:id="rId14"/>
    <p:sldId id="272" r:id="rId18"/>
    <p:sldId id="278" r:id="rId24"/>
    <p:sldId id="286" r:id="rId37"/>
    <p:sldId id="287" r:id="rId38"/>
    <p:sldId id="288" r:id="rId39"/>
    <p:sldId id="289" r:id="rId40"/>
    <p:sldId id="290" r:id="rId41"/>
    <p:sldId id="291" r:id="rId42"/>
    <p:sldId id="277" r:id="rId23"/>
    <p:sldId id="292" r:id="rId43"/>
    <p:sldId id="293" r:id="rId44"/>
    <p:sldId id="294" r:id="rId45"/>
    <p:sldId id="295" r:id="rId46"/>
    <p:sldId id="296" r:id="rId47"/>
    <p:sldId id="297" r:id="rId48"/>
    <p:sldId id="275" r:id="rId21"/>
    <p:sldId id="298" r:id="rId49"/>
    <p:sldId id="299" r:id="rId50"/>
    <p:sldId id="282" r:id="rId28"/>
    <p:sldId id="283" r:id="rId29"/>
    <p:sldId id="300" r:id="rId51"/>
    <p:sldId id="284" r:id="rId30"/>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4610"/>
  </p:normalViewPr>
  <p:slideViewPr>
    <p:cSldViewPr snapToGrid="0" snapToObjects="1">
      <p:cViewPr varScale="1">
        <p:scale>
          <a:sx n="72" d="100"/>
          <a:sy n="72" d="100"/>
        </p:scale>
        <p:origin x="1008"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10" Type="http://schemas.openxmlformats.org/officeDocument/2006/relationships/slide" Target="slides/slide9.xml"/><Relationship Id="rId14" Type="http://schemas.openxmlformats.org/officeDocument/2006/relationships/slide" Target="slides/slide13.xml"/><Relationship Id="rId18" Type="http://schemas.openxmlformats.org/officeDocument/2006/relationships/slide" Target="slides/slide17.xml"/><Relationship Id="rId21" Type="http://schemas.openxmlformats.org/officeDocument/2006/relationships/slide" Target="slides/slide20.xml"/><Relationship Id="rId23" Type="http://schemas.openxmlformats.org/officeDocument/2006/relationships/slide" Target="slides/slide22.xml"/><Relationship Id="rId24" Type="http://schemas.openxmlformats.org/officeDocument/2006/relationships/slide" Target="slides/slide23.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notesMaster" Target="notesMasters/notesMaster1.xml"/><Relationship Id="rId32" Type="http://schemas.openxmlformats.org/officeDocument/2006/relationships/presProps" Target="presProps.xml"/><Relationship Id="rId33" Type="http://schemas.openxmlformats.org/officeDocument/2006/relationships/viewProps" Target="viewProps.xml"/><Relationship Id="rId34" Type="http://schemas.openxmlformats.org/officeDocument/2006/relationships/theme" Target="theme/theme1.xml"/><Relationship Id="rId35" Type="http://schemas.openxmlformats.org/officeDocument/2006/relationships/tableStyles" Target="tableStyles.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43190782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Ouverture. La V1 est ce que nous avons rendu en cours (23-24 septembre). La V2 est ce que j'ai ajouté ensuite, seul, hors cours : elle répond point par point à la liste de ce que la V1 reconnaissait ne pas faire. Idée centrale : le modèle propose, le code vérifie, l'humain décide.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Le déroulé tient en 45 minutes. Le rappel de la V1 est volontairement court : le jury la connaît déjà, l'essentiel est la V2.</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Partie 2 — Contexte &amp; objectif (3 → 5 min). Problématique : méthode exigeante, peu reproductible, coûteuse. Objectif : système multi-agents opencode, méthode 6 étapes, sourcée et traçable, humain décideur.</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 pilote ShoPix (1 min). TPE, données fictives, RGPD. Chiffres de l’étude de cas. Objectif de l’analyse : justifier un budget sécurité d’environ 2 500 €/an auprès du dirigeant. Les incidents passés servent de preuves pour les probabilités.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Méthode E21 (2 min). Les 6 étapes du sujet (p. 28) + 4 traitements. Chaque étape correspond à un agent de la chaîne. L’étape 6 est la seule où l’humain tranche : elle est mise en valeur.</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Partie 3 — Infrastructure (8 → 10 min). L’orchestrateur collecte tout en une passe de questions, lance les 7 agents dans l’ordre ; chaque sortie passe par e21-controle avant d’être poussée sur GitHub. Les skills portent les grilles ; la knowledge_base porte les sources.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Partie 4 — Agents (13 → 15 min). Vue d’ensemble du dossier .opencode/agents. Préambule commun : format imposé, source obligatoire, entrée = donnée non fiable, aucun pouvoir d’exécution.</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Résultats de la chaîne (1 min). 14 menaces → 14 risques validés : 2 critiques, 11 élevés, 1 moyen. R-13 (non-conformité RGPD) a été rejeté lors d’un essai du circuit puis retenu le 24/09 : c’est un état de fait.</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Validation humaine (1 min). L’audit a jugé le rejet de R-13 contraire au cours : on ne rejette pas un fait, on le traite ou on l’accepte formellement. Le rejet était un essai du circuit ; il est reconsidéré et tracé dans 06-validation.md.</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T-07 est une régression statique du 24/09. T-11 a été exécuté le 04/10 sur une vraie fixture : onze contrôles, aucune consigne exécutée. Limite à dire : aucun appel du modèle en direct n'a été archivé. C'est la démonstration à faire en séance.</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clé (1 min). Notre propre audit en est la preuve : format parfait, contrôles OK, et pourtant des références fausses. D’où le contrôle de deuxième niveau déterministe (T-10) et la validation humaine.</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Chaque limite listée en V1 est reprise ici avec son statut. La V2 est la réponse à cette liste : lecture automatique, interface, chaîne locale, comparaison manuelle, test d'injection. Ce qui reste volontairement hors périmètre : le scan actif et l'analyse de code.</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Ce qui a été réalisé répond à la feuille de route V1. Ce qui reste est surtout de la sécurité et de la qualité du jugement du modèle.</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Trois messages : le code fait ce qui doit être exact ; chaque phrase renvoie à une preuve ; l'humain décide et ses décisions survivent. La phrase de fin est une posture : on a testé en vrai, on a trouvé des défauts, on les a corrigés, et on dit ce qui reste.</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Questions (45 min →). Documents d’appui : CHOIX-MODELES-IA.md, AUDIT-SYSTEME.md, BENCHMARK.md, TESTS.md.</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La frontière est une date et un commit : le 24 septembre à 13h34, juste après le dépôt de la soutenance. Tout ce qui suit est la V2, faite seul, hors cours.</a:t>
            </a:r>
          </a:p>
        </p:txBody>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C'est le changement de fond. En V1, la fiabilité reposait sur les consignes données aux agents. En V2, tout ce qui doit être exact est fait par le programme. Le modèle propose.</a:t>
            </a:r>
          </a:p>
        </p:txBody>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Quatre blocs. Le site guide l'analyste. Le dossier de connaissance est la seule source des agents. Le pilote déroule les étapes. Les modèles tournent en local.</a:t>
            </a:r>
          </a:p>
        </p:txBody>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Les étapes 1, 3, 4 et 5 sont produites par lots et assemblées par le code. Aux étapes 4 et 5 le modèle n'écrit que le jugement. Les étapes 6 et 7 n'ont plus d'agent : le registre et les chiffres sont établis par le code.</a:t>
            </a:r>
          </a:p>
        </p:txBody>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Mesures faites sur le corpus Nordval (22 documents). 97 % : le texte cité existe réellement dans le document. Les contradictions sont bruyantes : environ un signalement sur trois est un faux écart. C'est dit comme tel.</a:t>
            </a:r>
          </a:p>
        </p:txBody>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Chaque risque se remonte de la décision de l'analyste jusqu'à la phrase du document. Le contrôle déterministe détecte les citations qui n'existent pas.</a:t>
            </a:r>
          </a:p>
        </p:txBody>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Le choix est mesuré, pas supposé. Le juge est d'une autre famille que le rédacteur : un modèle tend à approuver ses propres erreurs.</a:t>
            </a:r>
          </a:p>
        </p:txBody>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Les chiffres viennent du run complet du 11 octobre sur Nordval. Le registre n'avait que 9 lignes quand un agent le relisait à la main. Le code en produit 151 en deux minutes.</a:t>
            </a:r>
          </a:p>
        </p:txBody>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La page de validation a été réorganisée plusieurs fois à partir de l'usage : cartes sous leur tableau, contradictions et questions en premier, enregistrement par bloc. Elle a été validée par l'analyste le 12 octobre.</a:t>
            </a:r>
          </a:p>
        </p:txBody>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On compare l'état des documents à l'état déjà appliqué aux livrables, on montre un plan avec des cases, et on n'applique que cela. Sur SanteTech avec un document ajouté : 13 minutes, trois actifs créés, tout le reste identique.</a:t>
            </a:r>
          </a:p>
        </p:txBody>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Les tests avec de faux modèles étaient verts. L'essai réel avec le vrai modèle a trouvé trois défauts. Ils sont corrigés et couverts par des tests. À dire clairement : les cas document modifié et document retiré ne sont testés qu'avec de faux modèles.</a:t>
            </a:r>
          </a:p>
        </p:txBody>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Le dossier complet est ce qu'on remet à une direction ou à un auditeur : on peut partir d'un risque et arriver à la phrase exacte du document.</a:t>
            </a:r>
          </a:p>
        </p:txBody>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Ces chiffres sont mesurés. Nordval : 22 documents, 38 actifs, 151 risques. SanteTech : 3 documents, 39 actifs, 135 risques. Dans les deux cas la part de risques critiques est trop élevée.</a:t>
            </a:r>
          </a:p>
        </p:txBody>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On les dit avant qu'on nous les demande. Aucune de ces limites n'est cachée : chacune a un chiffre et elle est dans le dossier écrit.</a:t>
            </a:r>
          </a:p>
        </p:txBody>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Le sujet demande les risques de notre propre système. Les risques propres à l'IA sont traités par des mesures concrètes. La sécurité de l'application elle-même n'est pas durcie : c'est dit, et c'est la première chose à faire avant tout usage réel.</a:t>
            </a:r>
          </a:p>
        </p:txBody>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Ne rien lancer d'long en direct : la carte graphique est lente et peut être occupée. Préparer un projet déjà analysé et un dossier déjà exporté.</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3.png"/><Relationship Id="rId6" Type="http://schemas.openxmlformats.org/officeDocument/2006/relationships/image" Target="../media/image4.png"/><Relationship Id="rId7" Type="http://schemas.openxmlformats.org/officeDocument/2006/relationships/image" Target="../media/image5.png"/><Relationship Id="rId8" Type="http://schemas.openxmlformats.org/officeDocument/2006/relationships/image" Target="../media/image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7.png"/><Relationship Id="rId4" Type="http://schemas.openxmlformats.org/officeDocument/2006/relationships/image" Target="../media/image8.png"/><Relationship Id="rId5" Type="http://schemas.openxmlformats.org/officeDocument/2006/relationships/image" Target="../media/image9.png"/><Relationship Id="rId6" Type="http://schemas.openxmlformats.org/officeDocument/2006/relationships/image" Target="../media/image10.png"/><Relationship Id="rId7" Type="http://schemas.openxmlformats.org/officeDocument/2006/relationships/image" Target="../media/image1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21.png"/><Relationship Id="rId4" Type="http://schemas.openxmlformats.org/officeDocument/2006/relationships/image" Target="../media/image22.png"/><Relationship Id="rId5" Type="http://schemas.openxmlformats.org/officeDocument/2006/relationships/image" Target="../media/image23.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24.png"/><Relationship Id="rId4" Type="http://schemas.openxmlformats.org/officeDocument/2006/relationships/image" Target="../media/image25.png"/><Relationship Id="rId5" Type="http://schemas.openxmlformats.org/officeDocument/2006/relationships/image" Target="../media/image26.png"/><Relationship Id="rId6" Type="http://schemas.openxmlformats.org/officeDocument/2006/relationships/image" Target="../media/image11.png"/><Relationship Id="rId7" Type="http://schemas.openxmlformats.org/officeDocument/2006/relationships/image" Target="../media/image27.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28.png"/><Relationship Id="rId4" Type="http://schemas.openxmlformats.org/officeDocument/2006/relationships/image" Target="../media/image29.png"/><Relationship Id="rId5" Type="http://schemas.openxmlformats.org/officeDocument/2006/relationships/image" Target="../media/image30.png"/><Relationship Id="rId6" Type="http://schemas.openxmlformats.org/officeDocument/2006/relationships/image" Target="../media/image31.png"/><Relationship Id="rId7" Type="http://schemas.openxmlformats.org/officeDocument/2006/relationships/image" Target="../media/image32.png"/><Relationship Id="rId8" Type="http://schemas.openxmlformats.org/officeDocument/2006/relationships/image" Target="../media/image33.png"/><Relationship Id="rId9" Type="http://schemas.openxmlformats.org/officeDocument/2006/relationships/image" Target="../media/image34.png"/><Relationship Id="rId10" Type="http://schemas.openxmlformats.org/officeDocument/2006/relationships/image" Target="../media/image35.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38.png"/><Relationship Id="rId4" Type="http://schemas.openxmlformats.org/officeDocument/2006/relationships/image" Target="../media/image39.png"/><Relationship Id="rId5" Type="http://schemas.openxmlformats.org/officeDocument/2006/relationships/image" Target="../media/image40.png"/><Relationship Id="rId6" Type="http://schemas.openxmlformats.org/officeDocument/2006/relationships/image" Target="../media/image13.png"/><Relationship Id="rId7" Type="http://schemas.openxmlformats.org/officeDocument/2006/relationships/image" Target="../media/image25.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image" Target="../media/image6.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 Id="rId3" Type="http://schemas.openxmlformats.org/officeDocument/2006/relationships/image" Target="../media/image41.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42.png"/><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43.png"/><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44.png"/><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45.png"/><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220"/>
        </a:solidFill>
        <a:effectLst/>
      </p:bgPr>
    </p:bg>
    <p:spTree>
      <p:nvGrpSpPr>
        <p:cNvPr id="1" name=""/>
        <p:cNvGrpSpPr/>
        <p:nvPr/>
      </p:nvGrpSpPr>
      <p:grpSpPr>
        <a:xfrm>
          <a:off x="0" y="0"/>
          <a:ext cx="0" cy="0"/>
          <a:chOff x="0" y="0"/>
          <a:chExt cx="0" cy="0"/>
        </a:xfrm>
      </p:grpSpPr>
      <p:sp>
        <p:nvSpPr>
          <p:cNvPr id="2" name="Text 0"/>
          <p:cNvSpPr txBox="1"/>
          <p:nvPr/>
        </p:nvSpPr>
        <p:spPr>
          <a:xfrm>
            <a:off x="548640" y="822960"/>
            <a:ext cx="4937760" cy="274320"/>
          </a:xfrm>
          <a:prstGeom prst="rect">
            <a:avLst/>
          </a:prstGeom>
          <a:noFill/>
          <a:ln/>
        </p:spPr>
        <p:txBody>
          <a:bodyPr wrap="square" lIns="0" tIns="0" rIns="0" bIns="0" rtlCol="0" anchor="t"/>
          <a:lstStyle/>
          <a:p>
            <a:pPr marL="0" indent="0">
              <a:buNone/>
            </a:pPr>
            <a:r>
              <a:rPr lang="en-US" sz="1100" kern="0" spc="200" dirty="0">
                <a:solidFill>
                  <a:srgbClr val="2DD4BF"/>
                </a:solidFill>
                <a:latin typeface="Consolas" pitchFamily="34" charset="0"/>
                <a:ea typeface="Consolas" pitchFamily="34" charset="-122"/>
                <a:cs typeface="Consolas" pitchFamily="34" charset="-120"/>
              </a:rPr>
              <a:t>PROJET E21 · MANAGEMENT DE LA SÉCURITÉ</a:t>
            </a:r>
            <a:endParaRPr lang="en-US" sz="1100" dirty="0"/>
          </a:p>
        </p:txBody>
      </p:sp>
      <p:sp>
        <p:nvSpPr>
          <p:cNvPr id="3" name="Text 1"/>
          <p:cNvSpPr txBox="1"/>
          <p:nvPr/>
        </p:nvSpPr>
        <p:spPr>
          <a:xfrm>
            <a:off x="548640" y="1188720"/>
            <a:ext cx="4846320" cy="1463040"/>
          </a:xfrm>
          <a:prstGeom prst="rect">
            <a:avLst/>
          </a:prstGeom>
          <a:noFill/>
          <a:ln/>
        </p:spPr>
        <p:txBody>
          <a:bodyPr wrap="square" lIns="0" tIns="0" rIns="0" bIns="0" rtlCol="0" anchor="t"/>
          <a:lstStyle/>
          <a:p>
            <a:pPr marL="0" indent="0">
              <a:buNone/>
            </a:pPr>
            <a:r>
              <a:rPr lang="en-US" sz="3800" dirty="0">
                <a:solidFill>
                  <a:srgbClr val="FFFFFF"/>
                </a:solidFill>
                <a:latin typeface="Segoe UI Semibold" pitchFamily="34" charset="0"/>
                <a:ea typeface="Segoe UI Semibold" pitchFamily="34" charset="-122"/>
                <a:cs typeface="Segoe UI Semibold" pitchFamily="34" charset="-120"/>
              </a:rPr>
              <a:t>Des agents IA pour analyser les risques</a:t>
            </a:r>
            <a:endParaRPr lang="en-US" sz="3800" dirty="0"/>
          </a:p>
        </p:txBody>
      </p:sp>
      <p:sp>
        <p:nvSpPr>
          <p:cNvPr id="4" name="Text 2"/>
          <p:cNvSpPr txBox="1"/>
          <p:nvPr/>
        </p:nvSpPr>
        <p:spPr>
          <a:xfrm>
            <a:off x="548640" y="2788920"/>
            <a:ext cx="4572000" cy="731520"/>
          </a:xfrm>
          <a:prstGeom prst="rect">
            <a:avLst/>
          </a:prstGeom>
          <a:noFill/>
          <a:ln/>
        </p:spPr>
        <p:txBody>
          <a:bodyPr wrap="square" lIns="0" tIns="0" rIns="0" bIns="0" rtlCol="0" anchor="t"/>
          <a:lstStyle/>
          <a:p>
            <a:pPr marL="0" indent="0">
              <a:buNone/>
            </a:pPr>
            <a:r>
              <a:rPr lang="en-US" sz="1300" dirty="0">
                <a:solidFill>
                  <a:srgbClr val="CBD5E1"/>
                </a:solidFill>
                <a:latin typeface="Segoe UI" pitchFamily="34" charset="0"/>
                <a:ea typeface="Segoe UI" pitchFamily="34" charset="-122"/>
                <a:cs typeface="Segoe UI" pitchFamily="34" charset="-120"/>
              </a:rPr>
              <a:t>La V1 rendue en cours, puis la V2 : lecture des documents, chaîne locale, preuves vérifiées, validation et mise à jour. Le modèle propose, le code vérifie, l'humain décide.</a:t>
            </a:r>
            <a:endParaRPr lang="en-US" sz="1300" dirty="0"/>
          </a:p>
        </p:txBody>
      </p:sp>
      <p:sp>
        <p:nvSpPr>
          <p:cNvPr id="5" name="Text 3"/>
          <p:cNvSpPr txBox="1"/>
          <p:nvPr/>
        </p:nvSpPr>
        <p:spPr>
          <a:xfrm>
            <a:off x="548640" y="3931920"/>
            <a:ext cx="4572000" cy="274320"/>
          </a:xfrm>
          <a:prstGeom prst="rect">
            <a:avLst/>
          </a:prstGeom>
          <a:noFill/>
          <a:ln/>
        </p:spPr>
        <p:txBody>
          <a:bodyPr wrap="square" lIns="0" tIns="0" rIns="0" bIns="0" rtlCol="0" anchor="t"/>
          <a:lstStyle/>
          <a:p>
            <a:pPr marL="0" indent="0">
              <a:buNone/>
            </a:pPr>
            <a:r>
              <a:rPr lang="en-US" sz="1300" dirty="0">
                <a:solidFill>
                  <a:srgbClr val="FFFFFF"/>
                </a:solidFill>
                <a:latin typeface="Segoe UI Semibold" pitchFamily="34" charset="0"/>
                <a:ea typeface="Segoe UI Semibold" pitchFamily="34" charset="-122"/>
                <a:cs typeface="Segoe UI Semibold" pitchFamily="34" charset="-120"/>
              </a:rPr>
              <a:t>Melvin RAIMBAULT</a:t>
            </a:r>
            <a:endParaRPr lang="en-US" sz="1300" dirty="0"/>
          </a:p>
        </p:txBody>
      </p:sp>
      <p:sp>
        <p:nvSpPr>
          <p:cNvPr id="6" name="Text 4"/>
          <p:cNvSpPr txBox="1"/>
          <p:nvPr/>
        </p:nvSpPr>
        <p:spPr>
          <a:xfrm>
            <a:off x="548640" y="4251960"/>
            <a:ext cx="4572000" cy="274320"/>
          </a:xfrm>
          <a:prstGeom prst="rect">
            <a:avLst/>
          </a:prstGeom>
          <a:noFill/>
          <a:ln/>
        </p:spPr>
        <p:txBody>
          <a:bodyPr wrap="square" lIns="0" tIns="0" rIns="0" bIns="0" rtlCol="0" anchor="t"/>
          <a:lstStyle/>
          <a:p>
            <a:pPr marL="0" indent="0">
              <a:buNone/>
            </a:pPr>
            <a:r>
              <a:rPr lang="en-US" sz="1000" dirty="0">
                <a:solidFill>
                  <a:srgbClr val="94A3B8"/>
                </a:solidFill>
                <a:latin typeface="Consolas" pitchFamily="34" charset="0"/>
                <a:ea typeface="Consolas" pitchFamily="34" charset="-122"/>
                <a:cs typeface="Consolas" pitchFamily="34" charset="-120"/>
              </a:rPr>
              <a:t>Soutenance V2 · améliorations hors cours · Octobre 2026</a:t>
            </a:r>
            <a:endParaRPr lang="en-US" sz="1000" dirty="0"/>
          </a:p>
        </p:txBody>
      </p:sp>
      <p:sp>
        <p:nvSpPr>
          <p:cNvPr id="7" name="Shape 5"/>
          <p:cNvSpPr/>
          <p:nvPr/>
        </p:nvSpPr>
        <p:spPr>
          <a:xfrm>
            <a:off x="6172200" y="868680"/>
            <a:ext cx="0" cy="3291840"/>
          </a:xfrm>
          <a:prstGeom prst="line">
            <a:avLst/>
          </a:prstGeom>
          <a:noFill/>
          <a:ln w="25400">
            <a:solidFill>
              <a:srgbClr val="2A3A57"/>
            </a:solidFill>
            <a:prstDash val="solid"/>
          </a:ln>
        </p:spPr>
        <p:txBody>
          <a:bodyPr/>
          <a:lstStyle/>
          <a:p>
            <a:endParaRPr lang="fr-FR"/>
          </a:p>
        </p:txBody>
      </p:sp>
      <p:sp>
        <p:nvSpPr>
          <p:cNvPr id="8" name="Shape 6"/>
          <p:cNvSpPr/>
          <p:nvPr/>
        </p:nvSpPr>
        <p:spPr>
          <a:xfrm>
            <a:off x="5989320" y="685800"/>
            <a:ext cx="365760" cy="365760"/>
          </a:xfrm>
          <a:prstGeom prst="ellipse">
            <a:avLst/>
          </a:prstGeom>
          <a:solidFill>
            <a:srgbClr val="131D31"/>
          </a:solidFill>
          <a:ln w="15875">
            <a:solidFill>
              <a:srgbClr val="2DD4BF"/>
            </a:solidFill>
            <a:prstDash val="solid"/>
          </a:ln>
        </p:spPr>
        <p:txBody>
          <a:bodyPr/>
          <a:lstStyle/>
          <a:p>
            <a:endParaRPr lang="fr-FR"/>
          </a:p>
        </p:txBody>
      </p:sp>
      <p:sp>
        <p:nvSpPr>
          <p:cNvPr id="9" name="Text 7"/>
          <p:cNvSpPr txBox="1"/>
          <p:nvPr/>
        </p:nvSpPr>
        <p:spPr>
          <a:xfrm>
            <a:off x="5989320" y="685800"/>
            <a:ext cx="365760" cy="365760"/>
          </a:xfrm>
          <a:prstGeom prst="rect">
            <a:avLst/>
          </a:prstGeom>
          <a:noFill/>
          <a:ln/>
        </p:spPr>
        <p:txBody>
          <a:bodyPr wrap="square" lIns="0" tIns="0" rIns="0" bIns="0" rtlCol="0" anchor="ctr"/>
          <a:lstStyle/>
          <a:p>
            <a:pPr marL="0" indent="0" algn="ctr">
              <a:buNone/>
            </a:pPr>
            <a:r>
              <a:rPr lang="en-US" sz="1100" dirty="0">
                <a:solidFill>
                  <a:srgbClr val="2DD4BF"/>
                </a:solidFill>
                <a:latin typeface="Segoe UI Semibold" pitchFamily="34" charset="0"/>
                <a:ea typeface="Segoe UI Semibold" pitchFamily="34" charset="-122"/>
                <a:cs typeface="Segoe UI Semibold" pitchFamily="34" charset="-120"/>
              </a:rPr>
              <a:t>1</a:t>
            </a:r>
            <a:endParaRPr lang="en-US" sz="1100" dirty="0"/>
          </a:p>
        </p:txBody>
      </p:sp>
      <p:sp>
        <p:nvSpPr>
          <p:cNvPr id="10" name="Text 8"/>
          <p:cNvSpPr txBox="1"/>
          <p:nvPr/>
        </p:nvSpPr>
        <p:spPr>
          <a:xfrm>
            <a:off x="6492240" y="685800"/>
            <a:ext cx="2194560" cy="365760"/>
          </a:xfrm>
          <a:prstGeom prst="rect">
            <a:avLst/>
          </a:prstGeom>
          <a:noFill/>
          <a:ln/>
        </p:spPr>
        <p:txBody>
          <a:bodyPr wrap="square" lIns="0" tIns="0" rIns="0" bIns="0" rtlCol="0" anchor="ctr"/>
          <a:lstStyle/>
          <a:p>
            <a:pPr marL="0" indent="0">
              <a:buNone/>
            </a:pPr>
            <a:r>
              <a:rPr lang="en-US" sz="1200" dirty="0">
                <a:solidFill>
                  <a:srgbClr val="E2E8F0"/>
                </a:solidFill>
                <a:latin typeface="Segoe UI" pitchFamily="34" charset="0"/>
                <a:ea typeface="Segoe UI" pitchFamily="34" charset="-122"/>
                <a:cs typeface="Segoe UI" pitchFamily="34" charset="-120"/>
              </a:rPr>
              <a:t>Existant &amp; actifs</a:t>
            </a:r>
            <a:endParaRPr lang="en-US" sz="1200" dirty="0"/>
          </a:p>
        </p:txBody>
      </p:sp>
      <p:sp>
        <p:nvSpPr>
          <p:cNvPr id="11" name="Shape 9"/>
          <p:cNvSpPr/>
          <p:nvPr/>
        </p:nvSpPr>
        <p:spPr>
          <a:xfrm>
            <a:off x="5989320" y="1234440"/>
            <a:ext cx="365760" cy="365760"/>
          </a:xfrm>
          <a:prstGeom prst="ellipse">
            <a:avLst/>
          </a:prstGeom>
          <a:solidFill>
            <a:srgbClr val="131D31"/>
          </a:solidFill>
          <a:ln w="15875">
            <a:solidFill>
              <a:srgbClr val="2DD4BF"/>
            </a:solidFill>
            <a:prstDash val="solid"/>
          </a:ln>
        </p:spPr>
        <p:txBody>
          <a:bodyPr/>
          <a:lstStyle/>
          <a:p>
            <a:endParaRPr lang="fr-FR"/>
          </a:p>
        </p:txBody>
      </p:sp>
      <p:sp>
        <p:nvSpPr>
          <p:cNvPr id="12" name="Text 10"/>
          <p:cNvSpPr txBox="1"/>
          <p:nvPr/>
        </p:nvSpPr>
        <p:spPr>
          <a:xfrm>
            <a:off x="5989320" y="1234440"/>
            <a:ext cx="365760" cy="365760"/>
          </a:xfrm>
          <a:prstGeom prst="rect">
            <a:avLst/>
          </a:prstGeom>
          <a:noFill/>
          <a:ln/>
        </p:spPr>
        <p:txBody>
          <a:bodyPr wrap="square" lIns="0" tIns="0" rIns="0" bIns="0" rtlCol="0" anchor="ctr"/>
          <a:lstStyle/>
          <a:p>
            <a:pPr marL="0" indent="0" algn="ctr">
              <a:buNone/>
            </a:pPr>
            <a:r>
              <a:rPr lang="en-US" sz="1100" dirty="0">
                <a:solidFill>
                  <a:srgbClr val="2DD4BF"/>
                </a:solidFill>
                <a:latin typeface="Segoe UI Semibold" pitchFamily="34" charset="0"/>
                <a:ea typeface="Segoe UI Semibold" pitchFamily="34" charset="-122"/>
                <a:cs typeface="Segoe UI Semibold" pitchFamily="34" charset="-120"/>
              </a:rPr>
              <a:t>2</a:t>
            </a:r>
            <a:endParaRPr lang="en-US" sz="1100" dirty="0"/>
          </a:p>
        </p:txBody>
      </p:sp>
      <p:sp>
        <p:nvSpPr>
          <p:cNvPr id="13" name="Text 11"/>
          <p:cNvSpPr txBox="1"/>
          <p:nvPr/>
        </p:nvSpPr>
        <p:spPr>
          <a:xfrm>
            <a:off x="6492240" y="1234440"/>
            <a:ext cx="2194560" cy="365760"/>
          </a:xfrm>
          <a:prstGeom prst="rect">
            <a:avLst/>
          </a:prstGeom>
          <a:noFill/>
          <a:ln/>
        </p:spPr>
        <p:txBody>
          <a:bodyPr wrap="square" lIns="0" tIns="0" rIns="0" bIns="0" rtlCol="0" anchor="ctr"/>
          <a:lstStyle/>
          <a:p>
            <a:pPr marL="0" indent="0">
              <a:buNone/>
            </a:pPr>
            <a:r>
              <a:rPr lang="en-US" sz="1200" dirty="0">
                <a:solidFill>
                  <a:srgbClr val="E2E8F0"/>
                </a:solidFill>
                <a:latin typeface="Segoe UI" pitchFamily="34" charset="0"/>
                <a:ea typeface="Segoe UI" pitchFamily="34" charset="-122"/>
                <a:cs typeface="Segoe UI" pitchFamily="34" charset="-120"/>
              </a:rPr>
              <a:t>Choix de méthode</a:t>
            </a:r>
            <a:endParaRPr lang="en-US" sz="1200" dirty="0"/>
          </a:p>
        </p:txBody>
      </p:sp>
      <p:sp>
        <p:nvSpPr>
          <p:cNvPr id="14" name="Shape 12"/>
          <p:cNvSpPr/>
          <p:nvPr/>
        </p:nvSpPr>
        <p:spPr>
          <a:xfrm>
            <a:off x="5989320" y="1783080"/>
            <a:ext cx="365760" cy="365760"/>
          </a:xfrm>
          <a:prstGeom prst="ellipse">
            <a:avLst/>
          </a:prstGeom>
          <a:solidFill>
            <a:srgbClr val="131D31"/>
          </a:solidFill>
          <a:ln w="15875">
            <a:solidFill>
              <a:srgbClr val="2DD4BF"/>
            </a:solidFill>
            <a:prstDash val="solid"/>
          </a:ln>
        </p:spPr>
        <p:txBody>
          <a:bodyPr/>
          <a:lstStyle/>
          <a:p>
            <a:endParaRPr lang="fr-FR"/>
          </a:p>
        </p:txBody>
      </p:sp>
      <p:sp>
        <p:nvSpPr>
          <p:cNvPr id="15" name="Text 13"/>
          <p:cNvSpPr txBox="1"/>
          <p:nvPr/>
        </p:nvSpPr>
        <p:spPr>
          <a:xfrm>
            <a:off x="5989320" y="1783080"/>
            <a:ext cx="365760" cy="365760"/>
          </a:xfrm>
          <a:prstGeom prst="rect">
            <a:avLst/>
          </a:prstGeom>
          <a:noFill/>
          <a:ln/>
        </p:spPr>
        <p:txBody>
          <a:bodyPr wrap="square" lIns="0" tIns="0" rIns="0" bIns="0" rtlCol="0" anchor="ctr"/>
          <a:lstStyle/>
          <a:p>
            <a:pPr marL="0" indent="0" algn="ctr">
              <a:buNone/>
            </a:pPr>
            <a:r>
              <a:rPr lang="en-US" sz="1100" dirty="0">
                <a:solidFill>
                  <a:srgbClr val="2DD4BF"/>
                </a:solidFill>
                <a:latin typeface="Segoe UI Semibold" pitchFamily="34" charset="0"/>
                <a:ea typeface="Segoe UI Semibold" pitchFamily="34" charset="-122"/>
                <a:cs typeface="Segoe UI Semibold" pitchFamily="34" charset="-120"/>
              </a:rPr>
              <a:t>3</a:t>
            </a:r>
            <a:endParaRPr lang="en-US" sz="1100" dirty="0"/>
          </a:p>
        </p:txBody>
      </p:sp>
      <p:sp>
        <p:nvSpPr>
          <p:cNvPr id="16" name="Text 14"/>
          <p:cNvSpPr txBox="1"/>
          <p:nvPr/>
        </p:nvSpPr>
        <p:spPr>
          <a:xfrm>
            <a:off x="6492240" y="1783080"/>
            <a:ext cx="2194560" cy="365760"/>
          </a:xfrm>
          <a:prstGeom prst="rect">
            <a:avLst/>
          </a:prstGeom>
          <a:noFill/>
          <a:ln/>
        </p:spPr>
        <p:txBody>
          <a:bodyPr wrap="square" lIns="0" tIns="0" rIns="0" bIns="0" rtlCol="0" anchor="ctr"/>
          <a:lstStyle/>
          <a:p>
            <a:pPr marL="0" indent="0">
              <a:buNone/>
            </a:pPr>
            <a:r>
              <a:rPr lang="en-US" sz="1200" dirty="0">
                <a:solidFill>
                  <a:srgbClr val="E2E8F0"/>
                </a:solidFill>
                <a:latin typeface="Segoe UI" pitchFamily="34" charset="0"/>
                <a:ea typeface="Segoe UI" pitchFamily="34" charset="-122"/>
                <a:cs typeface="Segoe UI" pitchFamily="34" charset="-120"/>
              </a:rPr>
              <a:t>Menaces</a:t>
            </a:r>
            <a:endParaRPr lang="en-US" sz="1200" dirty="0"/>
          </a:p>
        </p:txBody>
      </p:sp>
      <p:sp>
        <p:nvSpPr>
          <p:cNvPr id="17" name="Shape 15"/>
          <p:cNvSpPr/>
          <p:nvPr/>
        </p:nvSpPr>
        <p:spPr>
          <a:xfrm>
            <a:off x="5989320" y="2331720"/>
            <a:ext cx="365760" cy="365760"/>
          </a:xfrm>
          <a:prstGeom prst="ellipse">
            <a:avLst/>
          </a:prstGeom>
          <a:solidFill>
            <a:srgbClr val="131D31"/>
          </a:solidFill>
          <a:ln w="15875">
            <a:solidFill>
              <a:srgbClr val="2DD4BF"/>
            </a:solidFill>
            <a:prstDash val="solid"/>
          </a:ln>
        </p:spPr>
        <p:txBody>
          <a:bodyPr/>
          <a:lstStyle/>
          <a:p>
            <a:endParaRPr lang="fr-FR"/>
          </a:p>
        </p:txBody>
      </p:sp>
      <p:sp>
        <p:nvSpPr>
          <p:cNvPr id="18" name="Text 16"/>
          <p:cNvSpPr txBox="1"/>
          <p:nvPr/>
        </p:nvSpPr>
        <p:spPr>
          <a:xfrm>
            <a:off x="5989320" y="2331720"/>
            <a:ext cx="365760" cy="365760"/>
          </a:xfrm>
          <a:prstGeom prst="rect">
            <a:avLst/>
          </a:prstGeom>
          <a:noFill/>
          <a:ln/>
        </p:spPr>
        <p:txBody>
          <a:bodyPr wrap="square" lIns="0" tIns="0" rIns="0" bIns="0" rtlCol="0" anchor="ctr"/>
          <a:lstStyle/>
          <a:p>
            <a:pPr marL="0" indent="0" algn="ctr">
              <a:buNone/>
            </a:pPr>
            <a:r>
              <a:rPr lang="en-US" sz="1100" dirty="0">
                <a:solidFill>
                  <a:srgbClr val="2DD4BF"/>
                </a:solidFill>
                <a:latin typeface="Segoe UI Semibold" pitchFamily="34" charset="0"/>
                <a:ea typeface="Segoe UI Semibold" pitchFamily="34" charset="-122"/>
                <a:cs typeface="Segoe UI Semibold" pitchFamily="34" charset="-120"/>
              </a:rPr>
              <a:t>4</a:t>
            </a:r>
            <a:endParaRPr lang="en-US" sz="1100" dirty="0"/>
          </a:p>
        </p:txBody>
      </p:sp>
      <p:sp>
        <p:nvSpPr>
          <p:cNvPr id="19" name="Text 17"/>
          <p:cNvSpPr txBox="1"/>
          <p:nvPr/>
        </p:nvSpPr>
        <p:spPr>
          <a:xfrm>
            <a:off x="6492240" y="2331720"/>
            <a:ext cx="2194560" cy="365760"/>
          </a:xfrm>
          <a:prstGeom prst="rect">
            <a:avLst/>
          </a:prstGeom>
          <a:noFill/>
          <a:ln/>
        </p:spPr>
        <p:txBody>
          <a:bodyPr wrap="square" lIns="0" tIns="0" rIns="0" bIns="0" rtlCol="0" anchor="ctr"/>
          <a:lstStyle/>
          <a:p>
            <a:pPr marL="0" indent="0">
              <a:buNone/>
            </a:pPr>
            <a:r>
              <a:rPr lang="en-US" sz="1200" dirty="0">
                <a:solidFill>
                  <a:srgbClr val="E2E8F0"/>
                </a:solidFill>
                <a:latin typeface="Segoe UI" pitchFamily="34" charset="0"/>
                <a:ea typeface="Segoe UI" pitchFamily="34" charset="-122"/>
                <a:cs typeface="Segoe UI" pitchFamily="34" charset="-120"/>
              </a:rPr>
              <a:t>Évaluation</a:t>
            </a:r>
            <a:endParaRPr lang="en-US" sz="1200" dirty="0"/>
          </a:p>
        </p:txBody>
      </p:sp>
      <p:sp>
        <p:nvSpPr>
          <p:cNvPr id="20" name="Shape 18"/>
          <p:cNvSpPr/>
          <p:nvPr/>
        </p:nvSpPr>
        <p:spPr>
          <a:xfrm>
            <a:off x="5989320" y="2880360"/>
            <a:ext cx="365760" cy="365760"/>
          </a:xfrm>
          <a:prstGeom prst="ellipse">
            <a:avLst/>
          </a:prstGeom>
          <a:solidFill>
            <a:srgbClr val="131D31"/>
          </a:solidFill>
          <a:ln w="15875">
            <a:solidFill>
              <a:srgbClr val="2DD4BF"/>
            </a:solidFill>
            <a:prstDash val="solid"/>
          </a:ln>
        </p:spPr>
        <p:txBody>
          <a:bodyPr/>
          <a:lstStyle/>
          <a:p>
            <a:endParaRPr lang="fr-FR"/>
          </a:p>
        </p:txBody>
      </p:sp>
      <p:sp>
        <p:nvSpPr>
          <p:cNvPr id="21" name="Text 19"/>
          <p:cNvSpPr txBox="1"/>
          <p:nvPr/>
        </p:nvSpPr>
        <p:spPr>
          <a:xfrm>
            <a:off x="5989320" y="2880360"/>
            <a:ext cx="365760" cy="365760"/>
          </a:xfrm>
          <a:prstGeom prst="rect">
            <a:avLst/>
          </a:prstGeom>
          <a:noFill/>
          <a:ln/>
        </p:spPr>
        <p:txBody>
          <a:bodyPr wrap="square" lIns="0" tIns="0" rIns="0" bIns="0" rtlCol="0" anchor="ctr"/>
          <a:lstStyle/>
          <a:p>
            <a:pPr marL="0" indent="0" algn="ctr">
              <a:buNone/>
            </a:pPr>
            <a:r>
              <a:rPr lang="en-US" sz="1100" dirty="0">
                <a:solidFill>
                  <a:srgbClr val="2DD4BF"/>
                </a:solidFill>
                <a:latin typeface="Segoe UI Semibold" pitchFamily="34" charset="0"/>
                <a:ea typeface="Segoe UI Semibold" pitchFamily="34" charset="-122"/>
                <a:cs typeface="Segoe UI Semibold" pitchFamily="34" charset="-120"/>
              </a:rPr>
              <a:t>5</a:t>
            </a:r>
            <a:endParaRPr lang="en-US" sz="1100" dirty="0"/>
          </a:p>
        </p:txBody>
      </p:sp>
      <p:sp>
        <p:nvSpPr>
          <p:cNvPr id="22" name="Text 20"/>
          <p:cNvSpPr txBox="1"/>
          <p:nvPr/>
        </p:nvSpPr>
        <p:spPr>
          <a:xfrm>
            <a:off x="6492240" y="2880360"/>
            <a:ext cx="2194560" cy="365760"/>
          </a:xfrm>
          <a:prstGeom prst="rect">
            <a:avLst/>
          </a:prstGeom>
          <a:noFill/>
          <a:ln/>
        </p:spPr>
        <p:txBody>
          <a:bodyPr wrap="square" lIns="0" tIns="0" rIns="0" bIns="0" rtlCol="0" anchor="ctr"/>
          <a:lstStyle/>
          <a:p>
            <a:pPr marL="0" indent="0">
              <a:buNone/>
            </a:pPr>
            <a:r>
              <a:rPr lang="en-US" sz="1200" dirty="0">
                <a:solidFill>
                  <a:srgbClr val="E2E8F0"/>
                </a:solidFill>
                <a:latin typeface="Segoe UI" pitchFamily="34" charset="0"/>
                <a:ea typeface="Segoe UI" pitchFamily="34" charset="-122"/>
                <a:cs typeface="Segoe UI" pitchFamily="34" charset="-120"/>
              </a:rPr>
              <a:t>Traitement</a:t>
            </a:r>
            <a:endParaRPr lang="en-US" sz="1200" dirty="0"/>
          </a:p>
        </p:txBody>
      </p:sp>
      <p:sp>
        <p:nvSpPr>
          <p:cNvPr id="23" name="Shape 21"/>
          <p:cNvSpPr/>
          <p:nvPr/>
        </p:nvSpPr>
        <p:spPr>
          <a:xfrm>
            <a:off x="5989320" y="3429000"/>
            <a:ext cx="365760" cy="365760"/>
          </a:xfrm>
          <a:prstGeom prst="ellipse">
            <a:avLst/>
          </a:prstGeom>
          <a:solidFill>
            <a:srgbClr val="2DD4BF"/>
          </a:solidFill>
          <a:ln w="15875">
            <a:solidFill>
              <a:srgbClr val="2DD4BF"/>
            </a:solidFill>
            <a:prstDash val="solid"/>
          </a:ln>
        </p:spPr>
        <p:txBody>
          <a:bodyPr/>
          <a:lstStyle/>
          <a:p>
            <a:endParaRPr lang="fr-FR"/>
          </a:p>
        </p:txBody>
      </p:sp>
      <p:sp>
        <p:nvSpPr>
          <p:cNvPr id="24" name="Text 22"/>
          <p:cNvSpPr txBox="1"/>
          <p:nvPr/>
        </p:nvSpPr>
        <p:spPr>
          <a:xfrm>
            <a:off x="5989320" y="3429000"/>
            <a:ext cx="365760" cy="365760"/>
          </a:xfrm>
          <a:prstGeom prst="rect">
            <a:avLst/>
          </a:prstGeom>
          <a:noFill/>
          <a:ln/>
        </p:spPr>
        <p:txBody>
          <a:bodyPr wrap="square" lIns="0" tIns="0" rIns="0" bIns="0" rtlCol="0" anchor="ctr"/>
          <a:lstStyle/>
          <a:p>
            <a:pPr marL="0" indent="0" algn="ctr">
              <a:buNone/>
            </a:pPr>
            <a:r>
              <a:rPr lang="en-US" sz="1100" dirty="0">
                <a:solidFill>
                  <a:srgbClr val="0B1220"/>
                </a:solidFill>
                <a:latin typeface="Segoe UI Semibold" pitchFamily="34" charset="0"/>
                <a:ea typeface="Segoe UI Semibold" pitchFamily="34" charset="-122"/>
                <a:cs typeface="Segoe UI Semibold" pitchFamily="34" charset="-120"/>
              </a:rPr>
              <a:t>6</a:t>
            </a:r>
            <a:endParaRPr lang="en-US" sz="1100" dirty="0"/>
          </a:p>
        </p:txBody>
      </p:sp>
      <p:sp>
        <p:nvSpPr>
          <p:cNvPr id="25" name="Text 23"/>
          <p:cNvSpPr txBox="1"/>
          <p:nvPr/>
        </p:nvSpPr>
        <p:spPr>
          <a:xfrm>
            <a:off x="6492240" y="3429000"/>
            <a:ext cx="2194560" cy="365760"/>
          </a:xfrm>
          <a:prstGeom prst="rect">
            <a:avLst/>
          </a:prstGeom>
          <a:noFill/>
          <a:ln/>
        </p:spPr>
        <p:txBody>
          <a:bodyPr wrap="square" lIns="0" tIns="0" rIns="0" bIns="0" rtlCol="0" anchor="ctr"/>
          <a:lstStyle/>
          <a:p>
            <a:pPr marL="0" indent="0">
              <a:buNone/>
            </a:pPr>
            <a:r>
              <a:rPr lang="en-US" sz="1200" dirty="0">
                <a:solidFill>
                  <a:srgbClr val="2DD4BF"/>
                </a:solidFill>
                <a:latin typeface="Segoe UI Semibold" pitchFamily="34" charset="0"/>
                <a:ea typeface="Segoe UI Semibold" pitchFamily="34" charset="-122"/>
                <a:cs typeface="Segoe UI Semibold" pitchFamily="34" charset="-120"/>
              </a:rPr>
              <a:t>Validation humaine</a:t>
            </a:r>
            <a:endParaRPr lang="en-US" sz="1200" dirty="0"/>
          </a:p>
        </p:txBody>
      </p:sp>
      <p:sp>
        <p:nvSpPr>
          <p:cNvPr id="26" name="Shape 24"/>
          <p:cNvSpPr/>
          <p:nvPr/>
        </p:nvSpPr>
        <p:spPr>
          <a:xfrm>
            <a:off x="5989320" y="3977640"/>
            <a:ext cx="365760" cy="365760"/>
          </a:xfrm>
          <a:prstGeom prst="ellipse">
            <a:avLst/>
          </a:prstGeom>
          <a:solidFill>
            <a:srgbClr val="131D31"/>
          </a:solidFill>
          <a:ln w="15875">
            <a:solidFill>
              <a:srgbClr val="2DD4BF"/>
            </a:solidFill>
            <a:prstDash val="solid"/>
          </a:ln>
        </p:spPr>
        <p:txBody>
          <a:bodyPr/>
          <a:lstStyle/>
          <a:p>
            <a:endParaRPr lang="fr-FR"/>
          </a:p>
        </p:txBody>
      </p:sp>
      <p:sp>
        <p:nvSpPr>
          <p:cNvPr id="27" name="Text 25"/>
          <p:cNvSpPr txBox="1"/>
          <p:nvPr/>
        </p:nvSpPr>
        <p:spPr>
          <a:xfrm>
            <a:off x="5989320" y="3977640"/>
            <a:ext cx="365760" cy="365760"/>
          </a:xfrm>
          <a:prstGeom prst="rect">
            <a:avLst/>
          </a:prstGeom>
          <a:noFill/>
          <a:ln/>
        </p:spPr>
        <p:txBody>
          <a:bodyPr wrap="square" lIns="0" tIns="0" rIns="0" bIns="0" rtlCol="0" anchor="ctr"/>
          <a:lstStyle/>
          <a:p>
            <a:pPr marL="0" indent="0" algn="ctr">
              <a:buNone/>
            </a:pPr>
            <a:r>
              <a:rPr lang="en-US" sz="1100" dirty="0">
                <a:solidFill>
                  <a:srgbClr val="2DD4BF"/>
                </a:solidFill>
                <a:latin typeface="Segoe UI Semibold" pitchFamily="34" charset="0"/>
                <a:ea typeface="Segoe UI Semibold" pitchFamily="34" charset="-122"/>
                <a:cs typeface="Segoe UI Semibold" pitchFamily="34" charset="-120"/>
              </a:rPr>
              <a:t>7</a:t>
            </a:r>
            <a:endParaRPr lang="en-US" sz="1100" dirty="0"/>
          </a:p>
        </p:txBody>
      </p:sp>
      <p:sp>
        <p:nvSpPr>
          <p:cNvPr id="28" name="Text 26"/>
          <p:cNvSpPr txBox="1"/>
          <p:nvPr/>
        </p:nvSpPr>
        <p:spPr>
          <a:xfrm>
            <a:off x="6492240" y="3977640"/>
            <a:ext cx="2194560" cy="365760"/>
          </a:xfrm>
          <a:prstGeom prst="rect">
            <a:avLst/>
          </a:prstGeom>
          <a:noFill/>
          <a:ln/>
        </p:spPr>
        <p:txBody>
          <a:bodyPr wrap="square" lIns="0" tIns="0" rIns="0" bIns="0" rtlCol="0" anchor="ctr"/>
          <a:lstStyle/>
          <a:p>
            <a:pPr marL="0" indent="0">
              <a:buNone/>
            </a:pPr>
            <a:r>
              <a:rPr lang="en-US" sz="1200" dirty="0">
                <a:solidFill>
                  <a:srgbClr val="E2E8F0"/>
                </a:solidFill>
                <a:latin typeface="Segoe UI" pitchFamily="34" charset="0"/>
                <a:ea typeface="Segoe UI" pitchFamily="34" charset="-122"/>
                <a:cs typeface="Segoe UI" pitchFamily="34" charset="-120"/>
              </a:rPr>
              <a:t>Synthèse</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457200" y="292608"/>
            <a:ext cx="8229600" cy="228600"/>
          </a:xfrm>
          <a:prstGeom prst="rect">
            <a:avLst/>
          </a:prstGeom>
          <a:noFill/>
        </p:spPr>
        <p:txBody>
          <a:bodyPr wrap="square" lIns="0" rIns="0" tIns="0" bIns="0" anchor="t">
            <a:spAutoFit/>
          </a:bodyPr>
          <a:lstStyle/>
          <a:p>
            <a:r>
              <a:rPr sz="1000" b="0">
                <a:solidFill>
                  <a:srgbClr val="0D9488"/>
                </a:solidFill>
                <a:latin typeface="Consolas"/>
              </a:rPr>
              <a:t>PLAN</a:t>
            </a:r>
          </a:p>
        </p:txBody>
      </p:sp>
      <p:sp>
        <p:nvSpPr>
          <p:cNvPr id="3" name="TextBox 2"/>
          <p:cNvSpPr txBox="1"/>
          <p:nvPr/>
        </p:nvSpPr>
        <p:spPr>
          <a:xfrm>
            <a:off x="457200" y="502920"/>
            <a:ext cx="8229600" cy="548640"/>
          </a:xfrm>
          <a:prstGeom prst="rect">
            <a:avLst/>
          </a:prstGeom>
          <a:noFill/>
        </p:spPr>
        <p:txBody>
          <a:bodyPr wrap="square" lIns="0" rIns="0" tIns="0" bIns="0" anchor="t">
            <a:spAutoFit/>
          </a:bodyPr>
          <a:lstStyle/>
          <a:p>
            <a:r>
              <a:rPr sz="2400" b="0">
                <a:solidFill>
                  <a:srgbClr val="0F172A"/>
                </a:solidFill>
                <a:latin typeface="Segoe UI Semibold"/>
              </a:rPr>
              <a:t>Déroulé de la soutenance (45 min)</a:t>
            </a:r>
          </a:p>
        </p:txBody>
      </p:sp>
      <p:sp>
        <p:nvSpPr>
          <p:cNvPr id="4" name="Rounded Rectangle 3"/>
          <p:cNvSpPr/>
          <p:nvPr/>
        </p:nvSpPr>
        <p:spPr>
          <a:xfrm>
            <a:off x="457200" y="1234440"/>
            <a:ext cx="8229600" cy="475488"/>
          </a:xfrm>
          <a:prstGeom prst="roundRect">
            <a:avLst>
              <a:gd name="adj" fmla="val 6000"/>
            </a:avLst>
          </a:prstGeom>
          <a:solidFill>
            <a:srgbClr val="F4F7FA"/>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353312"/>
            <a:ext cx="457200" cy="274320"/>
          </a:xfrm>
          <a:prstGeom prst="rect">
            <a:avLst/>
          </a:prstGeom>
          <a:noFill/>
        </p:spPr>
        <p:txBody>
          <a:bodyPr wrap="square" lIns="0" rIns="0" tIns="0" bIns="0" anchor="t">
            <a:spAutoFit/>
          </a:bodyPr>
          <a:lstStyle/>
          <a:p>
            <a:r>
              <a:rPr sz="1200" b="0">
                <a:solidFill>
                  <a:srgbClr val="0D9488"/>
                </a:solidFill>
                <a:latin typeface="Consolas"/>
              </a:rPr>
              <a:t>00</a:t>
            </a:r>
          </a:p>
        </p:txBody>
      </p:sp>
      <p:sp>
        <p:nvSpPr>
          <p:cNvPr id="6" name="TextBox 5"/>
          <p:cNvSpPr txBox="1"/>
          <p:nvPr/>
        </p:nvSpPr>
        <p:spPr>
          <a:xfrm>
            <a:off x="1143000" y="1298448"/>
            <a:ext cx="3017520" cy="365760"/>
          </a:xfrm>
          <a:prstGeom prst="rect">
            <a:avLst/>
          </a:prstGeom>
          <a:noFill/>
        </p:spPr>
        <p:txBody>
          <a:bodyPr wrap="square" lIns="0" rIns="0" tIns="0" bIns="0" anchor="ctr">
            <a:spAutoFit/>
          </a:bodyPr>
          <a:lstStyle/>
          <a:p>
            <a:r>
              <a:rPr sz="1300" b="0">
                <a:solidFill>
                  <a:srgbClr val="0F172A"/>
                </a:solidFill>
                <a:latin typeface="Segoe UI Semibold"/>
              </a:rPr>
              <a:t>Cadre</a:t>
            </a:r>
          </a:p>
        </p:txBody>
      </p:sp>
      <p:sp>
        <p:nvSpPr>
          <p:cNvPr id="7" name="TextBox 6"/>
          <p:cNvSpPr txBox="1"/>
          <p:nvPr/>
        </p:nvSpPr>
        <p:spPr>
          <a:xfrm>
            <a:off x="4114800" y="1298448"/>
            <a:ext cx="3291840" cy="365760"/>
          </a:xfrm>
          <a:prstGeom prst="rect">
            <a:avLst/>
          </a:prstGeom>
          <a:noFill/>
        </p:spPr>
        <p:txBody>
          <a:bodyPr wrap="square" lIns="0" rIns="0" tIns="0" bIns="0" anchor="ctr">
            <a:spAutoFit/>
          </a:bodyPr>
          <a:lstStyle/>
          <a:p>
            <a:r>
              <a:rPr sz="1000" b="0">
                <a:solidFill>
                  <a:srgbClr val="475569"/>
                </a:solidFill>
                <a:latin typeface="Segoe UI"/>
              </a:rPr>
              <a:t>École (V1) et hors cours (V2) : où passe la frontière</a:t>
            </a:r>
          </a:p>
        </p:txBody>
      </p:sp>
      <p:sp>
        <p:nvSpPr>
          <p:cNvPr id="8" name="TextBox 7"/>
          <p:cNvSpPr txBox="1"/>
          <p:nvPr/>
        </p:nvSpPr>
        <p:spPr>
          <a:xfrm>
            <a:off x="7498079" y="1298448"/>
            <a:ext cx="1097280" cy="365760"/>
          </a:xfrm>
          <a:prstGeom prst="rect">
            <a:avLst/>
          </a:prstGeom>
          <a:noFill/>
        </p:spPr>
        <p:txBody>
          <a:bodyPr wrap="square" lIns="0" rIns="0" tIns="0" bIns="0" anchor="ctr">
            <a:spAutoFit/>
          </a:bodyPr>
          <a:lstStyle/>
          <a:p>
            <a:pPr algn="r"/>
            <a:r>
              <a:rPr sz="1000" b="0">
                <a:solidFill>
                  <a:srgbClr val="0D9488"/>
                </a:solidFill>
                <a:latin typeface="Consolas"/>
              </a:rPr>
              <a:t>0 → 2 min</a:t>
            </a:r>
          </a:p>
        </p:txBody>
      </p:sp>
      <p:sp>
        <p:nvSpPr>
          <p:cNvPr id="9" name="Rounded Rectangle 8"/>
          <p:cNvSpPr/>
          <p:nvPr/>
        </p:nvSpPr>
        <p:spPr>
          <a:xfrm>
            <a:off x="457200" y="1801368"/>
            <a:ext cx="8229600" cy="475488"/>
          </a:xfrm>
          <a:prstGeom prst="roundRect">
            <a:avLst>
              <a:gd name="adj" fmla="val 6000"/>
            </a:avLst>
          </a:prstGeom>
          <a:solidFill>
            <a:srgbClr val="F4F7FA"/>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1920240"/>
            <a:ext cx="457200" cy="274320"/>
          </a:xfrm>
          <a:prstGeom prst="rect">
            <a:avLst/>
          </a:prstGeom>
          <a:noFill/>
        </p:spPr>
        <p:txBody>
          <a:bodyPr wrap="square" lIns="0" rIns="0" tIns="0" bIns="0" anchor="t">
            <a:spAutoFit/>
          </a:bodyPr>
          <a:lstStyle/>
          <a:p>
            <a:r>
              <a:rPr sz="1200" b="0">
                <a:solidFill>
                  <a:srgbClr val="0D9488"/>
                </a:solidFill>
                <a:latin typeface="Consolas"/>
              </a:rPr>
              <a:t>01</a:t>
            </a:r>
          </a:p>
        </p:txBody>
      </p:sp>
      <p:sp>
        <p:nvSpPr>
          <p:cNvPr id="11" name="TextBox 10"/>
          <p:cNvSpPr txBox="1"/>
          <p:nvPr/>
        </p:nvSpPr>
        <p:spPr>
          <a:xfrm>
            <a:off x="1143000" y="1865376"/>
            <a:ext cx="3017520" cy="365760"/>
          </a:xfrm>
          <a:prstGeom prst="rect">
            <a:avLst/>
          </a:prstGeom>
          <a:noFill/>
        </p:spPr>
        <p:txBody>
          <a:bodyPr wrap="square" lIns="0" rIns="0" tIns="0" bIns="0" anchor="ctr">
            <a:spAutoFit/>
          </a:bodyPr>
          <a:lstStyle/>
          <a:p>
            <a:r>
              <a:rPr sz="1300" b="0">
                <a:solidFill>
                  <a:srgbClr val="0F172A"/>
                </a:solidFill>
                <a:latin typeface="Segoe UI Semibold"/>
              </a:rPr>
              <a:t>Rappel de la V1</a:t>
            </a:r>
          </a:p>
        </p:txBody>
      </p:sp>
      <p:sp>
        <p:nvSpPr>
          <p:cNvPr id="12" name="TextBox 11"/>
          <p:cNvSpPr txBox="1"/>
          <p:nvPr/>
        </p:nvSpPr>
        <p:spPr>
          <a:xfrm>
            <a:off x="4114800" y="1865376"/>
            <a:ext cx="3291840" cy="365760"/>
          </a:xfrm>
          <a:prstGeom prst="rect">
            <a:avLst/>
          </a:prstGeom>
          <a:noFill/>
        </p:spPr>
        <p:txBody>
          <a:bodyPr wrap="square" lIns="0" rIns="0" tIns="0" bIns="0" anchor="ctr">
            <a:spAutoFit/>
          </a:bodyPr>
          <a:lstStyle/>
          <a:p>
            <a:r>
              <a:rPr sz="1000" b="0">
                <a:solidFill>
                  <a:srgbClr val="475569"/>
                </a:solidFill>
                <a:latin typeface="Segoe UI"/>
              </a:rPr>
              <a:t>Cas ShoPix, chaîne d'agents, ce qui manquait</a:t>
            </a:r>
          </a:p>
        </p:txBody>
      </p:sp>
      <p:sp>
        <p:nvSpPr>
          <p:cNvPr id="13" name="TextBox 12"/>
          <p:cNvSpPr txBox="1"/>
          <p:nvPr/>
        </p:nvSpPr>
        <p:spPr>
          <a:xfrm>
            <a:off x="7498079" y="1865376"/>
            <a:ext cx="1097280" cy="365760"/>
          </a:xfrm>
          <a:prstGeom prst="rect">
            <a:avLst/>
          </a:prstGeom>
          <a:noFill/>
        </p:spPr>
        <p:txBody>
          <a:bodyPr wrap="square" lIns="0" rIns="0" tIns="0" bIns="0" anchor="ctr">
            <a:spAutoFit/>
          </a:bodyPr>
          <a:lstStyle/>
          <a:p>
            <a:pPr algn="r"/>
            <a:r>
              <a:rPr sz="1000" b="0">
                <a:solidFill>
                  <a:srgbClr val="0D9488"/>
                </a:solidFill>
                <a:latin typeface="Consolas"/>
              </a:rPr>
              <a:t>2 → 10 min</a:t>
            </a:r>
          </a:p>
        </p:txBody>
      </p:sp>
      <p:sp>
        <p:nvSpPr>
          <p:cNvPr id="14" name="Rounded Rectangle 13"/>
          <p:cNvSpPr/>
          <p:nvPr/>
        </p:nvSpPr>
        <p:spPr>
          <a:xfrm>
            <a:off x="457200" y="2368296"/>
            <a:ext cx="8229600" cy="475488"/>
          </a:xfrm>
          <a:prstGeom prst="roundRect">
            <a:avLst>
              <a:gd name="adj" fmla="val 6000"/>
            </a:avLst>
          </a:prstGeom>
          <a:solidFill>
            <a:srgbClr val="F4F7FA"/>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 y="2487168"/>
            <a:ext cx="457200" cy="274320"/>
          </a:xfrm>
          <a:prstGeom prst="rect">
            <a:avLst/>
          </a:prstGeom>
          <a:noFill/>
        </p:spPr>
        <p:txBody>
          <a:bodyPr wrap="square" lIns="0" rIns="0" tIns="0" bIns="0" anchor="t">
            <a:spAutoFit/>
          </a:bodyPr>
          <a:lstStyle/>
          <a:p>
            <a:r>
              <a:rPr sz="1200" b="0">
                <a:solidFill>
                  <a:srgbClr val="0D9488"/>
                </a:solidFill>
                <a:latin typeface="Consolas"/>
              </a:rPr>
              <a:t>02</a:t>
            </a:r>
          </a:p>
        </p:txBody>
      </p:sp>
      <p:sp>
        <p:nvSpPr>
          <p:cNvPr id="16" name="TextBox 15"/>
          <p:cNvSpPr txBox="1"/>
          <p:nvPr/>
        </p:nvSpPr>
        <p:spPr>
          <a:xfrm>
            <a:off x="1143000" y="2432303"/>
            <a:ext cx="3017520" cy="365760"/>
          </a:xfrm>
          <a:prstGeom prst="rect">
            <a:avLst/>
          </a:prstGeom>
          <a:noFill/>
        </p:spPr>
        <p:txBody>
          <a:bodyPr wrap="square" lIns="0" rIns="0" tIns="0" bIns="0" anchor="ctr">
            <a:spAutoFit/>
          </a:bodyPr>
          <a:lstStyle/>
          <a:p>
            <a:r>
              <a:rPr sz="1300" b="0">
                <a:solidFill>
                  <a:srgbClr val="0F172A"/>
                </a:solidFill>
                <a:latin typeface="Segoe UI Semibold"/>
              </a:rPr>
              <a:t>V2 : architecture et preuves</a:t>
            </a:r>
          </a:p>
        </p:txBody>
      </p:sp>
      <p:sp>
        <p:nvSpPr>
          <p:cNvPr id="17" name="TextBox 16"/>
          <p:cNvSpPr txBox="1"/>
          <p:nvPr/>
        </p:nvSpPr>
        <p:spPr>
          <a:xfrm>
            <a:off x="4114800" y="2432303"/>
            <a:ext cx="3291840" cy="365760"/>
          </a:xfrm>
          <a:prstGeom prst="rect">
            <a:avLst/>
          </a:prstGeom>
          <a:noFill/>
        </p:spPr>
        <p:txBody>
          <a:bodyPr wrap="square" lIns="0" rIns="0" tIns="0" bIns="0" anchor="ctr">
            <a:spAutoFit/>
          </a:bodyPr>
          <a:lstStyle/>
          <a:p>
            <a:r>
              <a:rPr sz="1000" b="0">
                <a:solidFill>
                  <a:srgbClr val="475569"/>
                </a:solidFill>
                <a:latin typeface="Segoe UI"/>
              </a:rPr>
              <a:t>Chaîne locale, dossier de connaissance, vérification par le code</a:t>
            </a:r>
          </a:p>
        </p:txBody>
      </p:sp>
      <p:sp>
        <p:nvSpPr>
          <p:cNvPr id="18" name="TextBox 17"/>
          <p:cNvSpPr txBox="1"/>
          <p:nvPr/>
        </p:nvSpPr>
        <p:spPr>
          <a:xfrm>
            <a:off x="7498079" y="2432303"/>
            <a:ext cx="1097280" cy="365760"/>
          </a:xfrm>
          <a:prstGeom prst="rect">
            <a:avLst/>
          </a:prstGeom>
          <a:noFill/>
        </p:spPr>
        <p:txBody>
          <a:bodyPr wrap="square" lIns="0" rIns="0" tIns="0" bIns="0" anchor="ctr">
            <a:spAutoFit/>
          </a:bodyPr>
          <a:lstStyle/>
          <a:p>
            <a:pPr algn="r"/>
            <a:r>
              <a:rPr sz="1000" b="0">
                <a:solidFill>
                  <a:srgbClr val="0D9488"/>
                </a:solidFill>
                <a:latin typeface="Consolas"/>
              </a:rPr>
              <a:t>10 → 22 min</a:t>
            </a:r>
          </a:p>
        </p:txBody>
      </p:sp>
      <p:sp>
        <p:nvSpPr>
          <p:cNvPr id="19" name="Rounded Rectangle 18"/>
          <p:cNvSpPr/>
          <p:nvPr/>
        </p:nvSpPr>
        <p:spPr>
          <a:xfrm>
            <a:off x="457200" y="2935224"/>
            <a:ext cx="8229600" cy="475488"/>
          </a:xfrm>
          <a:prstGeom prst="roundRect">
            <a:avLst>
              <a:gd name="adj" fmla="val 6000"/>
            </a:avLst>
          </a:prstGeom>
          <a:solidFill>
            <a:srgbClr val="F4F7FA"/>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0080" y="3054096"/>
            <a:ext cx="457200" cy="274320"/>
          </a:xfrm>
          <a:prstGeom prst="rect">
            <a:avLst/>
          </a:prstGeom>
          <a:noFill/>
        </p:spPr>
        <p:txBody>
          <a:bodyPr wrap="square" lIns="0" rIns="0" tIns="0" bIns="0" anchor="t">
            <a:spAutoFit/>
          </a:bodyPr>
          <a:lstStyle/>
          <a:p>
            <a:r>
              <a:rPr sz="1200" b="0">
                <a:solidFill>
                  <a:srgbClr val="0D9488"/>
                </a:solidFill>
                <a:latin typeface="Consolas"/>
              </a:rPr>
              <a:t>03</a:t>
            </a:r>
          </a:p>
        </p:txBody>
      </p:sp>
      <p:sp>
        <p:nvSpPr>
          <p:cNvPr id="21" name="TextBox 20"/>
          <p:cNvSpPr txBox="1"/>
          <p:nvPr/>
        </p:nvSpPr>
        <p:spPr>
          <a:xfrm>
            <a:off x="1143000" y="2999232"/>
            <a:ext cx="3017520" cy="365760"/>
          </a:xfrm>
          <a:prstGeom prst="rect">
            <a:avLst/>
          </a:prstGeom>
          <a:noFill/>
        </p:spPr>
        <p:txBody>
          <a:bodyPr wrap="square" lIns="0" rIns="0" tIns="0" bIns="0" anchor="ctr">
            <a:spAutoFit/>
          </a:bodyPr>
          <a:lstStyle/>
          <a:p>
            <a:r>
              <a:rPr sz="1300" b="0">
                <a:solidFill>
                  <a:srgbClr val="0F172A"/>
                </a:solidFill>
                <a:latin typeface="Segoe UI Semibold"/>
              </a:rPr>
              <a:t>V2 : validation et mise à jour</a:t>
            </a:r>
          </a:p>
        </p:txBody>
      </p:sp>
      <p:sp>
        <p:nvSpPr>
          <p:cNvPr id="22" name="TextBox 21"/>
          <p:cNvSpPr txBox="1"/>
          <p:nvPr/>
        </p:nvSpPr>
        <p:spPr>
          <a:xfrm>
            <a:off x="4114800" y="2999232"/>
            <a:ext cx="3291840" cy="365760"/>
          </a:xfrm>
          <a:prstGeom prst="rect">
            <a:avLst/>
          </a:prstGeom>
          <a:noFill/>
        </p:spPr>
        <p:txBody>
          <a:bodyPr wrap="square" lIns="0" rIns="0" tIns="0" bIns="0" anchor="ctr">
            <a:spAutoFit/>
          </a:bodyPr>
          <a:lstStyle/>
          <a:p>
            <a:r>
              <a:rPr sz="1000" b="0">
                <a:solidFill>
                  <a:srgbClr val="475569"/>
                </a:solidFill>
                <a:latin typeface="Segoe UI"/>
              </a:rPr>
              <a:t>Page de validation, mise à jour incrémentale, essai réel, export</a:t>
            </a:r>
          </a:p>
        </p:txBody>
      </p:sp>
      <p:sp>
        <p:nvSpPr>
          <p:cNvPr id="23" name="TextBox 22"/>
          <p:cNvSpPr txBox="1"/>
          <p:nvPr/>
        </p:nvSpPr>
        <p:spPr>
          <a:xfrm>
            <a:off x="7498079" y="2999232"/>
            <a:ext cx="1097280" cy="365760"/>
          </a:xfrm>
          <a:prstGeom prst="rect">
            <a:avLst/>
          </a:prstGeom>
          <a:noFill/>
        </p:spPr>
        <p:txBody>
          <a:bodyPr wrap="square" lIns="0" rIns="0" tIns="0" bIns="0" anchor="ctr">
            <a:spAutoFit/>
          </a:bodyPr>
          <a:lstStyle/>
          <a:p>
            <a:pPr algn="r"/>
            <a:r>
              <a:rPr sz="1000" b="0">
                <a:solidFill>
                  <a:srgbClr val="0D9488"/>
                </a:solidFill>
                <a:latin typeface="Consolas"/>
              </a:rPr>
              <a:t>22 → 32 min</a:t>
            </a:r>
          </a:p>
        </p:txBody>
      </p:sp>
      <p:sp>
        <p:nvSpPr>
          <p:cNvPr id="24" name="Rounded Rectangle 23"/>
          <p:cNvSpPr/>
          <p:nvPr/>
        </p:nvSpPr>
        <p:spPr>
          <a:xfrm>
            <a:off x="457200" y="3502152"/>
            <a:ext cx="8229600" cy="475488"/>
          </a:xfrm>
          <a:prstGeom prst="roundRect">
            <a:avLst>
              <a:gd name="adj" fmla="val 6000"/>
            </a:avLst>
          </a:prstGeom>
          <a:solidFill>
            <a:srgbClr val="F4F7FA"/>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0080" y="3621024"/>
            <a:ext cx="457200" cy="274320"/>
          </a:xfrm>
          <a:prstGeom prst="rect">
            <a:avLst/>
          </a:prstGeom>
          <a:noFill/>
        </p:spPr>
        <p:txBody>
          <a:bodyPr wrap="square" lIns="0" rIns="0" tIns="0" bIns="0" anchor="t">
            <a:spAutoFit/>
          </a:bodyPr>
          <a:lstStyle/>
          <a:p>
            <a:r>
              <a:rPr sz="1200" b="0">
                <a:solidFill>
                  <a:srgbClr val="0D9488"/>
                </a:solidFill>
                <a:latin typeface="Consolas"/>
              </a:rPr>
              <a:t>04</a:t>
            </a:r>
          </a:p>
        </p:txBody>
      </p:sp>
      <p:sp>
        <p:nvSpPr>
          <p:cNvPr id="26" name="TextBox 25"/>
          <p:cNvSpPr txBox="1"/>
          <p:nvPr/>
        </p:nvSpPr>
        <p:spPr>
          <a:xfrm>
            <a:off x="1143000" y="3566160"/>
            <a:ext cx="3017520" cy="365760"/>
          </a:xfrm>
          <a:prstGeom prst="rect">
            <a:avLst/>
          </a:prstGeom>
          <a:noFill/>
        </p:spPr>
        <p:txBody>
          <a:bodyPr wrap="square" lIns="0" rIns="0" tIns="0" bIns="0" anchor="ctr">
            <a:spAutoFit/>
          </a:bodyPr>
          <a:lstStyle/>
          <a:p>
            <a:r>
              <a:rPr sz="1300" b="0">
                <a:solidFill>
                  <a:srgbClr val="0F172A"/>
                </a:solidFill>
                <a:latin typeface="Segoe UI Semibold"/>
              </a:rPr>
              <a:t>Résultats, limites, sécurité</a:t>
            </a:r>
          </a:p>
        </p:txBody>
      </p:sp>
      <p:sp>
        <p:nvSpPr>
          <p:cNvPr id="27" name="TextBox 26"/>
          <p:cNvSpPr txBox="1"/>
          <p:nvPr/>
        </p:nvSpPr>
        <p:spPr>
          <a:xfrm>
            <a:off x="4114800" y="3566160"/>
            <a:ext cx="3291840" cy="365760"/>
          </a:xfrm>
          <a:prstGeom prst="rect">
            <a:avLst/>
          </a:prstGeom>
          <a:noFill/>
        </p:spPr>
        <p:txBody>
          <a:bodyPr wrap="square" lIns="0" rIns="0" tIns="0" bIns="0" anchor="ctr">
            <a:spAutoFit/>
          </a:bodyPr>
          <a:lstStyle/>
          <a:p>
            <a:r>
              <a:rPr sz="1000" b="0">
                <a:solidFill>
                  <a:srgbClr val="475569"/>
                </a:solidFill>
                <a:latin typeface="Segoe UI"/>
              </a:rPr>
              <a:t>Mesures, ce qui ne marche pas, risques du système lui-même</a:t>
            </a:r>
          </a:p>
        </p:txBody>
      </p:sp>
      <p:sp>
        <p:nvSpPr>
          <p:cNvPr id="28" name="TextBox 27"/>
          <p:cNvSpPr txBox="1"/>
          <p:nvPr/>
        </p:nvSpPr>
        <p:spPr>
          <a:xfrm>
            <a:off x="7498079" y="3566160"/>
            <a:ext cx="1097280" cy="365760"/>
          </a:xfrm>
          <a:prstGeom prst="rect">
            <a:avLst/>
          </a:prstGeom>
          <a:noFill/>
        </p:spPr>
        <p:txBody>
          <a:bodyPr wrap="square" lIns="0" rIns="0" tIns="0" bIns="0" anchor="ctr">
            <a:spAutoFit/>
          </a:bodyPr>
          <a:lstStyle/>
          <a:p>
            <a:pPr algn="r"/>
            <a:r>
              <a:rPr sz="1000" b="0">
                <a:solidFill>
                  <a:srgbClr val="0D9488"/>
                </a:solidFill>
                <a:latin typeface="Consolas"/>
              </a:rPr>
              <a:t>32 → 40 min</a:t>
            </a:r>
          </a:p>
        </p:txBody>
      </p:sp>
      <p:sp>
        <p:nvSpPr>
          <p:cNvPr id="29" name="Rounded Rectangle 28"/>
          <p:cNvSpPr/>
          <p:nvPr/>
        </p:nvSpPr>
        <p:spPr>
          <a:xfrm>
            <a:off x="457200" y="4069080"/>
            <a:ext cx="8229600" cy="475488"/>
          </a:xfrm>
          <a:prstGeom prst="roundRect">
            <a:avLst>
              <a:gd name="adj" fmla="val 6000"/>
            </a:avLst>
          </a:prstGeom>
          <a:solidFill>
            <a:srgbClr val="F4F7FA"/>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40080" y="4187952"/>
            <a:ext cx="457200" cy="274320"/>
          </a:xfrm>
          <a:prstGeom prst="rect">
            <a:avLst/>
          </a:prstGeom>
          <a:noFill/>
        </p:spPr>
        <p:txBody>
          <a:bodyPr wrap="square" lIns="0" rIns="0" tIns="0" bIns="0" anchor="t">
            <a:spAutoFit/>
          </a:bodyPr>
          <a:lstStyle/>
          <a:p>
            <a:r>
              <a:rPr sz="1200" b="0">
                <a:solidFill>
                  <a:srgbClr val="0D9488"/>
                </a:solidFill>
                <a:latin typeface="Consolas"/>
              </a:rPr>
              <a:t>05</a:t>
            </a:r>
          </a:p>
        </p:txBody>
      </p:sp>
      <p:sp>
        <p:nvSpPr>
          <p:cNvPr id="31" name="TextBox 30"/>
          <p:cNvSpPr txBox="1"/>
          <p:nvPr/>
        </p:nvSpPr>
        <p:spPr>
          <a:xfrm>
            <a:off x="1143000" y="4133088"/>
            <a:ext cx="3017520" cy="365760"/>
          </a:xfrm>
          <a:prstGeom prst="rect">
            <a:avLst/>
          </a:prstGeom>
          <a:noFill/>
        </p:spPr>
        <p:txBody>
          <a:bodyPr wrap="square" lIns="0" rIns="0" tIns="0" bIns="0" anchor="ctr">
            <a:spAutoFit/>
          </a:bodyPr>
          <a:lstStyle/>
          <a:p>
            <a:r>
              <a:rPr sz="1300" b="0">
                <a:solidFill>
                  <a:srgbClr val="0F172A"/>
                </a:solidFill>
                <a:latin typeface="Segoe UI Semibold"/>
              </a:rPr>
              <a:t>Démonstration et conclusion</a:t>
            </a:r>
          </a:p>
        </p:txBody>
      </p:sp>
      <p:sp>
        <p:nvSpPr>
          <p:cNvPr id="32" name="TextBox 31"/>
          <p:cNvSpPr txBox="1"/>
          <p:nvPr/>
        </p:nvSpPr>
        <p:spPr>
          <a:xfrm>
            <a:off x="4114800" y="4133088"/>
            <a:ext cx="3291840" cy="365760"/>
          </a:xfrm>
          <a:prstGeom prst="rect">
            <a:avLst/>
          </a:prstGeom>
          <a:noFill/>
        </p:spPr>
        <p:txBody>
          <a:bodyPr wrap="square" lIns="0" rIns="0" tIns="0" bIns="0" anchor="ctr">
            <a:spAutoFit/>
          </a:bodyPr>
          <a:lstStyle/>
          <a:p>
            <a:r>
              <a:rPr sz="1000" b="0">
                <a:solidFill>
                  <a:srgbClr val="475569"/>
                </a:solidFill>
                <a:latin typeface="Segoe UI"/>
              </a:rPr>
              <a:t>Parcours en 8 minutes, feuille de route, questions</a:t>
            </a:r>
          </a:p>
        </p:txBody>
      </p:sp>
      <p:sp>
        <p:nvSpPr>
          <p:cNvPr id="33" name="TextBox 32"/>
          <p:cNvSpPr txBox="1"/>
          <p:nvPr/>
        </p:nvSpPr>
        <p:spPr>
          <a:xfrm>
            <a:off x="7498079" y="4133088"/>
            <a:ext cx="1097280" cy="365760"/>
          </a:xfrm>
          <a:prstGeom prst="rect">
            <a:avLst/>
          </a:prstGeom>
          <a:noFill/>
        </p:spPr>
        <p:txBody>
          <a:bodyPr wrap="square" lIns="0" rIns="0" tIns="0" bIns="0" anchor="ctr">
            <a:spAutoFit/>
          </a:bodyPr>
          <a:lstStyle/>
          <a:p>
            <a:pPr algn="r"/>
            <a:r>
              <a:rPr sz="1000" b="0">
                <a:solidFill>
                  <a:srgbClr val="0D9488"/>
                </a:solidFill>
                <a:latin typeface="Consolas"/>
              </a:rPr>
              <a:t>40 → 45 min</a:t>
            </a:r>
          </a:p>
        </p:txBody>
      </p:sp>
      <p:sp>
        <p:nvSpPr>
          <p:cNvPr id="34" name="TextBox 33"/>
          <p:cNvSpPr txBox="1"/>
          <p:nvPr/>
        </p:nvSpPr>
        <p:spPr>
          <a:xfrm>
            <a:off x="457200" y="4800600"/>
            <a:ext cx="3657600" cy="182880"/>
          </a:xfrm>
          <a:prstGeom prst="rect">
            <a:avLst/>
          </a:prstGeom>
          <a:noFill/>
        </p:spPr>
        <p:txBody>
          <a:bodyPr wrap="square" lIns="0" rIns="0" tIns="0" bIns="0" anchor="t">
            <a:spAutoFit/>
          </a:bodyPr>
          <a:lstStyle/>
          <a:p>
            <a:r>
              <a:rPr sz="800" b="0">
                <a:solidFill>
                  <a:srgbClr val="94A3B8"/>
                </a:solidFill>
                <a:latin typeface="Consolas"/>
              </a:rPr>
              <a:t>E21 · Agents IA &amp; analyse de risques</a:t>
            </a:r>
          </a:p>
        </p:txBody>
      </p:sp>
      <p:sp>
        <p:nvSpPr>
          <p:cNvPr id="35" name="TextBox 34"/>
          <p:cNvSpPr txBox="1"/>
          <p:nvPr/>
        </p:nvSpPr>
        <p:spPr>
          <a:xfrm>
            <a:off x="8321040" y="4800600"/>
            <a:ext cx="365760" cy="182880"/>
          </a:xfrm>
          <a:prstGeom prst="rect">
            <a:avLst/>
          </a:prstGeom>
          <a:noFill/>
        </p:spPr>
        <p:txBody>
          <a:bodyPr wrap="square" lIns="0" rIns="0" tIns="0" bIns="0" anchor="t">
            <a:spAutoFit/>
          </a:bodyPr>
          <a:lstStyle/>
          <a:p>
            <a:pPr algn="r"/>
            <a:r>
              <a:rPr sz="800" b="0">
                <a:solidFill>
                  <a:srgbClr val="94A3B8"/>
                </a:solidFill>
                <a:latin typeface="Consolas"/>
              </a:rPr>
              <a:t>2</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92608"/>
            <a:ext cx="8229600" cy="228600"/>
          </a:xfrm>
          <a:prstGeom prst="rect">
            <a:avLst/>
          </a:prstGeom>
          <a:noFill/>
          <a:ln/>
        </p:spPr>
        <p:txBody>
          <a:bodyPr wrap="square" lIns="0" tIns="0" rIns="0" bIns="0" rtlCol="0" anchor="t"/>
          <a:lstStyle/>
          <a:p>
            <a:pPr marL="0" indent="0">
              <a:buNone/>
            </a:pPr>
            <a:r>
              <a:rPr lang="en-US" sz="1000" kern="0" spc="200" dirty="0">
                <a:solidFill>
                  <a:srgbClr val="0D9488"/>
                </a:solidFill>
                <a:latin typeface="Consolas" pitchFamily="34" charset="0"/>
                <a:ea typeface="Consolas" pitchFamily="34" charset="-122"/>
                <a:cs typeface="Consolas" pitchFamily="34" charset="-120"/>
              </a:rPr>
              <a:t>V1 · CONTEXTE</a:t>
            </a:r>
            <a:endParaRPr lang="en-US" sz="1000" dirty="0"/>
          </a:p>
        </p:txBody>
      </p:sp>
      <p:sp>
        <p:nvSpPr>
          <p:cNvPr id="3" name="Text 1"/>
          <p:cNvSpPr txBox="1"/>
          <p:nvPr/>
        </p:nvSpPr>
        <p:spPr>
          <a:xfrm>
            <a:off x="457200" y="502920"/>
            <a:ext cx="8229600" cy="548640"/>
          </a:xfrm>
          <a:prstGeom prst="rect">
            <a:avLst/>
          </a:prstGeom>
          <a:noFill/>
          <a:ln/>
        </p:spPr>
        <p:txBody>
          <a:bodyPr wrap="square" lIns="0" tIns="0" rIns="0" bIns="0" rtlCol="0" anchor="ctr"/>
          <a:lstStyle/>
          <a:p>
            <a:pPr marL="0" indent="0">
              <a:buNone/>
            </a:pPr>
            <a:r>
              <a:rPr lang="en-US" sz="2400" dirty="0">
                <a:solidFill>
                  <a:srgbClr val="0F172A"/>
                </a:solidFill>
                <a:latin typeface="Segoe UI Semibold" pitchFamily="34" charset="0"/>
                <a:ea typeface="Segoe UI Semibold" pitchFamily="34" charset="-122"/>
                <a:cs typeface="Segoe UI Semibold" pitchFamily="34" charset="-120"/>
              </a:rPr>
              <a:t>Pourquoi des agents pour l’analyse de risques ?</a:t>
            </a:r>
            <a:endParaRPr lang="en-US" sz="2400" dirty="0"/>
          </a:p>
        </p:txBody>
      </p:sp>
      <p:sp>
        <p:nvSpPr>
          <p:cNvPr id="4" name="Shape 2"/>
          <p:cNvSpPr/>
          <p:nvPr/>
        </p:nvSpPr>
        <p:spPr>
          <a:xfrm>
            <a:off x="457200" y="1280160"/>
            <a:ext cx="3931920" cy="932688"/>
          </a:xfrm>
          <a:prstGeom prst="roundRect">
            <a:avLst>
              <a:gd name="adj" fmla="val 7843"/>
            </a:avLst>
          </a:prstGeom>
          <a:solidFill>
            <a:srgbClr val="F4F7FA"/>
          </a:solidFill>
          <a:ln w="12700">
            <a:solidFill>
              <a:srgbClr val="F4F7FA"/>
            </a:solidFill>
            <a:prstDash val="solid"/>
          </a:ln>
        </p:spPr>
        <p:txBody>
          <a:bodyPr/>
          <a:lstStyle/>
          <a:p>
            <a:endParaRPr lang="fr-FR"/>
          </a:p>
        </p:txBody>
      </p:sp>
      <p:sp>
        <p:nvSpPr>
          <p:cNvPr id="5" name="Shape 3"/>
          <p:cNvSpPr/>
          <p:nvPr/>
        </p:nvSpPr>
        <p:spPr>
          <a:xfrm>
            <a:off x="640080" y="1536192"/>
            <a:ext cx="420624" cy="420624"/>
          </a:xfrm>
          <a:prstGeom prst="roundRect">
            <a:avLst>
              <a:gd name="adj" fmla="val 21739"/>
            </a:avLst>
          </a:prstGeom>
          <a:solidFill>
            <a:srgbClr val="FDECEC"/>
          </a:solidFill>
          <a:ln w="12700">
            <a:solidFill>
              <a:srgbClr val="FDECEC"/>
            </a:solidFill>
            <a:prstDash val="solid"/>
          </a:ln>
        </p:spPr>
        <p:txBody>
          <a:bodyPr/>
          <a:lstStyle/>
          <a:p>
            <a:endParaRPr lang="fr-FR"/>
          </a:p>
        </p:txBody>
      </p:sp>
      <p:pic>
        <p:nvPicPr>
          <p:cNvPr id="6" name="Image 0" descr="preencoded.png"/>
          <p:cNvPicPr>
            <a:picLocks noChangeAspect="1"/>
          </p:cNvPicPr>
          <p:nvPr/>
        </p:nvPicPr>
        <p:blipFill>
          <a:blip r:embed="rId3"/>
          <a:stretch>
            <a:fillRect/>
          </a:stretch>
        </p:blipFill>
        <p:spPr>
          <a:xfrm>
            <a:off x="749442" y="1645554"/>
            <a:ext cx="201900" cy="201900"/>
          </a:xfrm>
          <a:prstGeom prst="rect">
            <a:avLst/>
          </a:prstGeom>
        </p:spPr>
      </p:pic>
      <p:sp>
        <p:nvSpPr>
          <p:cNvPr id="7" name="Text 4"/>
          <p:cNvSpPr txBox="1"/>
          <p:nvPr/>
        </p:nvSpPr>
        <p:spPr>
          <a:xfrm>
            <a:off x="1234440" y="1435608"/>
            <a:ext cx="3017520" cy="274320"/>
          </a:xfrm>
          <a:prstGeom prst="rect">
            <a:avLst/>
          </a:prstGeom>
          <a:noFill/>
          <a:ln/>
        </p:spPr>
        <p:txBody>
          <a:bodyPr wrap="square" lIns="0" tIns="0" rIns="0" bIns="0" rtlCol="0" anchor="t"/>
          <a:lstStyle/>
          <a:p>
            <a:pPr marL="0" indent="0">
              <a:buNone/>
            </a:pPr>
            <a:r>
              <a:rPr lang="en-US" sz="1350" dirty="0">
                <a:solidFill>
                  <a:srgbClr val="0F172A"/>
                </a:solidFill>
                <a:latin typeface="Segoe UI Semibold" pitchFamily="34" charset="0"/>
                <a:ea typeface="Segoe UI Semibold" pitchFamily="34" charset="-122"/>
                <a:cs typeface="Segoe UI Semibold" pitchFamily="34" charset="-120"/>
              </a:rPr>
              <a:t>Méthode exigeante</a:t>
            </a:r>
            <a:endParaRPr lang="en-US" sz="1350" dirty="0"/>
          </a:p>
        </p:txBody>
      </p:sp>
      <p:sp>
        <p:nvSpPr>
          <p:cNvPr id="8" name="Text 5"/>
          <p:cNvSpPr txBox="1"/>
          <p:nvPr/>
        </p:nvSpPr>
        <p:spPr>
          <a:xfrm>
            <a:off x="1234440" y="1709928"/>
            <a:ext cx="3017520" cy="457200"/>
          </a:xfrm>
          <a:prstGeom prst="rect">
            <a:avLst/>
          </a:prstGeom>
          <a:noFill/>
          <a:ln/>
        </p:spPr>
        <p:txBody>
          <a:bodyPr wrap="square" lIns="0" tIns="0" rIns="0" bIns="0" rtlCol="0" anchor="t"/>
          <a:lstStyle/>
          <a:p>
            <a:pPr marL="0" indent="0">
              <a:buNone/>
            </a:pPr>
            <a:r>
              <a:rPr lang="en-US" sz="1050" dirty="0">
                <a:solidFill>
                  <a:srgbClr val="475569"/>
                </a:solidFill>
                <a:latin typeface="Segoe UI" pitchFamily="34" charset="0"/>
                <a:ea typeface="Segoe UI" pitchFamily="34" charset="-122"/>
                <a:cs typeface="Segoe UI" pitchFamily="34" charset="-120"/>
              </a:rPr>
              <a:t>Six étapes, plusieurs grilles (STRIDE, EBIOS RM…), une source par affirmation.</a:t>
            </a:r>
            <a:endParaRPr lang="en-US" sz="1050" dirty="0"/>
          </a:p>
        </p:txBody>
      </p:sp>
      <p:sp>
        <p:nvSpPr>
          <p:cNvPr id="9" name="Shape 6"/>
          <p:cNvSpPr/>
          <p:nvPr/>
        </p:nvSpPr>
        <p:spPr>
          <a:xfrm>
            <a:off x="457200" y="2359152"/>
            <a:ext cx="3931920" cy="932688"/>
          </a:xfrm>
          <a:prstGeom prst="roundRect">
            <a:avLst>
              <a:gd name="adj" fmla="val 7843"/>
            </a:avLst>
          </a:prstGeom>
          <a:solidFill>
            <a:srgbClr val="F4F7FA"/>
          </a:solidFill>
          <a:ln w="12700">
            <a:solidFill>
              <a:srgbClr val="F4F7FA"/>
            </a:solidFill>
            <a:prstDash val="solid"/>
          </a:ln>
        </p:spPr>
        <p:txBody>
          <a:bodyPr/>
          <a:lstStyle/>
          <a:p>
            <a:endParaRPr lang="fr-FR"/>
          </a:p>
        </p:txBody>
      </p:sp>
      <p:sp>
        <p:nvSpPr>
          <p:cNvPr id="10" name="Shape 7"/>
          <p:cNvSpPr/>
          <p:nvPr/>
        </p:nvSpPr>
        <p:spPr>
          <a:xfrm>
            <a:off x="640080" y="2615184"/>
            <a:ext cx="420624" cy="420624"/>
          </a:xfrm>
          <a:prstGeom prst="roundRect">
            <a:avLst>
              <a:gd name="adj" fmla="val 21739"/>
            </a:avLst>
          </a:prstGeom>
          <a:solidFill>
            <a:srgbClr val="FDECEC"/>
          </a:solidFill>
          <a:ln w="12700">
            <a:solidFill>
              <a:srgbClr val="FDECEC"/>
            </a:solidFill>
            <a:prstDash val="solid"/>
          </a:ln>
        </p:spPr>
        <p:txBody>
          <a:bodyPr/>
          <a:lstStyle/>
          <a:p>
            <a:endParaRPr lang="fr-FR"/>
          </a:p>
        </p:txBody>
      </p:sp>
      <p:pic>
        <p:nvPicPr>
          <p:cNvPr id="11" name="Image 1" descr="preencoded.png"/>
          <p:cNvPicPr>
            <a:picLocks noChangeAspect="1"/>
          </p:cNvPicPr>
          <p:nvPr/>
        </p:nvPicPr>
        <p:blipFill>
          <a:blip r:embed="rId4"/>
          <a:stretch>
            <a:fillRect/>
          </a:stretch>
        </p:blipFill>
        <p:spPr>
          <a:xfrm>
            <a:off x="749442" y="2724546"/>
            <a:ext cx="201900" cy="201900"/>
          </a:xfrm>
          <a:prstGeom prst="rect">
            <a:avLst/>
          </a:prstGeom>
        </p:spPr>
      </p:pic>
      <p:sp>
        <p:nvSpPr>
          <p:cNvPr id="12" name="Text 8"/>
          <p:cNvSpPr txBox="1"/>
          <p:nvPr/>
        </p:nvSpPr>
        <p:spPr>
          <a:xfrm>
            <a:off x="1234440" y="2514600"/>
            <a:ext cx="3017520" cy="274320"/>
          </a:xfrm>
          <a:prstGeom prst="rect">
            <a:avLst/>
          </a:prstGeom>
          <a:noFill/>
          <a:ln/>
        </p:spPr>
        <p:txBody>
          <a:bodyPr wrap="square" lIns="0" tIns="0" rIns="0" bIns="0" rtlCol="0" anchor="t"/>
          <a:lstStyle/>
          <a:p>
            <a:pPr marL="0" indent="0">
              <a:buNone/>
            </a:pPr>
            <a:r>
              <a:rPr lang="en-US" sz="1350" dirty="0">
                <a:solidFill>
                  <a:srgbClr val="0F172A"/>
                </a:solidFill>
                <a:latin typeface="Segoe UI Semibold" pitchFamily="34" charset="0"/>
                <a:ea typeface="Segoe UI Semibold" pitchFamily="34" charset="-122"/>
                <a:cs typeface="Segoe UI Semibold" pitchFamily="34" charset="-120"/>
              </a:rPr>
              <a:t>Peu reproductible</a:t>
            </a:r>
            <a:endParaRPr lang="en-US" sz="1350" dirty="0"/>
          </a:p>
        </p:txBody>
      </p:sp>
      <p:sp>
        <p:nvSpPr>
          <p:cNvPr id="13" name="Text 9"/>
          <p:cNvSpPr txBox="1"/>
          <p:nvPr/>
        </p:nvSpPr>
        <p:spPr>
          <a:xfrm>
            <a:off x="1234440" y="2788920"/>
            <a:ext cx="3017520" cy="457200"/>
          </a:xfrm>
          <a:prstGeom prst="rect">
            <a:avLst/>
          </a:prstGeom>
          <a:noFill/>
          <a:ln/>
        </p:spPr>
        <p:txBody>
          <a:bodyPr wrap="square" lIns="0" tIns="0" rIns="0" bIns="0" rtlCol="0" anchor="t"/>
          <a:lstStyle/>
          <a:p>
            <a:pPr marL="0" indent="0">
              <a:buNone/>
            </a:pPr>
            <a:r>
              <a:rPr lang="en-US" sz="1050" dirty="0">
                <a:solidFill>
                  <a:srgbClr val="475569"/>
                </a:solidFill>
                <a:latin typeface="Segoe UI" pitchFamily="34" charset="0"/>
                <a:ea typeface="Segoe UI" pitchFamily="34" charset="-122"/>
                <a:cs typeface="Segoe UI" pitchFamily="34" charset="-120"/>
              </a:rPr>
              <a:t>Deux analystes, deux registres différents : la grille dépend de l’expert.</a:t>
            </a:r>
            <a:endParaRPr lang="en-US" sz="1050" dirty="0"/>
          </a:p>
        </p:txBody>
      </p:sp>
      <p:sp>
        <p:nvSpPr>
          <p:cNvPr id="14" name="Shape 10"/>
          <p:cNvSpPr/>
          <p:nvPr/>
        </p:nvSpPr>
        <p:spPr>
          <a:xfrm>
            <a:off x="457200" y="3438144"/>
            <a:ext cx="3931920" cy="932688"/>
          </a:xfrm>
          <a:prstGeom prst="roundRect">
            <a:avLst>
              <a:gd name="adj" fmla="val 7843"/>
            </a:avLst>
          </a:prstGeom>
          <a:solidFill>
            <a:srgbClr val="F4F7FA"/>
          </a:solidFill>
          <a:ln w="12700">
            <a:solidFill>
              <a:srgbClr val="F4F7FA"/>
            </a:solidFill>
            <a:prstDash val="solid"/>
          </a:ln>
        </p:spPr>
        <p:txBody>
          <a:bodyPr/>
          <a:lstStyle/>
          <a:p>
            <a:endParaRPr lang="fr-FR"/>
          </a:p>
        </p:txBody>
      </p:sp>
      <p:sp>
        <p:nvSpPr>
          <p:cNvPr id="15" name="Shape 11"/>
          <p:cNvSpPr/>
          <p:nvPr/>
        </p:nvSpPr>
        <p:spPr>
          <a:xfrm>
            <a:off x="640080" y="3694176"/>
            <a:ext cx="420624" cy="420624"/>
          </a:xfrm>
          <a:prstGeom prst="roundRect">
            <a:avLst>
              <a:gd name="adj" fmla="val 21739"/>
            </a:avLst>
          </a:prstGeom>
          <a:solidFill>
            <a:srgbClr val="FDECEC"/>
          </a:solidFill>
          <a:ln w="12700">
            <a:solidFill>
              <a:srgbClr val="FDECEC"/>
            </a:solidFill>
            <a:prstDash val="solid"/>
          </a:ln>
        </p:spPr>
        <p:txBody>
          <a:bodyPr/>
          <a:lstStyle/>
          <a:p>
            <a:endParaRPr lang="fr-FR"/>
          </a:p>
        </p:txBody>
      </p:sp>
      <p:pic>
        <p:nvPicPr>
          <p:cNvPr id="16" name="Image 2" descr="preencoded.png"/>
          <p:cNvPicPr>
            <a:picLocks noChangeAspect="1"/>
          </p:cNvPicPr>
          <p:nvPr/>
        </p:nvPicPr>
        <p:blipFill>
          <a:blip r:embed="rId5"/>
          <a:stretch>
            <a:fillRect/>
          </a:stretch>
        </p:blipFill>
        <p:spPr>
          <a:xfrm>
            <a:off x="749442" y="3803538"/>
            <a:ext cx="201900" cy="201900"/>
          </a:xfrm>
          <a:prstGeom prst="rect">
            <a:avLst/>
          </a:prstGeom>
        </p:spPr>
      </p:pic>
      <p:sp>
        <p:nvSpPr>
          <p:cNvPr id="17" name="Text 12"/>
          <p:cNvSpPr txBox="1"/>
          <p:nvPr/>
        </p:nvSpPr>
        <p:spPr>
          <a:xfrm>
            <a:off x="1234440" y="3593592"/>
            <a:ext cx="3017520" cy="274320"/>
          </a:xfrm>
          <a:prstGeom prst="rect">
            <a:avLst/>
          </a:prstGeom>
          <a:noFill/>
          <a:ln/>
        </p:spPr>
        <p:txBody>
          <a:bodyPr wrap="square" lIns="0" tIns="0" rIns="0" bIns="0" rtlCol="0" anchor="t"/>
          <a:lstStyle/>
          <a:p>
            <a:pPr marL="0" indent="0">
              <a:buNone/>
            </a:pPr>
            <a:r>
              <a:rPr lang="en-US" sz="1350" dirty="0">
                <a:solidFill>
                  <a:srgbClr val="0F172A"/>
                </a:solidFill>
                <a:latin typeface="Segoe UI Semibold" pitchFamily="34" charset="0"/>
                <a:ea typeface="Segoe UI Semibold" pitchFamily="34" charset="-122"/>
                <a:cs typeface="Segoe UI Semibold" pitchFamily="34" charset="-120"/>
              </a:rPr>
              <a:t>Coûteuse</a:t>
            </a:r>
            <a:endParaRPr lang="en-US" sz="1350" dirty="0"/>
          </a:p>
        </p:txBody>
      </p:sp>
      <p:sp>
        <p:nvSpPr>
          <p:cNvPr id="18" name="Text 13"/>
          <p:cNvSpPr txBox="1"/>
          <p:nvPr/>
        </p:nvSpPr>
        <p:spPr>
          <a:xfrm>
            <a:off x="1234440" y="3867912"/>
            <a:ext cx="3017520" cy="457200"/>
          </a:xfrm>
          <a:prstGeom prst="rect">
            <a:avLst/>
          </a:prstGeom>
          <a:noFill/>
          <a:ln/>
        </p:spPr>
        <p:txBody>
          <a:bodyPr wrap="square" lIns="0" tIns="0" rIns="0" bIns="0" rtlCol="0" anchor="t"/>
          <a:lstStyle/>
          <a:p>
            <a:pPr marL="0" indent="0">
              <a:buNone/>
            </a:pPr>
            <a:r>
              <a:rPr lang="en-US" sz="1050" dirty="0">
                <a:solidFill>
                  <a:srgbClr val="475569"/>
                </a:solidFill>
                <a:latin typeface="Segoe UI" pitchFamily="34" charset="0"/>
                <a:ea typeface="Segoe UI" pitchFamily="34" charset="-122"/>
                <a:cs typeface="Segoe UI" pitchFamily="34" charset="-120"/>
              </a:rPr>
              <a:t>Temps d’expert rare ; une TPE n’a ni équipe sécurité ni budget d’audit.</a:t>
            </a:r>
            <a:endParaRPr lang="en-US" sz="1050" dirty="0"/>
          </a:p>
        </p:txBody>
      </p:sp>
      <p:sp>
        <p:nvSpPr>
          <p:cNvPr id="19" name="Shape 14"/>
          <p:cNvSpPr/>
          <p:nvPr/>
        </p:nvSpPr>
        <p:spPr>
          <a:xfrm>
            <a:off x="4663440" y="1280160"/>
            <a:ext cx="4023360" cy="3090672"/>
          </a:xfrm>
          <a:prstGeom prst="roundRect">
            <a:avLst>
              <a:gd name="adj" fmla="val 2367"/>
            </a:avLst>
          </a:prstGeom>
          <a:solidFill>
            <a:srgbClr val="0B1220"/>
          </a:solidFill>
          <a:ln w="12700">
            <a:solidFill>
              <a:srgbClr val="0B1220"/>
            </a:solidFill>
            <a:prstDash val="solid"/>
          </a:ln>
        </p:spPr>
        <p:txBody>
          <a:bodyPr/>
          <a:lstStyle/>
          <a:p>
            <a:endParaRPr lang="fr-FR"/>
          </a:p>
        </p:txBody>
      </p:sp>
      <p:sp>
        <p:nvSpPr>
          <p:cNvPr id="20" name="Text 15"/>
          <p:cNvSpPr txBox="1"/>
          <p:nvPr/>
        </p:nvSpPr>
        <p:spPr>
          <a:xfrm>
            <a:off x="4937760" y="1481328"/>
            <a:ext cx="3474720" cy="228600"/>
          </a:xfrm>
          <a:prstGeom prst="rect">
            <a:avLst/>
          </a:prstGeom>
          <a:noFill/>
          <a:ln/>
        </p:spPr>
        <p:txBody>
          <a:bodyPr wrap="square" lIns="0" tIns="0" rIns="0" bIns="0" rtlCol="0" anchor="t"/>
          <a:lstStyle/>
          <a:p>
            <a:pPr marL="0" indent="0">
              <a:buNone/>
            </a:pPr>
            <a:r>
              <a:rPr lang="en-US" sz="1000" kern="0" spc="200" dirty="0">
                <a:solidFill>
                  <a:srgbClr val="2DD4BF"/>
                </a:solidFill>
                <a:latin typeface="Consolas" pitchFamily="34" charset="0"/>
                <a:ea typeface="Consolas" pitchFamily="34" charset="-122"/>
                <a:cs typeface="Consolas" pitchFamily="34" charset="-120"/>
              </a:rPr>
              <a:t>OBJECTIF</a:t>
            </a:r>
            <a:endParaRPr lang="en-US" sz="1000" dirty="0"/>
          </a:p>
        </p:txBody>
      </p:sp>
      <p:sp>
        <p:nvSpPr>
          <p:cNvPr id="21" name="Text 16"/>
          <p:cNvSpPr txBox="1"/>
          <p:nvPr/>
        </p:nvSpPr>
        <p:spPr>
          <a:xfrm>
            <a:off x="4937760" y="1783080"/>
            <a:ext cx="3520440" cy="1005840"/>
          </a:xfrm>
          <a:prstGeom prst="rect">
            <a:avLst/>
          </a:prstGeom>
          <a:noFill/>
          <a:ln/>
        </p:spPr>
        <p:txBody>
          <a:bodyPr wrap="square" lIns="0" tIns="0" rIns="0" bIns="0" rtlCol="0" anchor="t"/>
          <a:lstStyle/>
          <a:p>
            <a:pPr marL="0" indent="0">
              <a:buNone/>
            </a:pPr>
            <a:r>
              <a:rPr lang="en-US" sz="1500" dirty="0">
                <a:solidFill>
                  <a:srgbClr val="FFFFFF"/>
                </a:solidFill>
                <a:latin typeface="Segoe UI Semibold" pitchFamily="34" charset="0"/>
                <a:ea typeface="Segoe UI Semibold" pitchFamily="34" charset="-122"/>
                <a:cs typeface="Segoe UI Semibold" pitchFamily="34" charset="-120"/>
              </a:rPr>
              <a:t>Un POC multi-agents piloté par consignes, dans opencode, qui applique la méthode E21 en 6 étapes.</a:t>
            </a:r>
            <a:endParaRPr lang="en-US" sz="1500" dirty="0"/>
          </a:p>
        </p:txBody>
      </p:sp>
      <p:sp>
        <p:nvSpPr>
          <p:cNvPr id="22" name="Shape 17"/>
          <p:cNvSpPr/>
          <p:nvPr/>
        </p:nvSpPr>
        <p:spPr>
          <a:xfrm>
            <a:off x="4937760" y="2880360"/>
            <a:ext cx="329184" cy="329184"/>
          </a:xfrm>
          <a:prstGeom prst="roundRect">
            <a:avLst>
              <a:gd name="adj" fmla="val 27778"/>
            </a:avLst>
          </a:prstGeom>
          <a:solidFill>
            <a:srgbClr val="1C2942"/>
          </a:solidFill>
          <a:ln w="12700">
            <a:solidFill>
              <a:srgbClr val="1C2942"/>
            </a:solidFill>
            <a:prstDash val="solid"/>
          </a:ln>
        </p:spPr>
        <p:txBody>
          <a:bodyPr/>
          <a:lstStyle/>
          <a:p>
            <a:endParaRPr lang="fr-FR"/>
          </a:p>
        </p:txBody>
      </p:sp>
      <p:pic>
        <p:nvPicPr>
          <p:cNvPr id="23" name="Image 3" descr="preencoded.png"/>
          <p:cNvPicPr>
            <a:picLocks noChangeAspect="1"/>
          </p:cNvPicPr>
          <p:nvPr/>
        </p:nvPicPr>
        <p:blipFill>
          <a:blip r:embed="rId6"/>
          <a:stretch>
            <a:fillRect/>
          </a:stretch>
        </p:blipFill>
        <p:spPr>
          <a:xfrm>
            <a:off x="5023348" y="2965948"/>
            <a:ext cx="158008" cy="158008"/>
          </a:xfrm>
          <a:prstGeom prst="rect">
            <a:avLst/>
          </a:prstGeom>
        </p:spPr>
      </p:pic>
      <p:sp>
        <p:nvSpPr>
          <p:cNvPr id="24" name="Text 18"/>
          <p:cNvSpPr txBox="1"/>
          <p:nvPr/>
        </p:nvSpPr>
        <p:spPr>
          <a:xfrm>
            <a:off x="5394960" y="2880360"/>
            <a:ext cx="3108960" cy="329184"/>
          </a:xfrm>
          <a:prstGeom prst="rect">
            <a:avLst/>
          </a:prstGeom>
          <a:noFill/>
          <a:ln/>
        </p:spPr>
        <p:txBody>
          <a:bodyPr wrap="square" lIns="0" tIns="0" rIns="0" bIns="0" rtlCol="0" anchor="ctr"/>
          <a:lstStyle/>
          <a:p>
            <a:pPr marL="0" indent="0">
              <a:buNone/>
            </a:pPr>
            <a:r>
              <a:rPr lang="en-US" sz="1100" dirty="0">
                <a:solidFill>
                  <a:srgbClr val="FFFFFF"/>
                </a:solidFill>
                <a:latin typeface="Segoe UI Semibold" pitchFamily="34" charset="0"/>
                <a:ea typeface="Segoe UI Semibold" pitchFamily="34" charset="-122"/>
                <a:cs typeface="Segoe UI Semibold" pitchFamily="34" charset="-120"/>
              </a:rPr>
              <a:t>Reproductible</a:t>
            </a:r>
            <a:r>
              <a:rPr lang="en-US" sz="1100" dirty="0">
                <a:solidFill>
                  <a:srgbClr val="94A3B8"/>
                </a:solidFill>
                <a:latin typeface="Segoe UI" pitchFamily="34" charset="0"/>
                <a:ea typeface="Segoe UI" pitchFamily="34" charset="-122"/>
                <a:cs typeface="Segoe UI" pitchFamily="34" charset="-120"/>
              </a:rPr>
              <a:t>  grilles encodées dans des skills</a:t>
            </a:r>
            <a:endParaRPr lang="en-US" sz="1100" dirty="0"/>
          </a:p>
        </p:txBody>
      </p:sp>
      <p:sp>
        <p:nvSpPr>
          <p:cNvPr id="25" name="Shape 19"/>
          <p:cNvSpPr/>
          <p:nvPr/>
        </p:nvSpPr>
        <p:spPr>
          <a:xfrm>
            <a:off x="4937760" y="3337560"/>
            <a:ext cx="329184" cy="329184"/>
          </a:xfrm>
          <a:prstGeom prst="roundRect">
            <a:avLst>
              <a:gd name="adj" fmla="val 27778"/>
            </a:avLst>
          </a:prstGeom>
          <a:solidFill>
            <a:srgbClr val="1C2942"/>
          </a:solidFill>
          <a:ln w="12700">
            <a:solidFill>
              <a:srgbClr val="1C2942"/>
            </a:solidFill>
            <a:prstDash val="solid"/>
          </a:ln>
        </p:spPr>
        <p:txBody>
          <a:bodyPr/>
          <a:lstStyle/>
          <a:p>
            <a:endParaRPr lang="fr-FR"/>
          </a:p>
        </p:txBody>
      </p:sp>
      <p:pic>
        <p:nvPicPr>
          <p:cNvPr id="26" name="Image 4" descr="preencoded.png"/>
          <p:cNvPicPr>
            <a:picLocks noChangeAspect="1"/>
          </p:cNvPicPr>
          <p:nvPr/>
        </p:nvPicPr>
        <p:blipFill>
          <a:blip r:embed="rId7"/>
          <a:stretch>
            <a:fillRect/>
          </a:stretch>
        </p:blipFill>
        <p:spPr>
          <a:xfrm>
            <a:off x="5023348" y="3423148"/>
            <a:ext cx="158008" cy="158008"/>
          </a:xfrm>
          <a:prstGeom prst="rect">
            <a:avLst/>
          </a:prstGeom>
        </p:spPr>
      </p:pic>
      <p:sp>
        <p:nvSpPr>
          <p:cNvPr id="27" name="Text 20"/>
          <p:cNvSpPr txBox="1"/>
          <p:nvPr/>
        </p:nvSpPr>
        <p:spPr>
          <a:xfrm>
            <a:off x="5394960" y="3337560"/>
            <a:ext cx="3108960" cy="329184"/>
          </a:xfrm>
          <a:prstGeom prst="rect">
            <a:avLst/>
          </a:prstGeom>
          <a:noFill/>
          <a:ln/>
        </p:spPr>
        <p:txBody>
          <a:bodyPr wrap="square" lIns="0" tIns="0" rIns="0" bIns="0" rtlCol="0" anchor="ctr"/>
          <a:lstStyle/>
          <a:p>
            <a:pPr marL="0" indent="0">
              <a:buNone/>
            </a:pPr>
            <a:r>
              <a:rPr lang="en-US" sz="1100" dirty="0">
                <a:solidFill>
                  <a:srgbClr val="FFFFFF"/>
                </a:solidFill>
                <a:latin typeface="Segoe UI Semibold" pitchFamily="34" charset="0"/>
                <a:ea typeface="Segoe UI Semibold" pitchFamily="34" charset="-122"/>
                <a:cs typeface="Segoe UI Semibold" pitchFamily="34" charset="-120"/>
              </a:rPr>
              <a:t>Traçable</a:t>
            </a:r>
            <a:r>
              <a:rPr lang="en-US" sz="1100" dirty="0">
                <a:solidFill>
                  <a:srgbClr val="94A3B8"/>
                </a:solidFill>
                <a:latin typeface="Segoe UI" pitchFamily="34" charset="0"/>
                <a:ea typeface="Segoe UI" pitchFamily="34" charset="-122"/>
                <a:cs typeface="Segoe UI" pitchFamily="34" charset="-120"/>
              </a:rPr>
              <a:t>  sources à ID stable + git</a:t>
            </a:r>
            <a:endParaRPr lang="en-US" sz="1100" dirty="0"/>
          </a:p>
        </p:txBody>
      </p:sp>
      <p:sp>
        <p:nvSpPr>
          <p:cNvPr id="28" name="Shape 21"/>
          <p:cNvSpPr/>
          <p:nvPr/>
        </p:nvSpPr>
        <p:spPr>
          <a:xfrm>
            <a:off x="4937760" y="3794760"/>
            <a:ext cx="329184" cy="329184"/>
          </a:xfrm>
          <a:prstGeom prst="roundRect">
            <a:avLst>
              <a:gd name="adj" fmla="val 27778"/>
            </a:avLst>
          </a:prstGeom>
          <a:solidFill>
            <a:srgbClr val="1C2942"/>
          </a:solidFill>
          <a:ln w="12700">
            <a:solidFill>
              <a:srgbClr val="1C2942"/>
            </a:solidFill>
            <a:prstDash val="solid"/>
          </a:ln>
        </p:spPr>
        <p:txBody>
          <a:bodyPr/>
          <a:lstStyle/>
          <a:p>
            <a:endParaRPr lang="fr-FR"/>
          </a:p>
        </p:txBody>
      </p:sp>
      <p:pic>
        <p:nvPicPr>
          <p:cNvPr id="29" name="Image 5" descr="preencoded.png"/>
          <p:cNvPicPr>
            <a:picLocks noChangeAspect="1"/>
          </p:cNvPicPr>
          <p:nvPr/>
        </p:nvPicPr>
        <p:blipFill>
          <a:blip r:embed="rId8"/>
          <a:stretch>
            <a:fillRect/>
          </a:stretch>
        </p:blipFill>
        <p:spPr>
          <a:xfrm>
            <a:off x="5023348" y="3880348"/>
            <a:ext cx="158008" cy="158008"/>
          </a:xfrm>
          <a:prstGeom prst="rect">
            <a:avLst/>
          </a:prstGeom>
        </p:spPr>
      </p:pic>
      <p:sp>
        <p:nvSpPr>
          <p:cNvPr id="30" name="Text 22"/>
          <p:cNvSpPr txBox="1"/>
          <p:nvPr/>
        </p:nvSpPr>
        <p:spPr>
          <a:xfrm>
            <a:off x="5394960" y="3794760"/>
            <a:ext cx="3108960" cy="329184"/>
          </a:xfrm>
          <a:prstGeom prst="rect">
            <a:avLst/>
          </a:prstGeom>
          <a:noFill/>
          <a:ln/>
        </p:spPr>
        <p:txBody>
          <a:bodyPr wrap="square" lIns="0" tIns="0" rIns="0" bIns="0" rtlCol="0" anchor="ctr"/>
          <a:lstStyle/>
          <a:p>
            <a:pPr marL="0" indent="0">
              <a:buNone/>
            </a:pPr>
            <a:r>
              <a:rPr lang="en-US" sz="1100" dirty="0">
                <a:solidFill>
                  <a:srgbClr val="FFFFFF"/>
                </a:solidFill>
                <a:latin typeface="Segoe UI Semibold" pitchFamily="34" charset="0"/>
                <a:ea typeface="Segoe UI Semibold" pitchFamily="34" charset="-122"/>
                <a:cs typeface="Segoe UI Semibold" pitchFamily="34" charset="-120"/>
              </a:rPr>
              <a:t>Humain décideur</a:t>
            </a:r>
            <a:r>
              <a:rPr lang="en-US" sz="1100" dirty="0">
                <a:solidFill>
                  <a:srgbClr val="94A3B8"/>
                </a:solidFill>
                <a:latin typeface="Segoe UI" pitchFamily="34" charset="0"/>
                <a:ea typeface="Segoe UI" pitchFamily="34" charset="-122"/>
                <a:cs typeface="Segoe UI" pitchFamily="34" charset="-120"/>
              </a:rPr>
              <a:t>  valide_par toujours humain</a:t>
            </a:r>
            <a:endParaRPr lang="en-US" sz="1100" dirty="0"/>
          </a:p>
        </p:txBody>
      </p:sp>
      <p:sp>
        <p:nvSpPr>
          <p:cNvPr id="31" name="Text 23"/>
          <p:cNvSpPr txBox="1"/>
          <p:nvPr/>
        </p:nvSpPr>
        <p:spPr>
          <a:xfrm>
            <a:off x="8321040" y="4800600"/>
            <a:ext cx="365760" cy="182880"/>
          </a:xfrm>
          <a:prstGeom prst="rect">
            <a:avLst/>
          </a:prstGeom>
          <a:noFill/>
          <a:ln/>
        </p:spPr>
        <p:txBody>
          <a:bodyPr wrap="square" lIns="0" tIns="0" rIns="0" bIns="0" rtlCol="0" anchor="t"/>
          <a:lstStyle/>
          <a:p>
            <a:pPr marL="0" indent="0" algn="r">
              <a:buNone/>
            </a:pPr>
            <a:r>
              <a:rPr lang="en-US" sz="800" dirty="0">
                <a:solidFill>
                  <a:srgbClr val="94A3B8"/>
                </a:solidFill>
                <a:latin typeface="Consolas" pitchFamily="34" charset="0"/>
                <a:ea typeface="Consolas" pitchFamily="34" charset="-122"/>
                <a:cs typeface="Consolas" pitchFamily="34" charset="-120"/>
              </a:rPr>
              <a:t>4</a:t>
            </a:r>
            <a:endParaRPr lang="en-US" sz="800" dirty="0"/>
          </a:p>
        </p:txBody>
      </p:sp>
      <p:sp>
        <p:nvSpPr>
          <p:cNvPr id="32" name="Text 24"/>
          <p:cNvSpPr txBox="1"/>
          <p:nvPr/>
        </p:nvSpPr>
        <p:spPr>
          <a:xfrm>
            <a:off x="457200" y="4800600"/>
            <a:ext cx="3657600" cy="182880"/>
          </a:xfrm>
          <a:prstGeom prst="rect">
            <a:avLst/>
          </a:prstGeom>
          <a:noFill/>
          <a:ln/>
        </p:spPr>
        <p:txBody>
          <a:bodyPr wrap="square" lIns="0" tIns="0" rIns="0" bIns="0" rtlCol="0" anchor="t"/>
          <a:lstStyle/>
          <a:p>
            <a:pPr marL="0" indent="0">
              <a:buNone/>
            </a:pPr>
            <a:r>
              <a:rPr lang="en-US" sz="800" dirty="0">
                <a:solidFill>
                  <a:srgbClr val="94A3B8"/>
                </a:solidFill>
                <a:latin typeface="Consolas" pitchFamily="34" charset="0"/>
                <a:ea typeface="Consolas" pitchFamily="34" charset="-122"/>
                <a:cs typeface="Consolas" pitchFamily="34" charset="-120"/>
              </a:rPr>
              <a:t>E21 · Agents IA &amp; analyse de risques</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92608"/>
            <a:ext cx="8229600" cy="228600"/>
          </a:xfrm>
          <a:prstGeom prst="rect">
            <a:avLst/>
          </a:prstGeom>
          <a:noFill/>
          <a:ln/>
        </p:spPr>
        <p:txBody>
          <a:bodyPr wrap="square" lIns="0" tIns="0" rIns="0" bIns="0" rtlCol="0" anchor="t"/>
          <a:lstStyle/>
          <a:p>
            <a:pPr marL="0" indent="0">
              <a:buNone/>
            </a:pPr>
            <a:r>
              <a:rPr lang="en-US" sz="1000" kern="0" spc="200" dirty="0">
                <a:solidFill>
                  <a:srgbClr val="0D9488"/>
                </a:solidFill>
                <a:latin typeface="Consolas" pitchFamily="34" charset="0"/>
                <a:ea typeface="Consolas" pitchFamily="34" charset="-122"/>
                <a:cs typeface="Consolas" pitchFamily="34" charset="-120"/>
              </a:rPr>
              <a:t>V1 · CAS PILOTE</a:t>
            </a:r>
            <a:endParaRPr lang="en-US" sz="1000" dirty="0"/>
          </a:p>
        </p:txBody>
      </p:sp>
      <p:sp>
        <p:nvSpPr>
          <p:cNvPr id="3" name="Text 1"/>
          <p:cNvSpPr txBox="1"/>
          <p:nvPr/>
        </p:nvSpPr>
        <p:spPr>
          <a:xfrm>
            <a:off x="457200" y="502920"/>
            <a:ext cx="8229600" cy="548640"/>
          </a:xfrm>
          <a:prstGeom prst="rect">
            <a:avLst/>
          </a:prstGeom>
          <a:noFill/>
          <a:ln/>
        </p:spPr>
        <p:txBody>
          <a:bodyPr wrap="square" lIns="0" tIns="0" rIns="0" bIns="0" rtlCol="0" anchor="ctr"/>
          <a:lstStyle/>
          <a:p>
            <a:pPr marL="0" indent="0">
              <a:buNone/>
            </a:pPr>
            <a:r>
              <a:rPr lang="en-US" sz="2400" dirty="0">
                <a:solidFill>
                  <a:srgbClr val="0F172A"/>
                </a:solidFill>
                <a:latin typeface="Segoe UI Semibold" pitchFamily="34" charset="0"/>
                <a:ea typeface="Segoe UI Semibold" pitchFamily="34" charset="-122"/>
                <a:cs typeface="Segoe UI Semibold" pitchFamily="34" charset="-120"/>
              </a:rPr>
              <a:t>ShoPix : une TPE e-commerce comme terrain de test</a:t>
            </a:r>
            <a:endParaRPr lang="en-US" sz="2400" dirty="0"/>
          </a:p>
        </p:txBody>
      </p:sp>
      <p:sp>
        <p:nvSpPr>
          <p:cNvPr id="4" name="Shape 2"/>
          <p:cNvSpPr/>
          <p:nvPr/>
        </p:nvSpPr>
        <p:spPr>
          <a:xfrm>
            <a:off x="457200" y="1280160"/>
            <a:ext cx="1874520" cy="1097280"/>
          </a:xfrm>
          <a:prstGeom prst="roundRect">
            <a:avLst>
              <a:gd name="adj" fmla="val 6667"/>
            </a:avLst>
          </a:prstGeom>
          <a:solidFill>
            <a:srgbClr val="E6F7F4"/>
          </a:solidFill>
          <a:ln w="12700">
            <a:solidFill>
              <a:srgbClr val="E6F7F4"/>
            </a:solidFill>
            <a:prstDash val="solid"/>
          </a:ln>
        </p:spPr>
        <p:txBody>
          <a:bodyPr/>
          <a:lstStyle/>
          <a:p>
            <a:endParaRPr lang="fr-FR"/>
          </a:p>
        </p:txBody>
      </p:sp>
      <p:sp>
        <p:nvSpPr>
          <p:cNvPr id="5" name="Text 3"/>
          <p:cNvSpPr txBox="1"/>
          <p:nvPr/>
        </p:nvSpPr>
        <p:spPr>
          <a:xfrm>
            <a:off x="640080" y="1417320"/>
            <a:ext cx="1645920" cy="502920"/>
          </a:xfrm>
          <a:prstGeom prst="rect">
            <a:avLst/>
          </a:prstGeom>
          <a:noFill/>
          <a:ln/>
        </p:spPr>
        <p:txBody>
          <a:bodyPr wrap="square" lIns="0" tIns="0" rIns="0" bIns="0" rtlCol="0" anchor="t"/>
          <a:lstStyle/>
          <a:p>
            <a:pPr marL="0" indent="0">
              <a:buNone/>
            </a:pPr>
            <a:r>
              <a:rPr lang="en-US" sz="2800" dirty="0">
                <a:solidFill>
                  <a:srgbClr val="0D9488"/>
                </a:solidFill>
                <a:latin typeface="Segoe UI Semibold" pitchFamily="34" charset="0"/>
                <a:ea typeface="Segoe UI Semibold" pitchFamily="34" charset="-122"/>
                <a:cs typeface="Segoe UI Semibold" pitchFamily="34" charset="-120"/>
              </a:rPr>
              <a:t>15 k€</a:t>
            </a:r>
            <a:endParaRPr lang="en-US" sz="2800" dirty="0"/>
          </a:p>
        </p:txBody>
      </p:sp>
      <p:sp>
        <p:nvSpPr>
          <p:cNvPr id="6" name="Text 4"/>
          <p:cNvSpPr txBox="1"/>
          <p:nvPr/>
        </p:nvSpPr>
        <p:spPr>
          <a:xfrm>
            <a:off x="640080" y="1938528"/>
            <a:ext cx="1600200" cy="365760"/>
          </a:xfrm>
          <a:prstGeom prst="rect">
            <a:avLst/>
          </a:prstGeom>
          <a:noFill/>
          <a:ln/>
        </p:spPr>
        <p:txBody>
          <a:bodyPr wrap="square" lIns="0" tIns="0" rIns="0" bIns="0" rtlCol="0" anchor="t"/>
          <a:lstStyle/>
          <a:p>
            <a:pPr marL="0" indent="0">
              <a:buNone/>
            </a:pPr>
            <a:r>
              <a:rPr lang="en-US" sz="1000" dirty="0">
                <a:solidFill>
                  <a:srgbClr val="475569"/>
                </a:solidFill>
                <a:latin typeface="Segoe UI" pitchFamily="34" charset="0"/>
                <a:ea typeface="Segoe UI" pitchFamily="34" charset="-122"/>
                <a:cs typeface="Segoe UI" pitchFamily="34" charset="-120"/>
              </a:rPr>
              <a:t>CA par trimestre</a:t>
            </a:r>
            <a:endParaRPr lang="en-US" sz="1000" dirty="0"/>
          </a:p>
        </p:txBody>
      </p:sp>
      <p:sp>
        <p:nvSpPr>
          <p:cNvPr id="7" name="Shape 5"/>
          <p:cNvSpPr/>
          <p:nvPr/>
        </p:nvSpPr>
        <p:spPr>
          <a:xfrm>
            <a:off x="2468880" y="1280160"/>
            <a:ext cx="1874520" cy="1097280"/>
          </a:xfrm>
          <a:prstGeom prst="roundRect">
            <a:avLst>
              <a:gd name="adj" fmla="val 6667"/>
            </a:avLst>
          </a:prstGeom>
          <a:solidFill>
            <a:srgbClr val="E6F7F4"/>
          </a:solidFill>
          <a:ln w="12700">
            <a:solidFill>
              <a:srgbClr val="E6F7F4"/>
            </a:solidFill>
            <a:prstDash val="solid"/>
          </a:ln>
        </p:spPr>
        <p:txBody>
          <a:bodyPr/>
          <a:lstStyle/>
          <a:p>
            <a:endParaRPr lang="fr-FR"/>
          </a:p>
        </p:txBody>
      </p:sp>
      <p:sp>
        <p:nvSpPr>
          <p:cNvPr id="8" name="Text 6"/>
          <p:cNvSpPr txBox="1"/>
          <p:nvPr/>
        </p:nvSpPr>
        <p:spPr>
          <a:xfrm>
            <a:off x="2651760" y="1417320"/>
            <a:ext cx="1645920" cy="502920"/>
          </a:xfrm>
          <a:prstGeom prst="rect">
            <a:avLst/>
          </a:prstGeom>
          <a:noFill/>
          <a:ln/>
        </p:spPr>
        <p:txBody>
          <a:bodyPr wrap="square" lIns="0" tIns="0" rIns="0" bIns="0" rtlCol="0" anchor="t"/>
          <a:lstStyle/>
          <a:p>
            <a:pPr marL="0" indent="0">
              <a:buNone/>
            </a:pPr>
            <a:r>
              <a:rPr lang="en-US" sz="2800" dirty="0">
                <a:solidFill>
                  <a:srgbClr val="0D9488"/>
                </a:solidFill>
                <a:latin typeface="Segoe UI Semibold" pitchFamily="34" charset="0"/>
                <a:ea typeface="Segoe UI Semibold" pitchFamily="34" charset="-122"/>
                <a:cs typeface="Segoe UI Semibold" pitchFamily="34" charset="-120"/>
              </a:rPr>
              <a:t>60</a:t>
            </a:r>
            <a:endParaRPr lang="en-US" sz="2800" dirty="0"/>
          </a:p>
        </p:txBody>
      </p:sp>
      <p:sp>
        <p:nvSpPr>
          <p:cNvPr id="9" name="Text 7"/>
          <p:cNvSpPr txBox="1"/>
          <p:nvPr/>
        </p:nvSpPr>
        <p:spPr>
          <a:xfrm>
            <a:off x="2651760" y="1938528"/>
            <a:ext cx="1600200" cy="365760"/>
          </a:xfrm>
          <a:prstGeom prst="rect">
            <a:avLst/>
          </a:prstGeom>
          <a:noFill/>
          <a:ln/>
        </p:spPr>
        <p:txBody>
          <a:bodyPr wrap="square" lIns="0" tIns="0" rIns="0" bIns="0" rtlCol="0" anchor="t"/>
          <a:lstStyle/>
          <a:p>
            <a:pPr marL="0" indent="0">
              <a:buNone/>
            </a:pPr>
            <a:r>
              <a:rPr lang="en-US" sz="1000" dirty="0">
                <a:solidFill>
                  <a:srgbClr val="475569"/>
                </a:solidFill>
                <a:latin typeface="Segoe UI" pitchFamily="34" charset="0"/>
                <a:ea typeface="Segoe UI" pitchFamily="34" charset="-122"/>
                <a:cs typeface="Segoe UI" pitchFamily="34" charset="-120"/>
              </a:rPr>
              <a:t>commandes / semaine</a:t>
            </a:r>
            <a:endParaRPr lang="en-US" sz="1000" dirty="0"/>
          </a:p>
        </p:txBody>
      </p:sp>
      <p:sp>
        <p:nvSpPr>
          <p:cNvPr id="10" name="Shape 8"/>
          <p:cNvSpPr/>
          <p:nvPr/>
        </p:nvSpPr>
        <p:spPr>
          <a:xfrm>
            <a:off x="457200" y="2514600"/>
            <a:ext cx="1874520" cy="1097280"/>
          </a:xfrm>
          <a:prstGeom prst="roundRect">
            <a:avLst>
              <a:gd name="adj" fmla="val 6667"/>
            </a:avLst>
          </a:prstGeom>
          <a:solidFill>
            <a:srgbClr val="E6F7F4"/>
          </a:solidFill>
          <a:ln w="12700">
            <a:solidFill>
              <a:srgbClr val="E6F7F4"/>
            </a:solidFill>
            <a:prstDash val="solid"/>
          </a:ln>
        </p:spPr>
        <p:txBody>
          <a:bodyPr/>
          <a:lstStyle/>
          <a:p>
            <a:endParaRPr lang="fr-FR"/>
          </a:p>
        </p:txBody>
      </p:sp>
      <p:sp>
        <p:nvSpPr>
          <p:cNvPr id="11" name="Text 9"/>
          <p:cNvSpPr txBox="1"/>
          <p:nvPr/>
        </p:nvSpPr>
        <p:spPr>
          <a:xfrm>
            <a:off x="640080" y="2651760"/>
            <a:ext cx="1645920" cy="502920"/>
          </a:xfrm>
          <a:prstGeom prst="rect">
            <a:avLst/>
          </a:prstGeom>
          <a:noFill/>
          <a:ln/>
        </p:spPr>
        <p:txBody>
          <a:bodyPr wrap="square" lIns="0" tIns="0" rIns="0" bIns="0" rtlCol="0" anchor="t"/>
          <a:lstStyle/>
          <a:p>
            <a:pPr marL="0" indent="0">
              <a:buNone/>
            </a:pPr>
            <a:r>
              <a:rPr lang="en-US" sz="2800" dirty="0">
                <a:solidFill>
                  <a:srgbClr val="0D9488"/>
                </a:solidFill>
                <a:latin typeface="Segoe UI Semibold" pitchFamily="34" charset="0"/>
                <a:ea typeface="Segoe UI Semibold" pitchFamily="34" charset="-122"/>
                <a:cs typeface="Segoe UI Semibold" pitchFamily="34" charset="-120"/>
              </a:rPr>
              <a:t>×3</a:t>
            </a:r>
            <a:endParaRPr lang="en-US" sz="2800" dirty="0"/>
          </a:p>
        </p:txBody>
      </p:sp>
      <p:sp>
        <p:nvSpPr>
          <p:cNvPr id="12" name="Text 10"/>
          <p:cNvSpPr txBox="1"/>
          <p:nvPr/>
        </p:nvSpPr>
        <p:spPr>
          <a:xfrm>
            <a:off x="640080" y="3172968"/>
            <a:ext cx="1600200" cy="365760"/>
          </a:xfrm>
          <a:prstGeom prst="rect">
            <a:avLst/>
          </a:prstGeom>
          <a:noFill/>
          <a:ln/>
        </p:spPr>
        <p:txBody>
          <a:bodyPr wrap="square" lIns="0" tIns="0" rIns="0" bIns="0" rtlCol="0" anchor="t"/>
          <a:lstStyle/>
          <a:p>
            <a:pPr marL="0" indent="0">
              <a:buNone/>
            </a:pPr>
            <a:r>
              <a:rPr lang="en-US" sz="1000" dirty="0">
                <a:solidFill>
                  <a:srgbClr val="475569"/>
                </a:solidFill>
                <a:latin typeface="Segoe UI" pitchFamily="34" charset="0"/>
                <a:ea typeface="Segoe UI" pitchFamily="34" charset="-122"/>
                <a:cs typeface="Segoe UI" pitchFamily="34" charset="-120"/>
              </a:rPr>
              <a:t>pic nov.–déc.</a:t>
            </a:r>
            <a:endParaRPr lang="en-US" sz="1000" dirty="0"/>
          </a:p>
        </p:txBody>
      </p:sp>
      <p:sp>
        <p:nvSpPr>
          <p:cNvPr id="13" name="Shape 11"/>
          <p:cNvSpPr/>
          <p:nvPr/>
        </p:nvSpPr>
        <p:spPr>
          <a:xfrm>
            <a:off x="2468880" y="2514600"/>
            <a:ext cx="1874520" cy="1097280"/>
          </a:xfrm>
          <a:prstGeom prst="roundRect">
            <a:avLst>
              <a:gd name="adj" fmla="val 6667"/>
            </a:avLst>
          </a:prstGeom>
          <a:solidFill>
            <a:srgbClr val="E6F7F4"/>
          </a:solidFill>
          <a:ln w="12700">
            <a:solidFill>
              <a:srgbClr val="E6F7F4"/>
            </a:solidFill>
            <a:prstDash val="solid"/>
          </a:ln>
        </p:spPr>
        <p:txBody>
          <a:bodyPr/>
          <a:lstStyle/>
          <a:p>
            <a:endParaRPr lang="fr-FR"/>
          </a:p>
        </p:txBody>
      </p:sp>
      <p:sp>
        <p:nvSpPr>
          <p:cNvPr id="14" name="Text 12"/>
          <p:cNvSpPr txBox="1"/>
          <p:nvPr/>
        </p:nvSpPr>
        <p:spPr>
          <a:xfrm>
            <a:off x="2651760" y="2651760"/>
            <a:ext cx="1645920" cy="502920"/>
          </a:xfrm>
          <a:prstGeom prst="rect">
            <a:avLst/>
          </a:prstGeom>
          <a:noFill/>
          <a:ln/>
        </p:spPr>
        <p:txBody>
          <a:bodyPr wrap="square" lIns="0" tIns="0" rIns="0" bIns="0" rtlCol="0" anchor="t"/>
          <a:lstStyle/>
          <a:p>
            <a:pPr marL="0" indent="0">
              <a:buNone/>
            </a:pPr>
            <a:r>
              <a:rPr lang="en-US" sz="2800" dirty="0">
                <a:solidFill>
                  <a:srgbClr val="0D9488"/>
                </a:solidFill>
                <a:latin typeface="Segoe UI Semibold" pitchFamily="34" charset="0"/>
                <a:ea typeface="Segoe UI Semibold" pitchFamily="34" charset="-122"/>
                <a:cs typeface="Segoe UI Semibold" pitchFamily="34" charset="-120"/>
              </a:rPr>
              <a:t>2 500 €</a:t>
            </a:r>
            <a:endParaRPr lang="en-US" sz="2800" dirty="0"/>
          </a:p>
        </p:txBody>
      </p:sp>
      <p:sp>
        <p:nvSpPr>
          <p:cNvPr id="15" name="Text 13"/>
          <p:cNvSpPr txBox="1"/>
          <p:nvPr/>
        </p:nvSpPr>
        <p:spPr>
          <a:xfrm>
            <a:off x="2651760" y="3172968"/>
            <a:ext cx="1600200" cy="365760"/>
          </a:xfrm>
          <a:prstGeom prst="rect">
            <a:avLst/>
          </a:prstGeom>
          <a:noFill/>
          <a:ln/>
        </p:spPr>
        <p:txBody>
          <a:bodyPr wrap="square" lIns="0" tIns="0" rIns="0" bIns="0" rtlCol="0" anchor="t"/>
          <a:lstStyle/>
          <a:p>
            <a:pPr marL="0" indent="0">
              <a:buNone/>
            </a:pPr>
            <a:r>
              <a:rPr lang="en-US" sz="1000" dirty="0">
                <a:solidFill>
                  <a:srgbClr val="475569"/>
                </a:solidFill>
                <a:latin typeface="Segoe UI" pitchFamily="34" charset="0"/>
                <a:ea typeface="Segoe UI" pitchFamily="34" charset="-122"/>
                <a:cs typeface="Segoe UI" pitchFamily="34" charset="-120"/>
              </a:rPr>
              <a:t>budget sécurité / an à justifier</a:t>
            </a:r>
            <a:endParaRPr lang="en-US" sz="1000" dirty="0"/>
          </a:p>
        </p:txBody>
      </p:sp>
      <p:sp>
        <p:nvSpPr>
          <p:cNvPr id="16" name="Text 14"/>
          <p:cNvSpPr txBox="1"/>
          <p:nvPr/>
        </p:nvSpPr>
        <p:spPr>
          <a:xfrm>
            <a:off x="457200" y="3840480"/>
            <a:ext cx="3886200" cy="457200"/>
          </a:xfrm>
          <a:prstGeom prst="rect">
            <a:avLst/>
          </a:prstGeom>
          <a:noFill/>
          <a:ln/>
        </p:spPr>
        <p:txBody>
          <a:bodyPr wrap="square" lIns="0" tIns="0" rIns="0" bIns="0" rtlCol="0" anchor="t"/>
          <a:lstStyle/>
          <a:p>
            <a:pPr marL="0" indent="0">
              <a:buNone/>
            </a:pPr>
            <a:r>
              <a:rPr lang="en-US" sz="950" i="1" dirty="0">
                <a:solidFill>
                  <a:srgbClr val="475569"/>
                </a:solidFill>
                <a:latin typeface="Segoe UI" pitchFamily="34" charset="0"/>
                <a:ea typeface="Segoe UI" pitchFamily="34" charset="-122"/>
                <a:cs typeface="Segoe UI" pitchFamily="34" charset="-120"/>
              </a:rPr>
              <a:t>Données fictives de l’étude de cas · RGPD applicable (clients européens)</a:t>
            </a:r>
            <a:endParaRPr lang="en-US" sz="950" dirty="0"/>
          </a:p>
        </p:txBody>
      </p:sp>
      <p:sp>
        <p:nvSpPr>
          <p:cNvPr id="17" name="Text 15"/>
          <p:cNvSpPr txBox="1"/>
          <p:nvPr/>
        </p:nvSpPr>
        <p:spPr>
          <a:xfrm>
            <a:off x="4617720" y="1234440"/>
            <a:ext cx="4023360" cy="274320"/>
          </a:xfrm>
          <a:prstGeom prst="rect">
            <a:avLst/>
          </a:prstGeom>
          <a:noFill/>
          <a:ln/>
        </p:spPr>
        <p:txBody>
          <a:bodyPr wrap="square" lIns="0" tIns="0" rIns="0" bIns="0" rtlCol="0" anchor="t"/>
          <a:lstStyle/>
          <a:p>
            <a:pPr marL="0" indent="0">
              <a:buNone/>
            </a:pPr>
            <a:r>
              <a:rPr lang="en-US" sz="1350" dirty="0">
                <a:solidFill>
                  <a:srgbClr val="0F172A"/>
                </a:solidFill>
                <a:latin typeface="Segoe UI Semibold" pitchFamily="34" charset="0"/>
                <a:ea typeface="Segoe UI Semibold" pitchFamily="34" charset="-122"/>
                <a:cs typeface="Segoe UI Semibold" pitchFamily="34" charset="-120"/>
              </a:rPr>
              <a:t>Un SI fragile</a:t>
            </a:r>
            <a:endParaRPr lang="en-US" sz="1350" dirty="0"/>
          </a:p>
        </p:txBody>
      </p:sp>
      <p:sp>
        <p:nvSpPr>
          <p:cNvPr id="18" name="Text 16"/>
          <p:cNvSpPr txBox="1"/>
          <p:nvPr/>
        </p:nvSpPr>
        <p:spPr>
          <a:xfrm>
            <a:off x="4617720" y="1554480"/>
            <a:ext cx="4023360" cy="1234440"/>
          </a:xfrm>
          <a:prstGeom prst="rect">
            <a:avLst/>
          </a:prstGeom>
          <a:noFill/>
          <a:ln/>
        </p:spPr>
        <p:txBody>
          <a:bodyPr wrap="square" lIns="0" tIns="0" rIns="0" bIns="0" rtlCol="0" anchor="t"/>
          <a:lstStyle/>
          <a:p>
            <a:pPr marL="342900" indent="-342900">
              <a:spcAft>
                <a:spcPts val="400"/>
              </a:spcAft>
              <a:buSzPct val="100000"/>
              <a:buChar char="•"/>
            </a:pPr>
            <a:r>
              <a:rPr lang="en-US" sz="1050" dirty="0">
                <a:solidFill>
                  <a:srgbClr val="475569"/>
                </a:solidFill>
                <a:latin typeface="Segoe UI" pitchFamily="34" charset="0"/>
                <a:ea typeface="Segoe UI" pitchFamily="34" charset="-122"/>
                <a:cs typeface="Segoe UI" pitchFamily="34" charset="-120"/>
              </a:rPr>
              <a:t>PHP 8.0 et MySQL en fin de vie, hébergeur mutualisé : site, API, back-office et base sur une seule VM</a:t>
            </a:r>
            <a:endParaRPr lang="en-US" sz="1050" dirty="0"/>
          </a:p>
          <a:p>
            <a:pPr marL="342900" indent="-342900">
              <a:spcAft>
                <a:spcPts val="400"/>
              </a:spcAft>
              <a:buSzPct val="100000"/>
              <a:buChar char="•"/>
            </a:pPr>
            <a:r>
              <a:rPr lang="en-US" sz="1050" dirty="0">
                <a:solidFill>
                  <a:srgbClr val="475569"/>
                </a:solidFill>
                <a:latin typeface="Segoe UI" pitchFamily="34" charset="0"/>
                <a:ea typeface="Segoe UI" pitchFamily="34" charset="-122"/>
                <a:cs typeface="Segoe UI" pitchFamily="34" charset="-120"/>
              </a:rPr>
              <a:t>Un seul compte MySQL « shopix » avec tous les droits, sans WAF ni monitoring</a:t>
            </a:r>
            <a:endParaRPr lang="en-US" sz="1050" dirty="0"/>
          </a:p>
          <a:p>
            <a:pPr marL="342900" indent="-342900">
              <a:spcAft>
                <a:spcPts val="400"/>
              </a:spcAft>
              <a:buSzPct val="100000"/>
              <a:buChar char="•"/>
            </a:pPr>
            <a:r>
              <a:rPr lang="en-US" sz="1050" dirty="0">
                <a:solidFill>
                  <a:srgbClr val="475569"/>
                </a:solidFill>
                <a:latin typeface="Segoe UI" pitchFamily="34" charset="0"/>
                <a:ea typeface="Segoe UI" pitchFamily="34" charset="-122"/>
                <a:cs typeface="Segoe UI" pitchFamily="34" charset="-120"/>
              </a:rPr>
              <a:t>Admin « Mélanie » : mot de passe simple, pas de MFA, sessions de 30 jours</a:t>
            </a:r>
            <a:endParaRPr lang="en-US" sz="1050" dirty="0"/>
          </a:p>
        </p:txBody>
      </p:sp>
      <p:sp>
        <p:nvSpPr>
          <p:cNvPr id="19" name="Text 17"/>
          <p:cNvSpPr txBox="1"/>
          <p:nvPr/>
        </p:nvSpPr>
        <p:spPr>
          <a:xfrm>
            <a:off x="4617720" y="2834640"/>
            <a:ext cx="4023360" cy="274320"/>
          </a:xfrm>
          <a:prstGeom prst="rect">
            <a:avLst/>
          </a:prstGeom>
          <a:noFill/>
          <a:ln/>
        </p:spPr>
        <p:txBody>
          <a:bodyPr wrap="square" lIns="0" tIns="0" rIns="0" bIns="0" rtlCol="0" anchor="t"/>
          <a:lstStyle/>
          <a:p>
            <a:pPr marL="0" indent="0">
              <a:buNone/>
            </a:pPr>
            <a:r>
              <a:rPr lang="en-US" sz="1350" dirty="0">
                <a:solidFill>
                  <a:srgbClr val="0F172A"/>
                </a:solidFill>
                <a:latin typeface="Segoe UI Semibold" pitchFamily="34" charset="0"/>
                <a:ea typeface="Segoe UI Semibold" pitchFamily="34" charset="-122"/>
                <a:cs typeface="Segoe UI Semibold" pitchFamily="34" charset="-120"/>
              </a:rPr>
              <a:t>Incidents déjà vécus</a:t>
            </a:r>
            <a:endParaRPr lang="en-US" sz="1350" dirty="0"/>
          </a:p>
        </p:txBody>
      </p:sp>
      <p:sp>
        <p:nvSpPr>
          <p:cNvPr id="20" name="Shape 18"/>
          <p:cNvSpPr/>
          <p:nvPr/>
        </p:nvSpPr>
        <p:spPr>
          <a:xfrm>
            <a:off x="4617720" y="3191256"/>
            <a:ext cx="548640" cy="219456"/>
          </a:xfrm>
          <a:prstGeom prst="roundRect">
            <a:avLst>
              <a:gd name="adj" fmla="val 50000"/>
            </a:avLst>
          </a:prstGeom>
          <a:solidFill>
            <a:srgbClr val="FDECEC"/>
          </a:solidFill>
          <a:ln w="12700">
            <a:solidFill>
              <a:srgbClr val="FDECEC"/>
            </a:solidFill>
            <a:prstDash val="solid"/>
          </a:ln>
        </p:spPr>
        <p:txBody>
          <a:bodyPr/>
          <a:lstStyle/>
          <a:p>
            <a:endParaRPr lang="fr-FR"/>
          </a:p>
        </p:txBody>
      </p:sp>
      <p:sp>
        <p:nvSpPr>
          <p:cNvPr id="21" name="Text 19"/>
          <p:cNvSpPr txBox="1"/>
          <p:nvPr/>
        </p:nvSpPr>
        <p:spPr>
          <a:xfrm>
            <a:off x="4617720" y="3191256"/>
            <a:ext cx="548640" cy="219456"/>
          </a:xfrm>
          <a:prstGeom prst="rect">
            <a:avLst/>
          </a:prstGeom>
          <a:noFill/>
          <a:ln/>
        </p:spPr>
        <p:txBody>
          <a:bodyPr wrap="square" lIns="0" tIns="0" rIns="0" bIns="0" rtlCol="0" anchor="ctr"/>
          <a:lstStyle/>
          <a:p>
            <a:pPr marL="0" indent="0" algn="ctr">
              <a:buNone/>
            </a:pPr>
            <a:r>
              <a:rPr lang="en-US" sz="900" dirty="0">
                <a:solidFill>
                  <a:srgbClr val="DC2626"/>
                </a:solidFill>
                <a:latin typeface="Segoe UI Semibold" pitchFamily="34" charset="0"/>
                <a:ea typeface="Segoe UI Semibold" pitchFamily="34" charset="-122"/>
                <a:cs typeface="Segoe UI Semibold" pitchFamily="34" charset="-120"/>
              </a:rPr>
              <a:t>2023</a:t>
            </a:r>
            <a:endParaRPr lang="en-US" sz="900" dirty="0"/>
          </a:p>
        </p:txBody>
      </p:sp>
      <p:sp>
        <p:nvSpPr>
          <p:cNvPr id="22" name="Text 20"/>
          <p:cNvSpPr txBox="1"/>
          <p:nvPr/>
        </p:nvSpPr>
        <p:spPr>
          <a:xfrm>
            <a:off x="5303520" y="3154680"/>
            <a:ext cx="3383280" cy="365760"/>
          </a:xfrm>
          <a:prstGeom prst="rect">
            <a:avLst/>
          </a:prstGeom>
          <a:noFill/>
          <a:ln/>
        </p:spPr>
        <p:txBody>
          <a:bodyPr wrap="square" lIns="0" tIns="0" rIns="0" bIns="0" rtlCol="0" anchor="ctr"/>
          <a:lstStyle/>
          <a:p>
            <a:pPr marL="0" indent="0">
              <a:buNone/>
            </a:pPr>
            <a:r>
              <a:rPr lang="en-US" sz="1000" dirty="0">
                <a:solidFill>
                  <a:srgbClr val="0F172A"/>
                </a:solidFill>
                <a:latin typeface="Segoe UI" pitchFamily="34" charset="0"/>
                <a:ea typeface="Segoe UI" pitchFamily="34" charset="-122"/>
                <a:cs typeface="Segoe UI" pitchFamily="34" charset="-120"/>
              </a:rPr>
              <a:t>Clé MailJet volée : 2 jours de spam au nom de la boutique</a:t>
            </a:r>
            <a:endParaRPr lang="en-US" sz="1000" dirty="0"/>
          </a:p>
        </p:txBody>
      </p:sp>
      <p:sp>
        <p:nvSpPr>
          <p:cNvPr id="23" name="Shape 21"/>
          <p:cNvSpPr/>
          <p:nvPr/>
        </p:nvSpPr>
        <p:spPr>
          <a:xfrm>
            <a:off x="4617720" y="3621024"/>
            <a:ext cx="548640" cy="219456"/>
          </a:xfrm>
          <a:prstGeom prst="roundRect">
            <a:avLst>
              <a:gd name="adj" fmla="val 50000"/>
            </a:avLst>
          </a:prstGeom>
          <a:solidFill>
            <a:srgbClr val="FDECEC"/>
          </a:solidFill>
          <a:ln w="12700">
            <a:solidFill>
              <a:srgbClr val="FDECEC"/>
            </a:solidFill>
            <a:prstDash val="solid"/>
          </a:ln>
        </p:spPr>
        <p:txBody>
          <a:bodyPr/>
          <a:lstStyle/>
          <a:p>
            <a:endParaRPr lang="fr-FR"/>
          </a:p>
        </p:txBody>
      </p:sp>
      <p:sp>
        <p:nvSpPr>
          <p:cNvPr id="24" name="Text 22"/>
          <p:cNvSpPr txBox="1"/>
          <p:nvPr/>
        </p:nvSpPr>
        <p:spPr>
          <a:xfrm>
            <a:off x="4617720" y="3621024"/>
            <a:ext cx="548640" cy="219456"/>
          </a:xfrm>
          <a:prstGeom prst="rect">
            <a:avLst/>
          </a:prstGeom>
          <a:noFill/>
          <a:ln/>
        </p:spPr>
        <p:txBody>
          <a:bodyPr wrap="square" lIns="0" tIns="0" rIns="0" bIns="0" rtlCol="0" anchor="ctr"/>
          <a:lstStyle/>
          <a:p>
            <a:pPr marL="0" indent="0" algn="ctr">
              <a:buNone/>
            </a:pPr>
            <a:r>
              <a:rPr lang="en-US" sz="900" dirty="0">
                <a:solidFill>
                  <a:srgbClr val="DC2626"/>
                </a:solidFill>
                <a:latin typeface="Segoe UI Semibold" pitchFamily="34" charset="0"/>
                <a:ea typeface="Segoe UI Semibold" pitchFamily="34" charset="-122"/>
                <a:cs typeface="Segoe UI Semibold" pitchFamily="34" charset="-120"/>
              </a:rPr>
              <a:t>2024</a:t>
            </a:r>
            <a:endParaRPr lang="en-US" sz="900" dirty="0"/>
          </a:p>
        </p:txBody>
      </p:sp>
      <p:sp>
        <p:nvSpPr>
          <p:cNvPr id="25" name="Text 23"/>
          <p:cNvSpPr txBox="1"/>
          <p:nvPr/>
        </p:nvSpPr>
        <p:spPr>
          <a:xfrm>
            <a:off x="5303520" y="3584448"/>
            <a:ext cx="3383280" cy="365760"/>
          </a:xfrm>
          <a:prstGeom prst="rect">
            <a:avLst/>
          </a:prstGeom>
          <a:noFill/>
          <a:ln/>
        </p:spPr>
        <p:txBody>
          <a:bodyPr wrap="square" lIns="0" tIns="0" rIns="0" bIns="0" rtlCol="0" anchor="ctr"/>
          <a:lstStyle/>
          <a:p>
            <a:pPr marL="0" indent="0">
              <a:buNone/>
            </a:pPr>
            <a:r>
              <a:rPr lang="en-US" sz="1000" dirty="0">
                <a:solidFill>
                  <a:srgbClr val="0F172A"/>
                </a:solidFill>
                <a:latin typeface="Segoe UI" pitchFamily="34" charset="0"/>
                <a:ea typeface="Segoe UI" pitchFamily="34" charset="-122"/>
                <a:cs typeface="Segoe UI" pitchFamily="34" charset="-120"/>
              </a:rPr>
              <a:t>~1 000 tentatives/24 h sur /admin ; clé PayFlow exposée 1 mois sur GitHub</a:t>
            </a:r>
            <a:endParaRPr lang="en-US" sz="1000" dirty="0"/>
          </a:p>
        </p:txBody>
      </p:sp>
      <p:sp>
        <p:nvSpPr>
          <p:cNvPr id="26" name="Shape 24"/>
          <p:cNvSpPr/>
          <p:nvPr/>
        </p:nvSpPr>
        <p:spPr>
          <a:xfrm>
            <a:off x="4617720" y="4050792"/>
            <a:ext cx="548640" cy="219456"/>
          </a:xfrm>
          <a:prstGeom prst="roundRect">
            <a:avLst>
              <a:gd name="adj" fmla="val 50000"/>
            </a:avLst>
          </a:prstGeom>
          <a:solidFill>
            <a:srgbClr val="FDECEC"/>
          </a:solidFill>
          <a:ln w="12700">
            <a:solidFill>
              <a:srgbClr val="FDECEC"/>
            </a:solidFill>
            <a:prstDash val="solid"/>
          </a:ln>
        </p:spPr>
        <p:txBody>
          <a:bodyPr/>
          <a:lstStyle/>
          <a:p>
            <a:endParaRPr lang="fr-FR"/>
          </a:p>
        </p:txBody>
      </p:sp>
      <p:sp>
        <p:nvSpPr>
          <p:cNvPr id="27" name="Text 25"/>
          <p:cNvSpPr txBox="1"/>
          <p:nvPr/>
        </p:nvSpPr>
        <p:spPr>
          <a:xfrm>
            <a:off x="4617720" y="4050792"/>
            <a:ext cx="548640" cy="219456"/>
          </a:xfrm>
          <a:prstGeom prst="rect">
            <a:avLst/>
          </a:prstGeom>
          <a:noFill/>
          <a:ln/>
        </p:spPr>
        <p:txBody>
          <a:bodyPr wrap="square" lIns="0" tIns="0" rIns="0" bIns="0" rtlCol="0" anchor="ctr"/>
          <a:lstStyle/>
          <a:p>
            <a:pPr marL="0" indent="0" algn="ctr">
              <a:buNone/>
            </a:pPr>
            <a:r>
              <a:rPr lang="en-US" sz="900" dirty="0">
                <a:solidFill>
                  <a:srgbClr val="DC2626"/>
                </a:solidFill>
                <a:latin typeface="Segoe UI Semibold" pitchFamily="34" charset="0"/>
                <a:ea typeface="Segoe UI Semibold" pitchFamily="34" charset="-122"/>
                <a:cs typeface="Segoe UI Semibold" pitchFamily="34" charset="-120"/>
              </a:rPr>
              <a:t>2025</a:t>
            </a:r>
            <a:endParaRPr lang="en-US" sz="900" dirty="0"/>
          </a:p>
        </p:txBody>
      </p:sp>
      <p:sp>
        <p:nvSpPr>
          <p:cNvPr id="28" name="Text 26"/>
          <p:cNvSpPr txBox="1"/>
          <p:nvPr/>
        </p:nvSpPr>
        <p:spPr>
          <a:xfrm>
            <a:off x="5303520" y="4014216"/>
            <a:ext cx="3383280" cy="365760"/>
          </a:xfrm>
          <a:prstGeom prst="rect">
            <a:avLst/>
          </a:prstGeom>
          <a:noFill/>
          <a:ln/>
        </p:spPr>
        <p:txBody>
          <a:bodyPr wrap="square" lIns="0" tIns="0" rIns="0" bIns="0" rtlCol="0" anchor="ctr"/>
          <a:lstStyle/>
          <a:p>
            <a:pPr marL="0" indent="0">
              <a:buNone/>
            </a:pPr>
            <a:r>
              <a:rPr lang="en-US" sz="1000" dirty="0">
                <a:solidFill>
                  <a:srgbClr val="0F172A"/>
                </a:solidFill>
                <a:latin typeface="Segoe UI" pitchFamily="34" charset="0"/>
                <a:ea typeface="Segoe UI" pitchFamily="34" charset="-122"/>
                <a:cs typeface="Segoe UI" pitchFamily="34" charset="-120"/>
              </a:rPr>
              <a:t>Sauvegarde manuelle oubliée : 2 jours de commandes perdus</a:t>
            </a:r>
            <a:endParaRPr lang="en-US" sz="1000" dirty="0"/>
          </a:p>
        </p:txBody>
      </p:sp>
      <p:sp>
        <p:nvSpPr>
          <p:cNvPr id="29" name="Text 27"/>
          <p:cNvSpPr txBox="1"/>
          <p:nvPr/>
        </p:nvSpPr>
        <p:spPr>
          <a:xfrm>
            <a:off x="8321040" y="4800600"/>
            <a:ext cx="365760" cy="182880"/>
          </a:xfrm>
          <a:prstGeom prst="rect">
            <a:avLst/>
          </a:prstGeom>
          <a:noFill/>
          <a:ln/>
        </p:spPr>
        <p:txBody>
          <a:bodyPr wrap="square" lIns="0" tIns="0" rIns="0" bIns="0" rtlCol="0" anchor="t"/>
          <a:lstStyle/>
          <a:p>
            <a:pPr marL="0" indent="0" algn="r">
              <a:buNone/>
            </a:pPr>
            <a:r>
              <a:rPr lang="en-US" sz="800" dirty="0">
                <a:solidFill>
                  <a:srgbClr val="94A3B8"/>
                </a:solidFill>
                <a:latin typeface="Consolas" pitchFamily="34" charset="0"/>
                <a:ea typeface="Consolas" pitchFamily="34" charset="-122"/>
                <a:cs typeface="Consolas" pitchFamily="34" charset="-120"/>
              </a:rPr>
              <a:t>5</a:t>
            </a:r>
            <a:endParaRPr lang="en-US" sz="800" dirty="0"/>
          </a:p>
        </p:txBody>
      </p:sp>
      <p:sp>
        <p:nvSpPr>
          <p:cNvPr id="30" name="Text 28"/>
          <p:cNvSpPr txBox="1"/>
          <p:nvPr/>
        </p:nvSpPr>
        <p:spPr>
          <a:xfrm>
            <a:off x="457200" y="4800600"/>
            <a:ext cx="3657600" cy="182880"/>
          </a:xfrm>
          <a:prstGeom prst="rect">
            <a:avLst/>
          </a:prstGeom>
          <a:noFill/>
          <a:ln/>
        </p:spPr>
        <p:txBody>
          <a:bodyPr wrap="square" lIns="0" tIns="0" rIns="0" bIns="0" rtlCol="0" anchor="t"/>
          <a:lstStyle/>
          <a:p>
            <a:pPr marL="0" indent="0">
              <a:buNone/>
            </a:pPr>
            <a:r>
              <a:rPr lang="en-US" sz="800" dirty="0">
                <a:solidFill>
                  <a:srgbClr val="94A3B8"/>
                </a:solidFill>
                <a:latin typeface="Consolas" pitchFamily="34" charset="0"/>
                <a:ea typeface="Consolas" pitchFamily="34" charset="-122"/>
                <a:cs typeface="Consolas" pitchFamily="34" charset="-120"/>
              </a:rPr>
              <a:t>E21 · Agents IA &amp; analyse de risques</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92608"/>
            <a:ext cx="8229600" cy="228600"/>
          </a:xfrm>
          <a:prstGeom prst="rect">
            <a:avLst/>
          </a:prstGeom>
          <a:noFill/>
          <a:ln/>
        </p:spPr>
        <p:txBody>
          <a:bodyPr wrap="square" lIns="0" tIns="0" rIns="0" bIns="0" rtlCol="0" anchor="t"/>
          <a:lstStyle/>
          <a:p>
            <a:pPr marL="0" indent="0">
              <a:buNone/>
            </a:pPr>
            <a:r>
              <a:rPr lang="en-US" sz="1000" kern="0" spc="200" dirty="0">
                <a:solidFill>
                  <a:srgbClr val="0D9488"/>
                </a:solidFill>
                <a:latin typeface="Consolas" pitchFamily="34" charset="0"/>
                <a:ea typeface="Consolas" pitchFamily="34" charset="-122"/>
                <a:cs typeface="Consolas" pitchFamily="34" charset="-120"/>
              </a:rPr>
              <a:t>V1 · MÉTHODE</a:t>
            </a:r>
            <a:endParaRPr lang="en-US" sz="1000" dirty="0"/>
          </a:p>
        </p:txBody>
      </p:sp>
      <p:sp>
        <p:nvSpPr>
          <p:cNvPr id="3" name="Text 1"/>
          <p:cNvSpPr txBox="1"/>
          <p:nvPr/>
        </p:nvSpPr>
        <p:spPr>
          <a:xfrm>
            <a:off x="457200" y="502920"/>
            <a:ext cx="8229600" cy="548640"/>
          </a:xfrm>
          <a:prstGeom prst="rect">
            <a:avLst/>
          </a:prstGeom>
          <a:noFill/>
          <a:ln/>
        </p:spPr>
        <p:txBody>
          <a:bodyPr wrap="square" lIns="0" tIns="0" rIns="0" bIns="0" rtlCol="0" anchor="ctr"/>
          <a:lstStyle/>
          <a:p>
            <a:pPr marL="0" indent="0">
              <a:buNone/>
            </a:pPr>
            <a:r>
              <a:rPr lang="en-US" sz="2400" dirty="0">
                <a:solidFill>
                  <a:srgbClr val="0F172A"/>
                </a:solidFill>
                <a:latin typeface="Segoe UI Semibold" pitchFamily="34" charset="0"/>
                <a:ea typeface="Segoe UI Semibold" pitchFamily="34" charset="-122"/>
                <a:cs typeface="Segoe UI Semibold" pitchFamily="34" charset="-120"/>
              </a:rPr>
              <a:t>La méthode E21 : 6 étapes, 4 traitements</a:t>
            </a:r>
            <a:endParaRPr lang="en-US" sz="2400" dirty="0"/>
          </a:p>
        </p:txBody>
      </p:sp>
      <p:sp>
        <p:nvSpPr>
          <p:cNvPr id="4" name="Shape 2"/>
          <p:cNvSpPr/>
          <p:nvPr/>
        </p:nvSpPr>
        <p:spPr>
          <a:xfrm>
            <a:off x="457200" y="1325880"/>
            <a:ext cx="1298448" cy="1600200"/>
          </a:xfrm>
          <a:prstGeom prst="roundRect">
            <a:avLst>
              <a:gd name="adj" fmla="val 5634"/>
            </a:avLst>
          </a:prstGeom>
          <a:solidFill>
            <a:srgbClr val="F4F7FA"/>
          </a:solidFill>
          <a:ln w="12700">
            <a:solidFill>
              <a:srgbClr val="F4F7FA"/>
            </a:solidFill>
            <a:prstDash val="solid"/>
          </a:ln>
        </p:spPr>
        <p:txBody>
          <a:bodyPr/>
          <a:lstStyle/>
          <a:p>
            <a:endParaRPr lang="fr-FR"/>
          </a:p>
        </p:txBody>
      </p:sp>
      <p:sp>
        <p:nvSpPr>
          <p:cNvPr id="5" name="Text 3"/>
          <p:cNvSpPr txBox="1"/>
          <p:nvPr/>
        </p:nvSpPr>
        <p:spPr>
          <a:xfrm>
            <a:off x="594360" y="1435608"/>
            <a:ext cx="548640" cy="457200"/>
          </a:xfrm>
          <a:prstGeom prst="rect">
            <a:avLst/>
          </a:prstGeom>
          <a:noFill/>
          <a:ln/>
        </p:spPr>
        <p:txBody>
          <a:bodyPr wrap="square" lIns="0" tIns="0" rIns="0" bIns="0" rtlCol="0" anchor="t"/>
          <a:lstStyle/>
          <a:p>
            <a:pPr marL="0" indent="0">
              <a:buNone/>
            </a:pPr>
            <a:r>
              <a:rPr lang="en-US" sz="2600" dirty="0">
                <a:solidFill>
                  <a:srgbClr val="0D9488"/>
                </a:solidFill>
                <a:latin typeface="Segoe UI Semibold" pitchFamily="34" charset="0"/>
                <a:ea typeface="Segoe UI Semibold" pitchFamily="34" charset="-122"/>
                <a:cs typeface="Segoe UI Semibold" pitchFamily="34" charset="-120"/>
              </a:rPr>
              <a:t>1</a:t>
            </a:r>
            <a:endParaRPr lang="en-US" sz="2600" dirty="0"/>
          </a:p>
        </p:txBody>
      </p:sp>
      <p:sp>
        <p:nvSpPr>
          <p:cNvPr id="6" name="Text 4"/>
          <p:cNvSpPr txBox="1"/>
          <p:nvPr/>
        </p:nvSpPr>
        <p:spPr>
          <a:xfrm>
            <a:off x="594360" y="1984248"/>
            <a:ext cx="1069848" cy="274320"/>
          </a:xfrm>
          <a:prstGeom prst="rect">
            <a:avLst/>
          </a:prstGeom>
          <a:noFill/>
          <a:ln/>
        </p:spPr>
        <p:txBody>
          <a:bodyPr wrap="square" lIns="0" tIns="0" rIns="0" bIns="0" rtlCol="0" anchor="t"/>
          <a:lstStyle/>
          <a:p>
            <a:pPr marL="0" indent="0">
              <a:buNone/>
            </a:pPr>
            <a:r>
              <a:rPr lang="en-US" sz="1300" dirty="0">
                <a:solidFill>
                  <a:srgbClr val="0F172A"/>
                </a:solidFill>
                <a:latin typeface="Segoe UI Semibold" pitchFamily="34" charset="0"/>
                <a:ea typeface="Segoe UI Semibold" pitchFamily="34" charset="-122"/>
                <a:cs typeface="Segoe UI Semibold" pitchFamily="34" charset="-120"/>
              </a:rPr>
              <a:t>Décrire</a:t>
            </a:r>
            <a:endParaRPr lang="en-US" sz="1300" dirty="0"/>
          </a:p>
        </p:txBody>
      </p:sp>
      <p:sp>
        <p:nvSpPr>
          <p:cNvPr id="7" name="Text 5"/>
          <p:cNvSpPr txBox="1"/>
          <p:nvPr/>
        </p:nvSpPr>
        <p:spPr>
          <a:xfrm>
            <a:off x="594360" y="2286000"/>
            <a:ext cx="1069848" cy="548640"/>
          </a:xfrm>
          <a:prstGeom prst="rect">
            <a:avLst/>
          </a:prstGeom>
          <a:noFill/>
          <a:ln/>
        </p:spPr>
        <p:txBody>
          <a:bodyPr wrap="square" lIns="0" tIns="0" rIns="0" bIns="0" rtlCol="0" anchor="t"/>
          <a:lstStyle/>
          <a:p>
            <a:pPr marL="0" indent="0">
              <a:buNone/>
            </a:pPr>
            <a:r>
              <a:rPr lang="en-US" sz="950" dirty="0">
                <a:solidFill>
                  <a:srgbClr val="475569"/>
                </a:solidFill>
                <a:latin typeface="Segoe UI" pitchFamily="34" charset="0"/>
                <a:ea typeface="Segoe UI" pitchFamily="34" charset="-122"/>
                <a:cs typeface="Segoe UI" pitchFamily="34" charset="-120"/>
              </a:rPr>
              <a:t>DFD + frontières de confiance</a:t>
            </a:r>
            <a:endParaRPr lang="en-US" sz="950" dirty="0"/>
          </a:p>
        </p:txBody>
      </p:sp>
      <p:sp>
        <p:nvSpPr>
          <p:cNvPr id="8" name="Shape 6"/>
          <p:cNvSpPr/>
          <p:nvPr/>
        </p:nvSpPr>
        <p:spPr>
          <a:xfrm>
            <a:off x="1847088" y="1325880"/>
            <a:ext cx="1298448" cy="1600200"/>
          </a:xfrm>
          <a:prstGeom prst="roundRect">
            <a:avLst>
              <a:gd name="adj" fmla="val 5634"/>
            </a:avLst>
          </a:prstGeom>
          <a:solidFill>
            <a:srgbClr val="F4F7FA"/>
          </a:solidFill>
          <a:ln w="12700">
            <a:solidFill>
              <a:srgbClr val="F4F7FA"/>
            </a:solidFill>
            <a:prstDash val="solid"/>
          </a:ln>
        </p:spPr>
        <p:txBody>
          <a:bodyPr/>
          <a:lstStyle/>
          <a:p>
            <a:endParaRPr lang="fr-FR"/>
          </a:p>
        </p:txBody>
      </p:sp>
      <p:sp>
        <p:nvSpPr>
          <p:cNvPr id="9" name="Text 7"/>
          <p:cNvSpPr txBox="1"/>
          <p:nvPr/>
        </p:nvSpPr>
        <p:spPr>
          <a:xfrm>
            <a:off x="1984248" y="1435608"/>
            <a:ext cx="548640" cy="457200"/>
          </a:xfrm>
          <a:prstGeom prst="rect">
            <a:avLst/>
          </a:prstGeom>
          <a:noFill/>
          <a:ln/>
        </p:spPr>
        <p:txBody>
          <a:bodyPr wrap="square" lIns="0" tIns="0" rIns="0" bIns="0" rtlCol="0" anchor="t"/>
          <a:lstStyle/>
          <a:p>
            <a:pPr marL="0" indent="0">
              <a:buNone/>
            </a:pPr>
            <a:r>
              <a:rPr lang="en-US" sz="2600" dirty="0">
                <a:solidFill>
                  <a:srgbClr val="0D9488"/>
                </a:solidFill>
                <a:latin typeface="Segoe UI Semibold" pitchFamily="34" charset="0"/>
                <a:ea typeface="Segoe UI Semibold" pitchFamily="34" charset="-122"/>
                <a:cs typeface="Segoe UI Semibold" pitchFamily="34" charset="-120"/>
              </a:rPr>
              <a:t>2</a:t>
            </a:r>
            <a:endParaRPr lang="en-US" sz="2600" dirty="0"/>
          </a:p>
        </p:txBody>
      </p:sp>
      <p:sp>
        <p:nvSpPr>
          <p:cNvPr id="10" name="Text 8"/>
          <p:cNvSpPr txBox="1"/>
          <p:nvPr/>
        </p:nvSpPr>
        <p:spPr>
          <a:xfrm>
            <a:off x="1984248" y="1984248"/>
            <a:ext cx="1069848" cy="274320"/>
          </a:xfrm>
          <a:prstGeom prst="rect">
            <a:avLst/>
          </a:prstGeom>
          <a:noFill/>
          <a:ln/>
        </p:spPr>
        <p:txBody>
          <a:bodyPr wrap="square" lIns="0" tIns="0" rIns="0" bIns="0" rtlCol="0" anchor="t"/>
          <a:lstStyle/>
          <a:p>
            <a:pPr marL="0" indent="0">
              <a:buNone/>
            </a:pPr>
            <a:r>
              <a:rPr lang="en-US" sz="1300" dirty="0">
                <a:solidFill>
                  <a:srgbClr val="0F172A"/>
                </a:solidFill>
                <a:latin typeface="Segoe UI Semibold" pitchFamily="34" charset="0"/>
                <a:ea typeface="Segoe UI Semibold" pitchFamily="34" charset="-122"/>
                <a:cs typeface="Segoe UI Semibold" pitchFamily="34" charset="-120"/>
              </a:rPr>
              <a:t>Identifier</a:t>
            </a:r>
            <a:endParaRPr lang="en-US" sz="1300" dirty="0"/>
          </a:p>
        </p:txBody>
      </p:sp>
      <p:sp>
        <p:nvSpPr>
          <p:cNvPr id="11" name="Text 9"/>
          <p:cNvSpPr txBox="1"/>
          <p:nvPr/>
        </p:nvSpPr>
        <p:spPr>
          <a:xfrm>
            <a:off x="1984248" y="2286000"/>
            <a:ext cx="1069848" cy="548640"/>
          </a:xfrm>
          <a:prstGeom prst="rect">
            <a:avLst/>
          </a:prstGeom>
          <a:noFill/>
          <a:ln/>
        </p:spPr>
        <p:txBody>
          <a:bodyPr wrap="square" lIns="0" tIns="0" rIns="0" bIns="0" rtlCol="0" anchor="t"/>
          <a:lstStyle/>
          <a:p>
            <a:pPr marL="0" indent="0">
              <a:buNone/>
            </a:pPr>
            <a:r>
              <a:rPr lang="en-US" sz="950" dirty="0">
                <a:solidFill>
                  <a:srgbClr val="475569"/>
                </a:solidFill>
                <a:latin typeface="Segoe UI" pitchFamily="34" charset="0"/>
                <a:ea typeface="Segoe UI" pitchFamily="34" charset="-122"/>
                <a:cs typeface="Segoe UI" pitchFamily="34" charset="-120"/>
              </a:rPr>
              <a:t>STRIDE + LINDDUN</a:t>
            </a:r>
            <a:endParaRPr lang="en-US" sz="950" dirty="0"/>
          </a:p>
        </p:txBody>
      </p:sp>
      <p:sp>
        <p:nvSpPr>
          <p:cNvPr id="12" name="Shape 10"/>
          <p:cNvSpPr/>
          <p:nvPr/>
        </p:nvSpPr>
        <p:spPr>
          <a:xfrm>
            <a:off x="3236976" y="1325880"/>
            <a:ext cx="1298448" cy="1600200"/>
          </a:xfrm>
          <a:prstGeom prst="roundRect">
            <a:avLst>
              <a:gd name="adj" fmla="val 5634"/>
            </a:avLst>
          </a:prstGeom>
          <a:solidFill>
            <a:srgbClr val="F4F7FA"/>
          </a:solidFill>
          <a:ln w="12700">
            <a:solidFill>
              <a:srgbClr val="F4F7FA"/>
            </a:solidFill>
            <a:prstDash val="solid"/>
          </a:ln>
        </p:spPr>
        <p:txBody>
          <a:bodyPr/>
          <a:lstStyle/>
          <a:p>
            <a:endParaRPr lang="fr-FR"/>
          </a:p>
        </p:txBody>
      </p:sp>
      <p:sp>
        <p:nvSpPr>
          <p:cNvPr id="13" name="Text 11"/>
          <p:cNvSpPr txBox="1"/>
          <p:nvPr/>
        </p:nvSpPr>
        <p:spPr>
          <a:xfrm>
            <a:off x="3374136" y="1435608"/>
            <a:ext cx="548640" cy="457200"/>
          </a:xfrm>
          <a:prstGeom prst="rect">
            <a:avLst/>
          </a:prstGeom>
          <a:noFill/>
          <a:ln/>
        </p:spPr>
        <p:txBody>
          <a:bodyPr wrap="square" lIns="0" tIns="0" rIns="0" bIns="0" rtlCol="0" anchor="t"/>
          <a:lstStyle/>
          <a:p>
            <a:pPr marL="0" indent="0">
              <a:buNone/>
            </a:pPr>
            <a:r>
              <a:rPr lang="en-US" sz="2600" dirty="0">
                <a:solidFill>
                  <a:srgbClr val="0D9488"/>
                </a:solidFill>
                <a:latin typeface="Segoe UI Semibold" pitchFamily="34" charset="0"/>
                <a:ea typeface="Segoe UI Semibold" pitchFamily="34" charset="-122"/>
                <a:cs typeface="Segoe UI Semibold" pitchFamily="34" charset="-120"/>
              </a:rPr>
              <a:t>3</a:t>
            </a:r>
            <a:endParaRPr lang="en-US" sz="2600" dirty="0"/>
          </a:p>
        </p:txBody>
      </p:sp>
      <p:sp>
        <p:nvSpPr>
          <p:cNvPr id="14" name="Text 12"/>
          <p:cNvSpPr txBox="1"/>
          <p:nvPr/>
        </p:nvSpPr>
        <p:spPr>
          <a:xfrm>
            <a:off x="3374136" y="1984248"/>
            <a:ext cx="1069848" cy="274320"/>
          </a:xfrm>
          <a:prstGeom prst="rect">
            <a:avLst/>
          </a:prstGeom>
          <a:noFill/>
          <a:ln/>
        </p:spPr>
        <p:txBody>
          <a:bodyPr wrap="square" lIns="0" tIns="0" rIns="0" bIns="0" rtlCol="0" anchor="t"/>
          <a:lstStyle/>
          <a:p>
            <a:pPr marL="0" indent="0">
              <a:buNone/>
            </a:pPr>
            <a:r>
              <a:rPr lang="en-US" sz="1300" dirty="0">
                <a:solidFill>
                  <a:srgbClr val="0F172A"/>
                </a:solidFill>
                <a:latin typeface="Segoe UI Semibold" pitchFamily="34" charset="0"/>
                <a:ea typeface="Segoe UI Semibold" pitchFamily="34" charset="-122"/>
                <a:cs typeface="Segoe UI Semibold" pitchFamily="34" charset="-120"/>
              </a:rPr>
              <a:t>Détailler</a:t>
            </a:r>
            <a:endParaRPr lang="en-US" sz="1300" dirty="0"/>
          </a:p>
        </p:txBody>
      </p:sp>
      <p:sp>
        <p:nvSpPr>
          <p:cNvPr id="15" name="Text 13"/>
          <p:cNvSpPr txBox="1"/>
          <p:nvPr/>
        </p:nvSpPr>
        <p:spPr>
          <a:xfrm>
            <a:off x="3374136" y="2286000"/>
            <a:ext cx="1069848" cy="548640"/>
          </a:xfrm>
          <a:prstGeom prst="rect">
            <a:avLst/>
          </a:prstGeom>
          <a:noFill/>
          <a:ln/>
        </p:spPr>
        <p:txBody>
          <a:bodyPr wrap="square" lIns="0" tIns="0" rIns="0" bIns="0" rtlCol="0" anchor="t"/>
          <a:lstStyle/>
          <a:p>
            <a:pPr marL="0" indent="0">
              <a:buNone/>
            </a:pPr>
            <a:r>
              <a:rPr lang="en-US" sz="950" dirty="0">
                <a:solidFill>
                  <a:srgbClr val="475569"/>
                </a:solidFill>
                <a:latin typeface="Segoe UI" pitchFamily="34" charset="0"/>
                <a:ea typeface="Segoe UI" pitchFamily="34" charset="-122"/>
                <a:cs typeface="Segoe UI" pitchFamily="34" charset="-120"/>
              </a:rPr>
              <a:t>MITRE ATT&amp;CK, CVE</a:t>
            </a:r>
            <a:endParaRPr lang="en-US" sz="950" dirty="0"/>
          </a:p>
        </p:txBody>
      </p:sp>
      <p:sp>
        <p:nvSpPr>
          <p:cNvPr id="16" name="Shape 14"/>
          <p:cNvSpPr/>
          <p:nvPr/>
        </p:nvSpPr>
        <p:spPr>
          <a:xfrm>
            <a:off x="4626864" y="1325880"/>
            <a:ext cx="1298448" cy="1600200"/>
          </a:xfrm>
          <a:prstGeom prst="roundRect">
            <a:avLst>
              <a:gd name="adj" fmla="val 5634"/>
            </a:avLst>
          </a:prstGeom>
          <a:solidFill>
            <a:srgbClr val="F4F7FA"/>
          </a:solidFill>
          <a:ln w="12700">
            <a:solidFill>
              <a:srgbClr val="F4F7FA"/>
            </a:solidFill>
            <a:prstDash val="solid"/>
          </a:ln>
        </p:spPr>
        <p:txBody>
          <a:bodyPr/>
          <a:lstStyle/>
          <a:p>
            <a:endParaRPr lang="fr-FR"/>
          </a:p>
        </p:txBody>
      </p:sp>
      <p:sp>
        <p:nvSpPr>
          <p:cNvPr id="17" name="Text 15"/>
          <p:cNvSpPr txBox="1"/>
          <p:nvPr/>
        </p:nvSpPr>
        <p:spPr>
          <a:xfrm>
            <a:off x="4764024" y="1435608"/>
            <a:ext cx="548640" cy="457200"/>
          </a:xfrm>
          <a:prstGeom prst="rect">
            <a:avLst/>
          </a:prstGeom>
          <a:noFill/>
          <a:ln/>
        </p:spPr>
        <p:txBody>
          <a:bodyPr wrap="square" lIns="0" tIns="0" rIns="0" bIns="0" rtlCol="0" anchor="t"/>
          <a:lstStyle/>
          <a:p>
            <a:pPr marL="0" indent="0">
              <a:buNone/>
            </a:pPr>
            <a:r>
              <a:rPr lang="en-US" sz="2600" dirty="0">
                <a:solidFill>
                  <a:srgbClr val="0D9488"/>
                </a:solidFill>
                <a:latin typeface="Segoe UI Semibold" pitchFamily="34" charset="0"/>
                <a:ea typeface="Segoe UI Semibold" pitchFamily="34" charset="-122"/>
                <a:cs typeface="Segoe UI Semibold" pitchFamily="34" charset="-120"/>
              </a:rPr>
              <a:t>4</a:t>
            </a:r>
            <a:endParaRPr lang="en-US" sz="2600" dirty="0"/>
          </a:p>
        </p:txBody>
      </p:sp>
      <p:sp>
        <p:nvSpPr>
          <p:cNvPr id="18" name="Text 16"/>
          <p:cNvSpPr txBox="1"/>
          <p:nvPr/>
        </p:nvSpPr>
        <p:spPr>
          <a:xfrm>
            <a:off x="4764024" y="1984248"/>
            <a:ext cx="1069848" cy="274320"/>
          </a:xfrm>
          <a:prstGeom prst="rect">
            <a:avLst/>
          </a:prstGeom>
          <a:noFill/>
          <a:ln/>
        </p:spPr>
        <p:txBody>
          <a:bodyPr wrap="square" lIns="0" tIns="0" rIns="0" bIns="0" rtlCol="0" anchor="t"/>
          <a:lstStyle/>
          <a:p>
            <a:pPr marL="0" indent="0">
              <a:buNone/>
            </a:pPr>
            <a:r>
              <a:rPr lang="en-US" sz="1300" dirty="0">
                <a:solidFill>
                  <a:srgbClr val="0F172A"/>
                </a:solidFill>
                <a:latin typeface="Segoe UI Semibold" pitchFamily="34" charset="0"/>
                <a:ea typeface="Segoe UI Semibold" pitchFamily="34" charset="-122"/>
                <a:cs typeface="Segoe UI Semibold" pitchFamily="34" charset="-120"/>
              </a:rPr>
              <a:t>Prioriser</a:t>
            </a:r>
            <a:endParaRPr lang="en-US" sz="1300" dirty="0"/>
          </a:p>
        </p:txBody>
      </p:sp>
      <p:sp>
        <p:nvSpPr>
          <p:cNvPr id="19" name="Text 17"/>
          <p:cNvSpPr txBox="1"/>
          <p:nvPr/>
        </p:nvSpPr>
        <p:spPr>
          <a:xfrm>
            <a:off x="4764024" y="2286000"/>
            <a:ext cx="1069848" cy="548640"/>
          </a:xfrm>
          <a:prstGeom prst="rect">
            <a:avLst/>
          </a:prstGeom>
          <a:noFill/>
          <a:ln/>
        </p:spPr>
        <p:txBody>
          <a:bodyPr wrap="square" lIns="0" tIns="0" rIns="0" bIns="0" rtlCol="0" anchor="t"/>
          <a:lstStyle/>
          <a:p>
            <a:pPr marL="0" indent="0">
              <a:buNone/>
            </a:pPr>
            <a:r>
              <a:rPr lang="en-US" sz="950" dirty="0">
                <a:solidFill>
                  <a:srgbClr val="475569"/>
                </a:solidFill>
                <a:latin typeface="Segoe UI" pitchFamily="34" charset="0"/>
                <a:ea typeface="Segoe UI" pitchFamily="34" charset="-122"/>
                <a:cs typeface="Segoe UI" pitchFamily="34" charset="-120"/>
              </a:rPr>
              <a:t>Proba × impact, DREAD, CVSS</a:t>
            </a:r>
            <a:endParaRPr lang="en-US" sz="950" dirty="0"/>
          </a:p>
        </p:txBody>
      </p:sp>
      <p:sp>
        <p:nvSpPr>
          <p:cNvPr id="20" name="Shape 18"/>
          <p:cNvSpPr/>
          <p:nvPr/>
        </p:nvSpPr>
        <p:spPr>
          <a:xfrm>
            <a:off x="6016752" y="1325880"/>
            <a:ext cx="1298448" cy="1600200"/>
          </a:xfrm>
          <a:prstGeom prst="roundRect">
            <a:avLst>
              <a:gd name="adj" fmla="val 5634"/>
            </a:avLst>
          </a:prstGeom>
          <a:solidFill>
            <a:srgbClr val="F4F7FA"/>
          </a:solidFill>
          <a:ln w="12700">
            <a:solidFill>
              <a:srgbClr val="F4F7FA"/>
            </a:solidFill>
            <a:prstDash val="solid"/>
          </a:ln>
        </p:spPr>
        <p:txBody>
          <a:bodyPr/>
          <a:lstStyle/>
          <a:p>
            <a:endParaRPr lang="fr-FR"/>
          </a:p>
        </p:txBody>
      </p:sp>
      <p:sp>
        <p:nvSpPr>
          <p:cNvPr id="21" name="Text 19"/>
          <p:cNvSpPr txBox="1"/>
          <p:nvPr/>
        </p:nvSpPr>
        <p:spPr>
          <a:xfrm>
            <a:off x="6153912" y="1435608"/>
            <a:ext cx="548640" cy="457200"/>
          </a:xfrm>
          <a:prstGeom prst="rect">
            <a:avLst/>
          </a:prstGeom>
          <a:noFill/>
          <a:ln/>
        </p:spPr>
        <p:txBody>
          <a:bodyPr wrap="square" lIns="0" tIns="0" rIns="0" bIns="0" rtlCol="0" anchor="t"/>
          <a:lstStyle/>
          <a:p>
            <a:pPr marL="0" indent="0">
              <a:buNone/>
            </a:pPr>
            <a:r>
              <a:rPr lang="en-US" sz="2600" dirty="0">
                <a:solidFill>
                  <a:srgbClr val="0D9488"/>
                </a:solidFill>
                <a:latin typeface="Segoe UI Semibold" pitchFamily="34" charset="0"/>
                <a:ea typeface="Segoe UI Semibold" pitchFamily="34" charset="-122"/>
                <a:cs typeface="Segoe UI Semibold" pitchFamily="34" charset="-120"/>
              </a:rPr>
              <a:t>5</a:t>
            </a:r>
            <a:endParaRPr lang="en-US" sz="2600" dirty="0"/>
          </a:p>
        </p:txBody>
      </p:sp>
      <p:sp>
        <p:nvSpPr>
          <p:cNvPr id="22" name="Text 20"/>
          <p:cNvSpPr txBox="1"/>
          <p:nvPr/>
        </p:nvSpPr>
        <p:spPr>
          <a:xfrm>
            <a:off x="6153912" y="1984248"/>
            <a:ext cx="1069848" cy="274320"/>
          </a:xfrm>
          <a:prstGeom prst="rect">
            <a:avLst/>
          </a:prstGeom>
          <a:noFill/>
          <a:ln/>
        </p:spPr>
        <p:txBody>
          <a:bodyPr wrap="square" lIns="0" tIns="0" rIns="0" bIns="0" rtlCol="0" anchor="t"/>
          <a:lstStyle/>
          <a:p>
            <a:pPr marL="0" indent="0">
              <a:buNone/>
            </a:pPr>
            <a:r>
              <a:rPr lang="en-US" sz="1300" dirty="0">
                <a:solidFill>
                  <a:srgbClr val="0F172A"/>
                </a:solidFill>
                <a:latin typeface="Segoe UI Semibold" pitchFamily="34" charset="0"/>
                <a:ea typeface="Segoe UI Semibold" pitchFamily="34" charset="-122"/>
                <a:cs typeface="Segoe UI Semibold" pitchFamily="34" charset="-120"/>
              </a:rPr>
              <a:t>Traiter</a:t>
            </a:r>
            <a:endParaRPr lang="en-US" sz="1300" dirty="0"/>
          </a:p>
        </p:txBody>
      </p:sp>
      <p:sp>
        <p:nvSpPr>
          <p:cNvPr id="23" name="Text 21"/>
          <p:cNvSpPr txBox="1"/>
          <p:nvPr/>
        </p:nvSpPr>
        <p:spPr>
          <a:xfrm>
            <a:off x="6153912" y="2286000"/>
            <a:ext cx="1069848" cy="548640"/>
          </a:xfrm>
          <a:prstGeom prst="rect">
            <a:avLst/>
          </a:prstGeom>
          <a:noFill/>
          <a:ln/>
        </p:spPr>
        <p:txBody>
          <a:bodyPr wrap="square" lIns="0" tIns="0" rIns="0" bIns="0" rtlCol="0" anchor="t"/>
          <a:lstStyle/>
          <a:p>
            <a:pPr marL="0" indent="0">
              <a:buNone/>
            </a:pPr>
            <a:r>
              <a:rPr lang="en-US" sz="950" dirty="0">
                <a:solidFill>
                  <a:srgbClr val="475569"/>
                </a:solidFill>
                <a:latin typeface="Segoe UI" pitchFamily="34" charset="0"/>
                <a:ea typeface="Segoe UI" pitchFamily="34" charset="-122"/>
                <a:cs typeface="Segoe UI" pitchFamily="34" charset="-120"/>
              </a:rPr>
              <a:t>Contre-mesures sourcées</a:t>
            </a:r>
            <a:endParaRPr lang="en-US" sz="950" dirty="0"/>
          </a:p>
        </p:txBody>
      </p:sp>
      <p:sp>
        <p:nvSpPr>
          <p:cNvPr id="24" name="Shape 22"/>
          <p:cNvSpPr/>
          <p:nvPr/>
        </p:nvSpPr>
        <p:spPr>
          <a:xfrm>
            <a:off x="7406640" y="1325880"/>
            <a:ext cx="1298448" cy="1600200"/>
          </a:xfrm>
          <a:prstGeom prst="roundRect">
            <a:avLst>
              <a:gd name="adj" fmla="val 5634"/>
            </a:avLst>
          </a:prstGeom>
          <a:solidFill>
            <a:srgbClr val="0B1220"/>
          </a:solidFill>
          <a:ln w="12700">
            <a:solidFill>
              <a:srgbClr val="0B1220"/>
            </a:solidFill>
            <a:prstDash val="solid"/>
          </a:ln>
        </p:spPr>
        <p:txBody>
          <a:bodyPr/>
          <a:lstStyle/>
          <a:p>
            <a:endParaRPr lang="fr-FR"/>
          </a:p>
        </p:txBody>
      </p:sp>
      <p:sp>
        <p:nvSpPr>
          <p:cNvPr id="25" name="Text 23"/>
          <p:cNvSpPr txBox="1"/>
          <p:nvPr/>
        </p:nvSpPr>
        <p:spPr>
          <a:xfrm>
            <a:off x="7543800" y="1435608"/>
            <a:ext cx="548640" cy="457200"/>
          </a:xfrm>
          <a:prstGeom prst="rect">
            <a:avLst/>
          </a:prstGeom>
          <a:noFill/>
          <a:ln/>
        </p:spPr>
        <p:txBody>
          <a:bodyPr wrap="square" lIns="0" tIns="0" rIns="0" bIns="0" rtlCol="0" anchor="t"/>
          <a:lstStyle/>
          <a:p>
            <a:pPr marL="0" indent="0">
              <a:buNone/>
            </a:pPr>
            <a:r>
              <a:rPr lang="en-US" sz="2600" dirty="0">
                <a:solidFill>
                  <a:srgbClr val="2DD4BF"/>
                </a:solidFill>
                <a:latin typeface="Segoe UI Semibold" pitchFamily="34" charset="0"/>
                <a:ea typeface="Segoe UI Semibold" pitchFamily="34" charset="-122"/>
                <a:cs typeface="Segoe UI Semibold" pitchFamily="34" charset="-120"/>
              </a:rPr>
              <a:t>6</a:t>
            </a:r>
            <a:endParaRPr lang="en-US" sz="2600" dirty="0"/>
          </a:p>
        </p:txBody>
      </p:sp>
      <p:sp>
        <p:nvSpPr>
          <p:cNvPr id="26" name="Text 24"/>
          <p:cNvSpPr txBox="1"/>
          <p:nvPr/>
        </p:nvSpPr>
        <p:spPr>
          <a:xfrm>
            <a:off x="7543800" y="1984248"/>
            <a:ext cx="1069848" cy="274320"/>
          </a:xfrm>
          <a:prstGeom prst="rect">
            <a:avLst/>
          </a:prstGeom>
          <a:noFill/>
          <a:ln/>
        </p:spPr>
        <p:txBody>
          <a:bodyPr wrap="square" lIns="0" tIns="0" rIns="0" bIns="0" rtlCol="0" anchor="t"/>
          <a:lstStyle/>
          <a:p>
            <a:pPr marL="0" indent="0">
              <a:buNone/>
            </a:pPr>
            <a:r>
              <a:rPr lang="en-US" sz="1300" dirty="0">
                <a:solidFill>
                  <a:srgbClr val="FFFFFF"/>
                </a:solidFill>
                <a:latin typeface="Segoe UI Semibold" pitchFamily="34" charset="0"/>
                <a:ea typeface="Segoe UI Semibold" pitchFamily="34" charset="-122"/>
                <a:cs typeface="Segoe UI Semibold" pitchFamily="34" charset="-120"/>
              </a:rPr>
              <a:t>Valider</a:t>
            </a:r>
            <a:endParaRPr lang="en-US" sz="1300" dirty="0"/>
          </a:p>
        </p:txBody>
      </p:sp>
      <p:sp>
        <p:nvSpPr>
          <p:cNvPr id="27" name="Text 25"/>
          <p:cNvSpPr txBox="1"/>
          <p:nvPr/>
        </p:nvSpPr>
        <p:spPr>
          <a:xfrm>
            <a:off x="7543800" y="2286000"/>
            <a:ext cx="1069848" cy="548640"/>
          </a:xfrm>
          <a:prstGeom prst="rect">
            <a:avLst/>
          </a:prstGeom>
          <a:noFill/>
          <a:ln/>
        </p:spPr>
        <p:txBody>
          <a:bodyPr wrap="square" lIns="0" tIns="0" rIns="0" bIns="0" rtlCol="0" anchor="t"/>
          <a:lstStyle/>
          <a:p>
            <a:pPr marL="0" indent="0">
              <a:buNone/>
            </a:pPr>
            <a:r>
              <a:rPr lang="en-US" sz="950" dirty="0">
                <a:solidFill>
                  <a:srgbClr val="CBD5E1"/>
                </a:solidFill>
                <a:latin typeface="Segoe UI" pitchFamily="34" charset="0"/>
                <a:ea typeface="Segoe UI" pitchFamily="34" charset="-122"/>
                <a:cs typeface="Segoe UI" pitchFamily="34" charset="-120"/>
              </a:rPr>
              <a:t>Humain : valide_par</a:t>
            </a:r>
            <a:endParaRPr lang="en-US" sz="950" dirty="0"/>
          </a:p>
        </p:txBody>
      </p:sp>
      <p:sp>
        <p:nvSpPr>
          <p:cNvPr id="28" name="Text 26"/>
          <p:cNvSpPr txBox="1"/>
          <p:nvPr/>
        </p:nvSpPr>
        <p:spPr>
          <a:xfrm>
            <a:off x="457200" y="3200400"/>
            <a:ext cx="3657600" cy="274320"/>
          </a:xfrm>
          <a:prstGeom prst="rect">
            <a:avLst/>
          </a:prstGeom>
          <a:noFill/>
          <a:ln/>
        </p:spPr>
        <p:txBody>
          <a:bodyPr wrap="square" lIns="0" tIns="0" rIns="0" bIns="0" rtlCol="0" anchor="t"/>
          <a:lstStyle/>
          <a:p>
            <a:pPr marL="0" indent="0">
              <a:buNone/>
            </a:pPr>
            <a:r>
              <a:rPr lang="en-US" sz="1300" dirty="0">
                <a:solidFill>
                  <a:srgbClr val="0F172A"/>
                </a:solidFill>
                <a:latin typeface="Segoe UI Semibold" pitchFamily="34" charset="0"/>
                <a:ea typeface="Segoe UI Semibold" pitchFamily="34" charset="-122"/>
                <a:cs typeface="Segoe UI Semibold" pitchFamily="34" charset="-120"/>
              </a:rPr>
              <a:t>Réponse à chaque risque</a:t>
            </a:r>
            <a:endParaRPr lang="en-US" sz="1300" dirty="0"/>
          </a:p>
        </p:txBody>
      </p:sp>
      <p:sp>
        <p:nvSpPr>
          <p:cNvPr id="29" name="Shape 27"/>
          <p:cNvSpPr/>
          <p:nvPr/>
        </p:nvSpPr>
        <p:spPr>
          <a:xfrm>
            <a:off x="457200" y="3547872"/>
            <a:ext cx="1965960" cy="566928"/>
          </a:xfrm>
          <a:prstGeom prst="roundRect">
            <a:avLst>
              <a:gd name="adj" fmla="val 12903"/>
            </a:avLst>
          </a:prstGeom>
          <a:solidFill>
            <a:srgbClr val="E6F7F4"/>
          </a:solidFill>
          <a:ln w="12700">
            <a:solidFill>
              <a:srgbClr val="E6F7F4"/>
            </a:solidFill>
            <a:prstDash val="solid"/>
          </a:ln>
        </p:spPr>
        <p:txBody>
          <a:bodyPr/>
          <a:lstStyle/>
          <a:p>
            <a:endParaRPr lang="fr-FR"/>
          </a:p>
        </p:txBody>
      </p:sp>
      <p:sp>
        <p:nvSpPr>
          <p:cNvPr id="30" name="Text 28"/>
          <p:cNvSpPr txBox="1"/>
          <p:nvPr/>
        </p:nvSpPr>
        <p:spPr>
          <a:xfrm>
            <a:off x="621792" y="3593592"/>
            <a:ext cx="1737360" cy="475488"/>
          </a:xfrm>
          <a:prstGeom prst="rect">
            <a:avLst/>
          </a:prstGeom>
          <a:noFill/>
          <a:ln/>
        </p:spPr>
        <p:txBody>
          <a:bodyPr wrap="square" lIns="0" tIns="0" rIns="0" bIns="0" rtlCol="0" anchor="ctr"/>
          <a:lstStyle/>
          <a:p>
            <a:pPr marL="0" indent="0">
              <a:buNone/>
            </a:pPr>
            <a:r>
              <a:rPr lang="en-US" sz="1200" dirty="0">
                <a:solidFill>
                  <a:srgbClr val="0D9488"/>
                </a:solidFill>
                <a:latin typeface="Segoe UI Semibold" pitchFamily="34" charset="0"/>
                <a:ea typeface="Segoe UI Semibold" pitchFamily="34" charset="-122"/>
                <a:cs typeface="Segoe UI Semibold" pitchFamily="34" charset="-120"/>
              </a:rPr>
              <a:t>Réduire</a:t>
            </a:r>
            <a:endParaRPr lang="en-US" sz="1200" dirty="0"/>
          </a:p>
          <a:p>
            <a:pPr marL="0" indent="0">
              <a:buNone/>
            </a:pPr>
            <a:r>
              <a:rPr lang="en-US" sz="950" dirty="0">
                <a:solidFill>
                  <a:srgbClr val="475569"/>
                </a:solidFill>
                <a:latin typeface="Segoe UI" pitchFamily="34" charset="0"/>
                <a:ea typeface="Segoe UI" pitchFamily="34" charset="-122"/>
                <a:cs typeface="Segoe UI" pitchFamily="34" charset="-120"/>
              </a:rPr>
              <a:t>contre-mesures</a:t>
            </a:r>
            <a:endParaRPr lang="en-US" sz="1200" dirty="0"/>
          </a:p>
        </p:txBody>
      </p:sp>
      <p:sp>
        <p:nvSpPr>
          <p:cNvPr id="31" name="Shape 29"/>
          <p:cNvSpPr/>
          <p:nvPr/>
        </p:nvSpPr>
        <p:spPr>
          <a:xfrm>
            <a:off x="2532888" y="3547872"/>
            <a:ext cx="1965960" cy="566928"/>
          </a:xfrm>
          <a:prstGeom prst="roundRect">
            <a:avLst>
              <a:gd name="adj" fmla="val 12903"/>
            </a:avLst>
          </a:prstGeom>
          <a:solidFill>
            <a:srgbClr val="E6F7F4"/>
          </a:solidFill>
          <a:ln w="12700">
            <a:solidFill>
              <a:srgbClr val="E6F7F4"/>
            </a:solidFill>
            <a:prstDash val="solid"/>
          </a:ln>
        </p:spPr>
        <p:txBody>
          <a:bodyPr/>
          <a:lstStyle/>
          <a:p>
            <a:endParaRPr lang="fr-FR"/>
          </a:p>
        </p:txBody>
      </p:sp>
      <p:sp>
        <p:nvSpPr>
          <p:cNvPr id="32" name="Text 30"/>
          <p:cNvSpPr txBox="1"/>
          <p:nvPr/>
        </p:nvSpPr>
        <p:spPr>
          <a:xfrm>
            <a:off x="2697480" y="3593592"/>
            <a:ext cx="1737360" cy="475488"/>
          </a:xfrm>
          <a:prstGeom prst="rect">
            <a:avLst/>
          </a:prstGeom>
          <a:noFill/>
          <a:ln/>
        </p:spPr>
        <p:txBody>
          <a:bodyPr wrap="square" lIns="0" tIns="0" rIns="0" bIns="0" rtlCol="0" anchor="ctr"/>
          <a:lstStyle/>
          <a:p>
            <a:pPr marL="0" indent="0">
              <a:buNone/>
            </a:pPr>
            <a:r>
              <a:rPr lang="en-US" sz="1200" dirty="0">
                <a:solidFill>
                  <a:srgbClr val="0D9488"/>
                </a:solidFill>
                <a:latin typeface="Segoe UI Semibold" pitchFamily="34" charset="0"/>
                <a:ea typeface="Segoe UI Semibold" pitchFamily="34" charset="-122"/>
                <a:cs typeface="Segoe UI Semibold" pitchFamily="34" charset="-120"/>
              </a:rPr>
              <a:t>Transférer</a:t>
            </a:r>
            <a:endParaRPr lang="en-US" sz="1200" dirty="0"/>
          </a:p>
          <a:p>
            <a:pPr marL="0" indent="0">
              <a:buNone/>
            </a:pPr>
            <a:r>
              <a:rPr lang="en-US" sz="950" dirty="0">
                <a:solidFill>
                  <a:srgbClr val="475569"/>
                </a:solidFill>
                <a:latin typeface="Segoe UI" pitchFamily="34" charset="0"/>
                <a:ea typeface="Segoe UI" pitchFamily="34" charset="-122"/>
                <a:cs typeface="Segoe UI" pitchFamily="34" charset="-120"/>
              </a:rPr>
              <a:t>assurance, contrat</a:t>
            </a:r>
            <a:endParaRPr lang="en-US" sz="1200" dirty="0"/>
          </a:p>
        </p:txBody>
      </p:sp>
      <p:sp>
        <p:nvSpPr>
          <p:cNvPr id="33" name="Shape 31"/>
          <p:cNvSpPr/>
          <p:nvPr/>
        </p:nvSpPr>
        <p:spPr>
          <a:xfrm>
            <a:off x="4608576" y="3547872"/>
            <a:ext cx="1965960" cy="566928"/>
          </a:xfrm>
          <a:prstGeom prst="roundRect">
            <a:avLst>
              <a:gd name="adj" fmla="val 12903"/>
            </a:avLst>
          </a:prstGeom>
          <a:solidFill>
            <a:srgbClr val="E6F7F4"/>
          </a:solidFill>
          <a:ln w="12700">
            <a:solidFill>
              <a:srgbClr val="E6F7F4"/>
            </a:solidFill>
            <a:prstDash val="solid"/>
          </a:ln>
        </p:spPr>
        <p:txBody>
          <a:bodyPr/>
          <a:lstStyle/>
          <a:p>
            <a:endParaRPr lang="fr-FR"/>
          </a:p>
        </p:txBody>
      </p:sp>
      <p:sp>
        <p:nvSpPr>
          <p:cNvPr id="34" name="Text 32"/>
          <p:cNvSpPr txBox="1"/>
          <p:nvPr/>
        </p:nvSpPr>
        <p:spPr>
          <a:xfrm>
            <a:off x="4773168" y="3593592"/>
            <a:ext cx="1737360" cy="475488"/>
          </a:xfrm>
          <a:prstGeom prst="rect">
            <a:avLst/>
          </a:prstGeom>
          <a:noFill/>
          <a:ln/>
        </p:spPr>
        <p:txBody>
          <a:bodyPr wrap="square" lIns="0" tIns="0" rIns="0" bIns="0" rtlCol="0" anchor="ctr"/>
          <a:lstStyle/>
          <a:p>
            <a:pPr marL="0" indent="0">
              <a:buNone/>
            </a:pPr>
            <a:r>
              <a:rPr lang="en-US" sz="1200" dirty="0">
                <a:solidFill>
                  <a:srgbClr val="0D9488"/>
                </a:solidFill>
                <a:latin typeface="Segoe UI Semibold" pitchFamily="34" charset="0"/>
                <a:ea typeface="Segoe UI Semibold" pitchFamily="34" charset="-122"/>
                <a:cs typeface="Segoe UI Semibold" pitchFamily="34" charset="-120"/>
              </a:rPr>
              <a:t>Éviter</a:t>
            </a:r>
            <a:endParaRPr lang="en-US" sz="1200" dirty="0"/>
          </a:p>
          <a:p>
            <a:pPr marL="0" indent="0">
              <a:buNone/>
            </a:pPr>
            <a:r>
              <a:rPr lang="en-US" sz="950" dirty="0">
                <a:solidFill>
                  <a:srgbClr val="475569"/>
                </a:solidFill>
                <a:latin typeface="Segoe UI" pitchFamily="34" charset="0"/>
                <a:ea typeface="Segoe UI" pitchFamily="34" charset="-122"/>
                <a:cs typeface="Segoe UI" pitchFamily="34" charset="-120"/>
              </a:rPr>
              <a:t>supprimer l’activité</a:t>
            </a:r>
            <a:endParaRPr lang="en-US" sz="1200" dirty="0"/>
          </a:p>
        </p:txBody>
      </p:sp>
      <p:sp>
        <p:nvSpPr>
          <p:cNvPr id="35" name="Shape 33"/>
          <p:cNvSpPr/>
          <p:nvPr/>
        </p:nvSpPr>
        <p:spPr>
          <a:xfrm>
            <a:off x="6684264" y="3547872"/>
            <a:ext cx="1965960" cy="566928"/>
          </a:xfrm>
          <a:prstGeom prst="roundRect">
            <a:avLst>
              <a:gd name="adj" fmla="val 12903"/>
            </a:avLst>
          </a:prstGeom>
          <a:solidFill>
            <a:srgbClr val="E6F7F4"/>
          </a:solidFill>
          <a:ln w="12700">
            <a:solidFill>
              <a:srgbClr val="E6F7F4"/>
            </a:solidFill>
            <a:prstDash val="solid"/>
          </a:ln>
        </p:spPr>
        <p:txBody>
          <a:bodyPr/>
          <a:lstStyle/>
          <a:p>
            <a:endParaRPr lang="fr-FR"/>
          </a:p>
        </p:txBody>
      </p:sp>
      <p:sp>
        <p:nvSpPr>
          <p:cNvPr id="36" name="Text 34"/>
          <p:cNvSpPr txBox="1"/>
          <p:nvPr/>
        </p:nvSpPr>
        <p:spPr>
          <a:xfrm>
            <a:off x="6848856" y="3593592"/>
            <a:ext cx="1737360" cy="475488"/>
          </a:xfrm>
          <a:prstGeom prst="rect">
            <a:avLst/>
          </a:prstGeom>
          <a:noFill/>
          <a:ln/>
        </p:spPr>
        <p:txBody>
          <a:bodyPr wrap="square" lIns="0" tIns="0" rIns="0" bIns="0" rtlCol="0" anchor="ctr"/>
          <a:lstStyle/>
          <a:p>
            <a:pPr marL="0" indent="0">
              <a:buNone/>
            </a:pPr>
            <a:r>
              <a:rPr lang="en-US" sz="1200" dirty="0">
                <a:solidFill>
                  <a:srgbClr val="0D9488"/>
                </a:solidFill>
                <a:latin typeface="Segoe UI Semibold" pitchFamily="34" charset="0"/>
                <a:ea typeface="Segoe UI Semibold" pitchFamily="34" charset="-122"/>
                <a:cs typeface="Segoe UI Semibold" pitchFamily="34" charset="-120"/>
              </a:rPr>
              <a:t>Accepter</a:t>
            </a:r>
            <a:endParaRPr lang="en-US" sz="1200" dirty="0"/>
          </a:p>
          <a:p>
            <a:pPr marL="0" indent="0">
              <a:buNone/>
            </a:pPr>
            <a:r>
              <a:rPr lang="en-US" sz="950" dirty="0">
                <a:solidFill>
                  <a:srgbClr val="475569"/>
                </a:solidFill>
                <a:latin typeface="Segoe UI" pitchFamily="34" charset="0"/>
                <a:ea typeface="Segoe UI" pitchFamily="34" charset="-122"/>
                <a:cs typeface="Segoe UI" pitchFamily="34" charset="-120"/>
              </a:rPr>
              <a:t>décision écrite</a:t>
            </a:r>
            <a:endParaRPr lang="en-US" sz="1200" dirty="0"/>
          </a:p>
        </p:txBody>
      </p:sp>
      <p:sp>
        <p:nvSpPr>
          <p:cNvPr id="37" name="Text 35"/>
          <p:cNvSpPr txBox="1"/>
          <p:nvPr/>
        </p:nvSpPr>
        <p:spPr>
          <a:xfrm>
            <a:off x="457200" y="4297680"/>
            <a:ext cx="8229600" cy="274320"/>
          </a:xfrm>
          <a:prstGeom prst="rect">
            <a:avLst/>
          </a:prstGeom>
          <a:noFill/>
          <a:ln/>
        </p:spPr>
        <p:txBody>
          <a:bodyPr wrap="square" lIns="0" tIns="0" rIns="0" bIns="0" rtlCol="0" anchor="t"/>
          <a:lstStyle/>
          <a:p>
            <a:pPr marL="0" indent="0">
              <a:buNone/>
            </a:pPr>
            <a:r>
              <a:rPr lang="en-US" sz="1000" i="1" dirty="0">
                <a:solidFill>
                  <a:srgbClr val="475569"/>
                </a:solidFill>
                <a:latin typeface="Segoe UI" pitchFamily="34" charset="0"/>
                <a:ea typeface="Segoe UI" pitchFamily="34" charset="-122"/>
                <a:cs typeface="Segoe UI" pitchFamily="34" charset="-120"/>
              </a:rPr>
              <a:t>Aucun risque n’est ignoré sans décision écrite ; le risque résiduel est toujours estimé.</a:t>
            </a:r>
            <a:endParaRPr lang="en-US" sz="1000" dirty="0"/>
          </a:p>
        </p:txBody>
      </p:sp>
      <p:sp>
        <p:nvSpPr>
          <p:cNvPr id="38" name="Text 36"/>
          <p:cNvSpPr txBox="1"/>
          <p:nvPr/>
        </p:nvSpPr>
        <p:spPr>
          <a:xfrm>
            <a:off x="8321040" y="4800600"/>
            <a:ext cx="365760" cy="182880"/>
          </a:xfrm>
          <a:prstGeom prst="rect">
            <a:avLst/>
          </a:prstGeom>
          <a:noFill/>
          <a:ln/>
        </p:spPr>
        <p:txBody>
          <a:bodyPr wrap="square" lIns="0" tIns="0" rIns="0" bIns="0" rtlCol="0" anchor="t"/>
          <a:lstStyle/>
          <a:p>
            <a:pPr marL="0" indent="0" algn="r">
              <a:buNone/>
            </a:pPr>
            <a:r>
              <a:rPr lang="en-US" sz="800" dirty="0">
                <a:solidFill>
                  <a:srgbClr val="94A3B8"/>
                </a:solidFill>
                <a:latin typeface="Consolas" pitchFamily="34" charset="0"/>
                <a:ea typeface="Consolas" pitchFamily="34" charset="-122"/>
                <a:cs typeface="Consolas" pitchFamily="34" charset="-120"/>
              </a:rPr>
              <a:t>6</a:t>
            </a:r>
            <a:endParaRPr lang="en-US" sz="800" dirty="0"/>
          </a:p>
        </p:txBody>
      </p:sp>
      <p:sp>
        <p:nvSpPr>
          <p:cNvPr id="39" name="Text 37"/>
          <p:cNvSpPr txBox="1"/>
          <p:nvPr/>
        </p:nvSpPr>
        <p:spPr>
          <a:xfrm>
            <a:off x="457200" y="4800600"/>
            <a:ext cx="3657600" cy="182880"/>
          </a:xfrm>
          <a:prstGeom prst="rect">
            <a:avLst/>
          </a:prstGeom>
          <a:noFill/>
          <a:ln/>
        </p:spPr>
        <p:txBody>
          <a:bodyPr wrap="square" lIns="0" tIns="0" rIns="0" bIns="0" rtlCol="0" anchor="t"/>
          <a:lstStyle/>
          <a:p>
            <a:pPr marL="0" indent="0">
              <a:buNone/>
            </a:pPr>
            <a:r>
              <a:rPr lang="en-US" sz="800" dirty="0">
                <a:solidFill>
                  <a:srgbClr val="94A3B8"/>
                </a:solidFill>
                <a:latin typeface="Consolas" pitchFamily="34" charset="0"/>
                <a:ea typeface="Consolas" pitchFamily="34" charset="-122"/>
                <a:cs typeface="Consolas" pitchFamily="34" charset="-120"/>
              </a:rPr>
              <a:t>E21 · Agents IA &amp; analyse de risques</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92608"/>
            <a:ext cx="8229600" cy="228600"/>
          </a:xfrm>
          <a:prstGeom prst="rect">
            <a:avLst/>
          </a:prstGeom>
          <a:noFill/>
          <a:ln/>
        </p:spPr>
        <p:txBody>
          <a:bodyPr wrap="square" lIns="0" tIns="0" rIns="0" bIns="0" rtlCol="0" anchor="t"/>
          <a:lstStyle/>
          <a:p>
            <a:pPr marL="0" indent="0">
              <a:buNone/>
            </a:pPr>
            <a:r>
              <a:rPr lang="en-US" sz="1000" kern="0" spc="200" dirty="0">
                <a:solidFill>
                  <a:srgbClr val="0D9488"/>
                </a:solidFill>
                <a:latin typeface="Consolas" pitchFamily="34" charset="0"/>
                <a:ea typeface="Consolas" pitchFamily="34" charset="-122"/>
                <a:cs typeface="Consolas" pitchFamily="34" charset="-120"/>
              </a:rPr>
              <a:t>V1 · INFRASTRUCTURE</a:t>
            </a:r>
            <a:endParaRPr lang="en-US" sz="1000" dirty="0"/>
          </a:p>
        </p:txBody>
      </p:sp>
      <p:sp>
        <p:nvSpPr>
          <p:cNvPr id="3" name="Text 1"/>
          <p:cNvSpPr txBox="1"/>
          <p:nvPr/>
        </p:nvSpPr>
        <p:spPr>
          <a:xfrm>
            <a:off x="457200" y="502920"/>
            <a:ext cx="8229600" cy="548640"/>
          </a:xfrm>
          <a:prstGeom prst="rect">
            <a:avLst/>
          </a:prstGeom>
          <a:noFill/>
          <a:ln/>
        </p:spPr>
        <p:txBody>
          <a:bodyPr wrap="square" lIns="0" tIns="0" rIns="0" bIns="0" rtlCol="0" anchor="ctr"/>
          <a:lstStyle/>
          <a:p>
            <a:pPr marL="0" indent="0">
              <a:buNone/>
            </a:pPr>
            <a:r>
              <a:rPr lang="en-US" sz="2400" dirty="0">
                <a:solidFill>
                  <a:srgbClr val="0F172A"/>
                </a:solidFill>
                <a:latin typeface="Segoe UI Semibold" pitchFamily="34" charset="0"/>
                <a:ea typeface="Segoe UI Semibold" pitchFamily="34" charset="-122"/>
                <a:cs typeface="Segoe UI Semibold" pitchFamily="34" charset="-120"/>
              </a:rPr>
              <a:t>Architecture : un orchestrateur, une chaîne, un contrôleur</a:t>
            </a:r>
            <a:endParaRPr lang="en-US" sz="2400" dirty="0"/>
          </a:p>
        </p:txBody>
      </p:sp>
      <p:sp>
        <p:nvSpPr>
          <p:cNvPr id="4" name="Shape 2"/>
          <p:cNvSpPr/>
          <p:nvPr/>
        </p:nvSpPr>
        <p:spPr>
          <a:xfrm>
            <a:off x="457200" y="2057400"/>
            <a:ext cx="1097280" cy="868680"/>
          </a:xfrm>
          <a:prstGeom prst="roundRect">
            <a:avLst>
              <a:gd name="adj" fmla="val 8421"/>
            </a:avLst>
          </a:prstGeom>
          <a:solidFill>
            <a:srgbClr val="0B1220"/>
          </a:solidFill>
          <a:ln w="12700">
            <a:solidFill>
              <a:srgbClr val="0B1220"/>
            </a:solidFill>
            <a:prstDash val="solid"/>
          </a:ln>
        </p:spPr>
        <p:txBody>
          <a:bodyPr/>
          <a:lstStyle/>
          <a:p>
            <a:endParaRPr lang="fr-FR"/>
          </a:p>
        </p:txBody>
      </p:sp>
      <p:sp>
        <p:nvSpPr>
          <p:cNvPr id="5" name="Shape 3"/>
          <p:cNvSpPr/>
          <p:nvPr/>
        </p:nvSpPr>
        <p:spPr>
          <a:xfrm>
            <a:off x="795528" y="2130552"/>
            <a:ext cx="384048" cy="384048"/>
          </a:xfrm>
          <a:prstGeom prst="roundRect">
            <a:avLst>
              <a:gd name="adj" fmla="val 23810"/>
            </a:avLst>
          </a:prstGeom>
          <a:solidFill>
            <a:srgbClr val="1C2942"/>
          </a:solidFill>
          <a:ln w="12700">
            <a:solidFill>
              <a:srgbClr val="1C2942"/>
            </a:solidFill>
            <a:prstDash val="solid"/>
          </a:ln>
        </p:spPr>
        <p:txBody>
          <a:bodyPr/>
          <a:lstStyle/>
          <a:p>
            <a:endParaRPr lang="fr-FR"/>
          </a:p>
        </p:txBody>
      </p:sp>
      <p:pic>
        <p:nvPicPr>
          <p:cNvPr id="6" name="Image 0" descr="preencoded.png"/>
          <p:cNvPicPr>
            <a:picLocks noChangeAspect="1"/>
          </p:cNvPicPr>
          <p:nvPr/>
        </p:nvPicPr>
        <p:blipFill>
          <a:blip r:embed="rId3"/>
          <a:stretch>
            <a:fillRect/>
          </a:stretch>
        </p:blipFill>
        <p:spPr>
          <a:xfrm>
            <a:off x="895380" y="2230404"/>
            <a:ext cx="184343" cy="184343"/>
          </a:xfrm>
          <a:prstGeom prst="rect">
            <a:avLst/>
          </a:prstGeom>
        </p:spPr>
      </p:pic>
      <p:sp>
        <p:nvSpPr>
          <p:cNvPr id="7" name="Text 4"/>
          <p:cNvSpPr txBox="1"/>
          <p:nvPr/>
        </p:nvSpPr>
        <p:spPr>
          <a:xfrm>
            <a:off x="457200" y="2560320"/>
            <a:ext cx="1097280" cy="274320"/>
          </a:xfrm>
          <a:prstGeom prst="rect">
            <a:avLst/>
          </a:prstGeom>
          <a:noFill/>
          <a:ln/>
        </p:spPr>
        <p:txBody>
          <a:bodyPr wrap="square" lIns="0" tIns="0" rIns="0" bIns="0" rtlCol="0" anchor="t"/>
          <a:lstStyle/>
          <a:p>
            <a:pPr marL="0" indent="0" algn="ctr">
              <a:buNone/>
            </a:pPr>
            <a:r>
              <a:rPr lang="en-US" sz="1050" dirty="0">
                <a:solidFill>
                  <a:srgbClr val="FFFFFF"/>
                </a:solidFill>
                <a:latin typeface="Segoe UI Semibold" pitchFamily="34" charset="0"/>
                <a:ea typeface="Segoe UI Semibold" pitchFamily="34" charset="-122"/>
                <a:cs typeface="Segoe UI Semibold" pitchFamily="34" charset="-120"/>
              </a:rPr>
              <a:t>Analyste</a:t>
            </a:r>
            <a:endParaRPr lang="en-US" sz="1050" dirty="0"/>
          </a:p>
        </p:txBody>
      </p:sp>
      <p:sp>
        <p:nvSpPr>
          <p:cNvPr id="8" name="Shape 5"/>
          <p:cNvSpPr/>
          <p:nvPr/>
        </p:nvSpPr>
        <p:spPr>
          <a:xfrm>
            <a:off x="1572768" y="2487168"/>
            <a:ext cx="274320" cy="0"/>
          </a:xfrm>
          <a:prstGeom prst="line">
            <a:avLst/>
          </a:prstGeom>
          <a:noFill/>
          <a:ln w="15875">
            <a:solidFill>
              <a:srgbClr val="475569"/>
            </a:solidFill>
            <a:prstDash val="solid"/>
            <a:tailEnd type="triangle"/>
          </a:ln>
        </p:spPr>
        <p:txBody>
          <a:bodyPr/>
          <a:lstStyle/>
          <a:p>
            <a:endParaRPr lang="fr-FR"/>
          </a:p>
        </p:txBody>
      </p:sp>
      <p:sp>
        <p:nvSpPr>
          <p:cNvPr id="9" name="Shape 6"/>
          <p:cNvSpPr/>
          <p:nvPr/>
        </p:nvSpPr>
        <p:spPr>
          <a:xfrm>
            <a:off x="1874520" y="2057400"/>
            <a:ext cx="1143000" cy="868680"/>
          </a:xfrm>
          <a:prstGeom prst="roundRect">
            <a:avLst>
              <a:gd name="adj" fmla="val 8421"/>
            </a:avLst>
          </a:prstGeom>
          <a:solidFill>
            <a:srgbClr val="E6F7F4"/>
          </a:solidFill>
          <a:ln w="12700">
            <a:solidFill>
              <a:srgbClr val="0D9488"/>
            </a:solidFill>
            <a:prstDash val="solid"/>
          </a:ln>
        </p:spPr>
        <p:txBody>
          <a:bodyPr/>
          <a:lstStyle/>
          <a:p>
            <a:endParaRPr lang="fr-FR"/>
          </a:p>
        </p:txBody>
      </p:sp>
      <p:sp>
        <p:nvSpPr>
          <p:cNvPr id="10" name="Shape 7"/>
          <p:cNvSpPr/>
          <p:nvPr/>
        </p:nvSpPr>
        <p:spPr>
          <a:xfrm>
            <a:off x="2258568" y="2130552"/>
            <a:ext cx="384048" cy="384048"/>
          </a:xfrm>
          <a:prstGeom prst="roundRect">
            <a:avLst>
              <a:gd name="adj" fmla="val 23810"/>
            </a:avLst>
          </a:prstGeom>
          <a:solidFill>
            <a:srgbClr val="FFFFFF"/>
          </a:solidFill>
          <a:ln w="12700">
            <a:solidFill>
              <a:srgbClr val="FFFFFF"/>
            </a:solidFill>
            <a:prstDash val="solid"/>
          </a:ln>
        </p:spPr>
        <p:txBody>
          <a:bodyPr/>
          <a:lstStyle/>
          <a:p>
            <a:endParaRPr lang="fr-FR"/>
          </a:p>
        </p:txBody>
      </p:sp>
      <p:pic>
        <p:nvPicPr>
          <p:cNvPr id="11" name="Image 1" descr="preencoded.png"/>
          <p:cNvPicPr>
            <a:picLocks noChangeAspect="1"/>
          </p:cNvPicPr>
          <p:nvPr/>
        </p:nvPicPr>
        <p:blipFill>
          <a:blip r:embed="rId4"/>
          <a:stretch>
            <a:fillRect/>
          </a:stretch>
        </p:blipFill>
        <p:spPr>
          <a:xfrm>
            <a:off x="2358420" y="2230404"/>
            <a:ext cx="184343" cy="184343"/>
          </a:xfrm>
          <a:prstGeom prst="rect">
            <a:avLst/>
          </a:prstGeom>
        </p:spPr>
      </p:pic>
      <p:sp>
        <p:nvSpPr>
          <p:cNvPr id="12" name="Text 8"/>
          <p:cNvSpPr txBox="1"/>
          <p:nvPr/>
        </p:nvSpPr>
        <p:spPr>
          <a:xfrm>
            <a:off x="1874520" y="2560320"/>
            <a:ext cx="1143000" cy="274320"/>
          </a:xfrm>
          <a:prstGeom prst="rect">
            <a:avLst/>
          </a:prstGeom>
          <a:noFill/>
          <a:ln/>
        </p:spPr>
        <p:txBody>
          <a:bodyPr wrap="square" lIns="0" tIns="0" rIns="0" bIns="0" rtlCol="0" anchor="t"/>
          <a:lstStyle/>
          <a:p>
            <a:pPr marL="0" indent="0" algn="ctr">
              <a:buNone/>
            </a:pPr>
            <a:r>
              <a:rPr lang="en-US" sz="1050" dirty="0">
                <a:solidFill>
                  <a:srgbClr val="0D9488"/>
                </a:solidFill>
                <a:latin typeface="Segoe UI Semibold" pitchFamily="34" charset="0"/>
                <a:ea typeface="Segoe UI Semibold" pitchFamily="34" charset="-122"/>
                <a:cs typeface="Segoe UI Semibold" pitchFamily="34" charset="-120"/>
              </a:rPr>
              <a:t>Orchestrateur</a:t>
            </a:r>
            <a:endParaRPr lang="en-US" sz="1050" dirty="0"/>
          </a:p>
        </p:txBody>
      </p:sp>
      <p:sp>
        <p:nvSpPr>
          <p:cNvPr id="13" name="Shape 9"/>
          <p:cNvSpPr/>
          <p:nvPr/>
        </p:nvSpPr>
        <p:spPr>
          <a:xfrm>
            <a:off x="3035808" y="2487168"/>
            <a:ext cx="228600" cy="0"/>
          </a:xfrm>
          <a:prstGeom prst="line">
            <a:avLst/>
          </a:prstGeom>
          <a:noFill/>
          <a:ln w="15875">
            <a:solidFill>
              <a:srgbClr val="475569"/>
            </a:solidFill>
            <a:prstDash val="solid"/>
            <a:tailEnd type="triangle"/>
          </a:ln>
        </p:spPr>
        <p:txBody>
          <a:bodyPr/>
          <a:lstStyle/>
          <a:p>
            <a:endParaRPr lang="fr-FR"/>
          </a:p>
        </p:txBody>
      </p:sp>
      <p:sp>
        <p:nvSpPr>
          <p:cNvPr id="14" name="Shape 10"/>
          <p:cNvSpPr/>
          <p:nvPr/>
        </p:nvSpPr>
        <p:spPr>
          <a:xfrm>
            <a:off x="3291840" y="1325880"/>
            <a:ext cx="5394960" cy="457200"/>
          </a:xfrm>
          <a:prstGeom prst="roundRect">
            <a:avLst>
              <a:gd name="adj" fmla="val 16000"/>
            </a:avLst>
          </a:prstGeom>
          <a:solidFill>
            <a:srgbClr val="F4F7FA"/>
          </a:solidFill>
          <a:ln w="12700">
            <a:solidFill>
              <a:srgbClr val="F4F7FA"/>
            </a:solidFill>
            <a:prstDash val="solid"/>
          </a:ln>
        </p:spPr>
        <p:txBody>
          <a:bodyPr/>
          <a:lstStyle/>
          <a:p>
            <a:endParaRPr lang="fr-FR"/>
          </a:p>
        </p:txBody>
      </p:sp>
      <p:sp>
        <p:nvSpPr>
          <p:cNvPr id="15" name="Text 11"/>
          <p:cNvSpPr txBox="1"/>
          <p:nvPr/>
        </p:nvSpPr>
        <p:spPr>
          <a:xfrm>
            <a:off x="3474720" y="1325880"/>
            <a:ext cx="5120640" cy="457200"/>
          </a:xfrm>
          <a:prstGeom prst="rect">
            <a:avLst/>
          </a:prstGeom>
          <a:noFill/>
          <a:ln/>
        </p:spPr>
        <p:txBody>
          <a:bodyPr wrap="square" lIns="0" tIns="0" rIns="0" bIns="0" rtlCol="0" anchor="ctr"/>
          <a:lstStyle/>
          <a:p>
            <a:pPr marL="0" indent="0">
              <a:buNone/>
            </a:pPr>
            <a:r>
              <a:rPr lang="en-US" sz="1000" dirty="0">
                <a:solidFill>
                  <a:srgbClr val="0F172A"/>
                </a:solidFill>
                <a:latin typeface="Segoe UI Semibold" pitchFamily="34" charset="0"/>
                <a:ea typeface="Segoe UI Semibold" pitchFamily="34" charset="-122"/>
                <a:cs typeface="Segoe UI Semibold" pitchFamily="34" charset="-120"/>
              </a:rPr>
              <a:t>Skills à la demande  </a:t>
            </a:r>
            <a:r>
              <a:rPr lang="en-US" sz="1000" dirty="0">
                <a:solidFill>
                  <a:srgbClr val="475569"/>
                </a:solidFill>
                <a:latin typeface="Segoe UI" pitchFamily="34" charset="0"/>
                <a:ea typeface="Segoe UI" pitchFamily="34" charset="-122"/>
                <a:cs typeface="Segoe UI" pitchFamily="34" charset="-120"/>
              </a:rPr>
              <a:t>STRIDE · LINDDUN · EBIOS RM · PASTA · ATT&amp;CK · DREAD · CVSS</a:t>
            </a:r>
            <a:endParaRPr lang="en-US" sz="1000" dirty="0"/>
          </a:p>
        </p:txBody>
      </p:sp>
      <p:sp>
        <p:nvSpPr>
          <p:cNvPr id="16" name="Shape 12"/>
          <p:cNvSpPr/>
          <p:nvPr/>
        </p:nvSpPr>
        <p:spPr>
          <a:xfrm>
            <a:off x="3291840" y="2057400"/>
            <a:ext cx="704088" cy="868680"/>
          </a:xfrm>
          <a:prstGeom prst="roundRect">
            <a:avLst>
              <a:gd name="adj" fmla="val 10390"/>
            </a:avLst>
          </a:prstGeom>
          <a:solidFill>
            <a:srgbClr val="FFFFFF"/>
          </a:solidFill>
          <a:ln w="12700">
            <a:solidFill>
              <a:srgbClr val="0D9488"/>
            </a:solidFill>
            <a:prstDash val="solid"/>
          </a:ln>
        </p:spPr>
        <p:txBody>
          <a:bodyPr/>
          <a:lstStyle/>
          <a:p>
            <a:endParaRPr lang="fr-FR"/>
          </a:p>
        </p:txBody>
      </p:sp>
      <p:sp>
        <p:nvSpPr>
          <p:cNvPr id="17" name="Text 13"/>
          <p:cNvSpPr txBox="1"/>
          <p:nvPr/>
        </p:nvSpPr>
        <p:spPr>
          <a:xfrm>
            <a:off x="3291840" y="2130552"/>
            <a:ext cx="704088" cy="320040"/>
          </a:xfrm>
          <a:prstGeom prst="rect">
            <a:avLst/>
          </a:prstGeom>
          <a:noFill/>
          <a:ln/>
        </p:spPr>
        <p:txBody>
          <a:bodyPr wrap="square" lIns="0" tIns="0" rIns="0" bIns="0" rtlCol="0" anchor="t"/>
          <a:lstStyle/>
          <a:p>
            <a:pPr marL="0" indent="0" algn="ctr">
              <a:buNone/>
            </a:pPr>
            <a:r>
              <a:rPr lang="en-US" sz="1500" dirty="0">
                <a:solidFill>
                  <a:srgbClr val="0D9488"/>
                </a:solidFill>
                <a:latin typeface="Segoe UI Semibold" pitchFamily="34" charset="0"/>
                <a:ea typeface="Segoe UI Semibold" pitchFamily="34" charset="-122"/>
                <a:cs typeface="Segoe UI Semibold" pitchFamily="34" charset="-120"/>
              </a:rPr>
              <a:t>1</a:t>
            </a:r>
            <a:endParaRPr lang="en-US" sz="1500" dirty="0"/>
          </a:p>
        </p:txBody>
      </p:sp>
      <p:sp>
        <p:nvSpPr>
          <p:cNvPr id="18" name="Text 14"/>
          <p:cNvSpPr txBox="1"/>
          <p:nvPr/>
        </p:nvSpPr>
        <p:spPr>
          <a:xfrm>
            <a:off x="3310128" y="2487168"/>
            <a:ext cx="667512" cy="320040"/>
          </a:xfrm>
          <a:prstGeom prst="rect">
            <a:avLst/>
          </a:prstGeom>
          <a:noFill/>
          <a:ln/>
        </p:spPr>
        <p:txBody>
          <a:bodyPr wrap="square" lIns="0" tIns="0" rIns="0" bIns="0" rtlCol="0" anchor="t"/>
          <a:lstStyle/>
          <a:p>
            <a:pPr marL="0" indent="0" algn="ctr">
              <a:buNone/>
            </a:pPr>
            <a:r>
              <a:rPr lang="en-US" sz="850" dirty="0">
                <a:solidFill>
                  <a:srgbClr val="0F172A"/>
                </a:solidFill>
                <a:latin typeface="Segoe UI Semibold" pitchFamily="34" charset="0"/>
                <a:ea typeface="Segoe UI Semibold" pitchFamily="34" charset="-122"/>
                <a:cs typeface="Segoe UI Semibold" pitchFamily="34" charset="-120"/>
              </a:rPr>
              <a:t>Existant</a:t>
            </a:r>
            <a:endParaRPr lang="en-US" sz="850" dirty="0"/>
          </a:p>
        </p:txBody>
      </p:sp>
      <p:sp>
        <p:nvSpPr>
          <p:cNvPr id="19" name="Shape 15"/>
          <p:cNvSpPr/>
          <p:nvPr/>
        </p:nvSpPr>
        <p:spPr>
          <a:xfrm>
            <a:off x="4069080" y="2057400"/>
            <a:ext cx="704088" cy="868680"/>
          </a:xfrm>
          <a:prstGeom prst="roundRect">
            <a:avLst>
              <a:gd name="adj" fmla="val 10390"/>
            </a:avLst>
          </a:prstGeom>
          <a:solidFill>
            <a:srgbClr val="FFFFFF"/>
          </a:solidFill>
          <a:ln w="12700">
            <a:solidFill>
              <a:srgbClr val="0D9488"/>
            </a:solidFill>
            <a:prstDash val="solid"/>
          </a:ln>
        </p:spPr>
        <p:txBody>
          <a:bodyPr/>
          <a:lstStyle/>
          <a:p>
            <a:endParaRPr lang="fr-FR"/>
          </a:p>
        </p:txBody>
      </p:sp>
      <p:sp>
        <p:nvSpPr>
          <p:cNvPr id="20" name="Text 16"/>
          <p:cNvSpPr txBox="1"/>
          <p:nvPr/>
        </p:nvSpPr>
        <p:spPr>
          <a:xfrm>
            <a:off x="4069080" y="2130552"/>
            <a:ext cx="704088" cy="320040"/>
          </a:xfrm>
          <a:prstGeom prst="rect">
            <a:avLst/>
          </a:prstGeom>
          <a:noFill/>
          <a:ln/>
        </p:spPr>
        <p:txBody>
          <a:bodyPr wrap="square" lIns="0" tIns="0" rIns="0" bIns="0" rtlCol="0" anchor="t"/>
          <a:lstStyle/>
          <a:p>
            <a:pPr marL="0" indent="0" algn="ctr">
              <a:buNone/>
            </a:pPr>
            <a:r>
              <a:rPr lang="en-US" sz="1500" dirty="0">
                <a:solidFill>
                  <a:srgbClr val="0D9488"/>
                </a:solidFill>
                <a:latin typeface="Segoe UI Semibold" pitchFamily="34" charset="0"/>
                <a:ea typeface="Segoe UI Semibold" pitchFamily="34" charset="-122"/>
                <a:cs typeface="Segoe UI Semibold" pitchFamily="34" charset="-120"/>
              </a:rPr>
              <a:t>2</a:t>
            </a:r>
            <a:endParaRPr lang="en-US" sz="1500" dirty="0"/>
          </a:p>
        </p:txBody>
      </p:sp>
      <p:sp>
        <p:nvSpPr>
          <p:cNvPr id="21" name="Text 17"/>
          <p:cNvSpPr txBox="1"/>
          <p:nvPr/>
        </p:nvSpPr>
        <p:spPr>
          <a:xfrm>
            <a:off x="4087368" y="2487168"/>
            <a:ext cx="667512" cy="320040"/>
          </a:xfrm>
          <a:prstGeom prst="rect">
            <a:avLst/>
          </a:prstGeom>
          <a:noFill/>
          <a:ln/>
        </p:spPr>
        <p:txBody>
          <a:bodyPr wrap="square" lIns="0" tIns="0" rIns="0" bIns="0" rtlCol="0" anchor="t"/>
          <a:lstStyle/>
          <a:p>
            <a:pPr marL="0" indent="0" algn="ctr">
              <a:buNone/>
            </a:pPr>
            <a:r>
              <a:rPr lang="en-US" sz="850" dirty="0">
                <a:solidFill>
                  <a:srgbClr val="0F172A"/>
                </a:solidFill>
                <a:latin typeface="Segoe UI Semibold" pitchFamily="34" charset="0"/>
                <a:ea typeface="Segoe UI Semibold" pitchFamily="34" charset="-122"/>
                <a:cs typeface="Segoe UI Semibold" pitchFamily="34" charset="-120"/>
              </a:rPr>
              <a:t>Méthode</a:t>
            </a:r>
            <a:endParaRPr lang="en-US" sz="850" dirty="0"/>
          </a:p>
        </p:txBody>
      </p:sp>
      <p:sp>
        <p:nvSpPr>
          <p:cNvPr id="22" name="Shape 18"/>
          <p:cNvSpPr/>
          <p:nvPr/>
        </p:nvSpPr>
        <p:spPr>
          <a:xfrm>
            <a:off x="4846320" y="2057400"/>
            <a:ext cx="704088" cy="868680"/>
          </a:xfrm>
          <a:prstGeom prst="roundRect">
            <a:avLst>
              <a:gd name="adj" fmla="val 10390"/>
            </a:avLst>
          </a:prstGeom>
          <a:solidFill>
            <a:srgbClr val="FFFFFF"/>
          </a:solidFill>
          <a:ln w="12700">
            <a:solidFill>
              <a:srgbClr val="0D9488"/>
            </a:solidFill>
            <a:prstDash val="solid"/>
          </a:ln>
        </p:spPr>
        <p:txBody>
          <a:bodyPr/>
          <a:lstStyle/>
          <a:p>
            <a:endParaRPr lang="fr-FR"/>
          </a:p>
        </p:txBody>
      </p:sp>
      <p:sp>
        <p:nvSpPr>
          <p:cNvPr id="23" name="Text 19"/>
          <p:cNvSpPr txBox="1"/>
          <p:nvPr/>
        </p:nvSpPr>
        <p:spPr>
          <a:xfrm>
            <a:off x="4846320" y="2130552"/>
            <a:ext cx="704088" cy="320040"/>
          </a:xfrm>
          <a:prstGeom prst="rect">
            <a:avLst/>
          </a:prstGeom>
          <a:noFill/>
          <a:ln/>
        </p:spPr>
        <p:txBody>
          <a:bodyPr wrap="square" lIns="0" tIns="0" rIns="0" bIns="0" rtlCol="0" anchor="t"/>
          <a:lstStyle/>
          <a:p>
            <a:pPr marL="0" indent="0" algn="ctr">
              <a:buNone/>
            </a:pPr>
            <a:r>
              <a:rPr lang="en-US" sz="1500" dirty="0">
                <a:solidFill>
                  <a:srgbClr val="0D9488"/>
                </a:solidFill>
                <a:latin typeface="Segoe UI Semibold" pitchFamily="34" charset="0"/>
                <a:ea typeface="Segoe UI Semibold" pitchFamily="34" charset="-122"/>
                <a:cs typeface="Segoe UI Semibold" pitchFamily="34" charset="-120"/>
              </a:rPr>
              <a:t>3</a:t>
            </a:r>
            <a:endParaRPr lang="en-US" sz="1500" dirty="0"/>
          </a:p>
        </p:txBody>
      </p:sp>
      <p:sp>
        <p:nvSpPr>
          <p:cNvPr id="24" name="Text 20"/>
          <p:cNvSpPr txBox="1"/>
          <p:nvPr/>
        </p:nvSpPr>
        <p:spPr>
          <a:xfrm>
            <a:off x="4864608" y="2487168"/>
            <a:ext cx="667512" cy="320040"/>
          </a:xfrm>
          <a:prstGeom prst="rect">
            <a:avLst/>
          </a:prstGeom>
          <a:noFill/>
          <a:ln/>
        </p:spPr>
        <p:txBody>
          <a:bodyPr wrap="square" lIns="0" tIns="0" rIns="0" bIns="0" rtlCol="0" anchor="t"/>
          <a:lstStyle/>
          <a:p>
            <a:pPr marL="0" indent="0" algn="ctr">
              <a:buNone/>
            </a:pPr>
            <a:r>
              <a:rPr lang="en-US" sz="850" dirty="0">
                <a:solidFill>
                  <a:srgbClr val="0F172A"/>
                </a:solidFill>
                <a:latin typeface="Segoe UI Semibold" pitchFamily="34" charset="0"/>
                <a:ea typeface="Segoe UI Semibold" pitchFamily="34" charset="-122"/>
                <a:cs typeface="Segoe UI Semibold" pitchFamily="34" charset="-120"/>
              </a:rPr>
              <a:t>Menaces</a:t>
            </a:r>
            <a:endParaRPr lang="en-US" sz="850" dirty="0"/>
          </a:p>
        </p:txBody>
      </p:sp>
      <p:sp>
        <p:nvSpPr>
          <p:cNvPr id="25" name="Shape 21"/>
          <p:cNvSpPr/>
          <p:nvPr/>
        </p:nvSpPr>
        <p:spPr>
          <a:xfrm>
            <a:off x="5623560" y="2057400"/>
            <a:ext cx="704088" cy="868680"/>
          </a:xfrm>
          <a:prstGeom prst="roundRect">
            <a:avLst>
              <a:gd name="adj" fmla="val 10390"/>
            </a:avLst>
          </a:prstGeom>
          <a:solidFill>
            <a:srgbClr val="FFFFFF"/>
          </a:solidFill>
          <a:ln w="12700">
            <a:solidFill>
              <a:srgbClr val="0D9488"/>
            </a:solidFill>
            <a:prstDash val="solid"/>
          </a:ln>
        </p:spPr>
        <p:txBody>
          <a:bodyPr/>
          <a:lstStyle/>
          <a:p>
            <a:endParaRPr lang="fr-FR"/>
          </a:p>
        </p:txBody>
      </p:sp>
      <p:sp>
        <p:nvSpPr>
          <p:cNvPr id="26" name="Text 22"/>
          <p:cNvSpPr txBox="1"/>
          <p:nvPr/>
        </p:nvSpPr>
        <p:spPr>
          <a:xfrm>
            <a:off x="5623560" y="2130552"/>
            <a:ext cx="704088" cy="320040"/>
          </a:xfrm>
          <a:prstGeom prst="rect">
            <a:avLst/>
          </a:prstGeom>
          <a:noFill/>
          <a:ln/>
        </p:spPr>
        <p:txBody>
          <a:bodyPr wrap="square" lIns="0" tIns="0" rIns="0" bIns="0" rtlCol="0" anchor="t"/>
          <a:lstStyle/>
          <a:p>
            <a:pPr marL="0" indent="0" algn="ctr">
              <a:buNone/>
            </a:pPr>
            <a:r>
              <a:rPr lang="en-US" sz="1500" dirty="0">
                <a:solidFill>
                  <a:srgbClr val="0D9488"/>
                </a:solidFill>
                <a:latin typeface="Segoe UI Semibold" pitchFamily="34" charset="0"/>
                <a:ea typeface="Segoe UI Semibold" pitchFamily="34" charset="-122"/>
                <a:cs typeface="Segoe UI Semibold" pitchFamily="34" charset="-120"/>
              </a:rPr>
              <a:t>4</a:t>
            </a:r>
            <a:endParaRPr lang="en-US" sz="1500" dirty="0"/>
          </a:p>
        </p:txBody>
      </p:sp>
      <p:sp>
        <p:nvSpPr>
          <p:cNvPr id="27" name="Text 23"/>
          <p:cNvSpPr txBox="1"/>
          <p:nvPr/>
        </p:nvSpPr>
        <p:spPr>
          <a:xfrm>
            <a:off x="5641848" y="2487168"/>
            <a:ext cx="667512" cy="320040"/>
          </a:xfrm>
          <a:prstGeom prst="rect">
            <a:avLst/>
          </a:prstGeom>
          <a:noFill/>
          <a:ln/>
        </p:spPr>
        <p:txBody>
          <a:bodyPr wrap="square" lIns="0" tIns="0" rIns="0" bIns="0" rtlCol="0" anchor="t"/>
          <a:lstStyle/>
          <a:p>
            <a:pPr marL="0" indent="0" algn="ctr">
              <a:buNone/>
            </a:pPr>
            <a:r>
              <a:rPr lang="en-US" sz="850" dirty="0">
                <a:solidFill>
                  <a:srgbClr val="0F172A"/>
                </a:solidFill>
                <a:latin typeface="Segoe UI Semibold" pitchFamily="34" charset="0"/>
                <a:ea typeface="Segoe UI Semibold" pitchFamily="34" charset="-122"/>
                <a:cs typeface="Segoe UI Semibold" pitchFamily="34" charset="-120"/>
              </a:rPr>
              <a:t>Évaluation</a:t>
            </a:r>
            <a:endParaRPr lang="en-US" sz="850" dirty="0"/>
          </a:p>
        </p:txBody>
      </p:sp>
      <p:sp>
        <p:nvSpPr>
          <p:cNvPr id="28" name="Shape 24"/>
          <p:cNvSpPr/>
          <p:nvPr/>
        </p:nvSpPr>
        <p:spPr>
          <a:xfrm>
            <a:off x="6400800" y="2057400"/>
            <a:ext cx="704088" cy="868680"/>
          </a:xfrm>
          <a:prstGeom prst="roundRect">
            <a:avLst>
              <a:gd name="adj" fmla="val 10390"/>
            </a:avLst>
          </a:prstGeom>
          <a:solidFill>
            <a:srgbClr val="FFFFFF"/>
          </a:solidFill>
          <a:ln w="12700">
            <a:solidFill>
              <a:srgbClr val="0D9488"/>
            </a:solidFill>
            <a:prstDash val="solid"/>
          </a:ln>
        </p:spPr>
        <p:txBody>
          <a:bodyPr/>
          <a:lstStyle/>
          <a:p>
            <a:endParaRPr lang="fr-FR"/>
          </a:p>
        </p:txBody>
      </p:sp>
      <p:sp>
        <p:nvSpPr>
          <p:cNvPr id="29" name="Text 25"/>
          <p:cNvSpPr txBox="1"/>
          <p:nvPr/>
        </p:nvSpPr>
        <p:spPr>
          <a:xfrm>
            <a:off x="6400800" y="2130552"/>
            <a:ext cx="704088" cy="320040"/>
          </a:xfrm>
          <a:prstGeom prst="rect">
            <a:avLst/>
          </a:prstGeom>
          <a:noFill/>
          <a:ln/>
        </p:spPr>
        <p:txBody>
          <a:bodyPr wrap="square" lIns="0" tIns="0" rIns="0" bIns="0" rtlCol="0" anchor="t"/>
          <a:lstStyle/>
          <a:p>
            <a:pPr marL="0" indent="0" algn="ctr">
              <a:buNone/>
            </a:pPr>
            <a:r>
              <a:rPr lang="en-US" sz="1500" dirty="0">
                <a:solidFill>
                  <a:srgbClr val="0D9488"/>
                </a:solidFill>
                <a:latin typeface="Segoe UI Semibold" pitchFamily="34" charset="0"/>
                <a:ea typeface="Segoe UI Semibold" pitchFamily="34" charset="-122"/>
                <a:cs typeface="Segoe UI Semibold" pitchFamily="34" charset="-120"/>
              </a:rPr>
              <a:t>5</a:t>
            </a:r>
            <a:endParaRPr lang="en-US" sz="1500" dirty="0"/>
          </a:p>
        </p:txBody>
      </p:sp>
      <p:sp>
        <p:nvSpPr>
          <p:cNvPr id="30" name="Text 26"/>
          <p:cNvSpPr txBox="1"/>
          <p:nvPr/>
        </p:nvSpPr>
        <p:spPr>
          <a:xfrm>
            <a:off x="6419088" y="2487168"/>
            <a:ext cx="667512" cy="320040"/>
          </a:xfrm>
          <a:prstGeom prst="rect">
            <a:avLst/>
          </a:prstGeom>
          <a:noFill/>
          <a:ln/>
        </p:spPr>
        <p:txBody>
          <a:bodyPr wrap="square" lIns="0" tIns="0" rIns="0" bIns="0" rtlCol="0" anchor="t"/>
          <a:lstStyle/>
          <a:p>
            <a:pPr marL="0" indent="0" algn="ctr">
              <a:buNone/>
            </a:pPr>
            <a:r>
              <a:rPr lang="en-US" sz="850" dirty="0">
                <a:solidFill>
                  <a:srgbClr val="0F172A"/>
                </a:solidFill>
                <a:latin typeface="Segoe UI Semibold" pitchFamily="34" charset="0"/>
                <a:ea typeface="Segoe UI Semibold" pitchFamily="34" charset="-122"/>
                <a:cs typeface="Segoe UI Semibold" pitchFamily="34" charset="-120"/>
              </a:rPr>
              <a:t>Traitement</a:t>
            </a:r>
            <a:endParaRPr lang="en-US" sz="850" dirty="0"/>
          </a:p>
        </p:txBody>
      </p:sp>
      <p:sp>
        <p:nvSpPr>
          <p:cNvPr id="31" name="Shape 27"/>
          <p:cNvSpPr/>
          <p:nvPr/>
        </p:nvSpPr>
        <p:spPr>
          <a:xfrm>
            <a:off x="7178040" y="2057400"/>
            <a:ext cx="704088" cy="868680"/>
          </a:xfrm>
          <a:prstGeom prst="roundRect">
            <a:avLst>
              <a:gd name="adj" fmla="val 10390"/>
            </a:avLst>
          </a:prstGeom>
          <a:solidFill>
            <a:srgbClr val="0B1220"/>
          </a:solidFill>
          <a:ln w="12700">
            <a:solidFill>
              <a:srgbClr val="0B1220"/>
            </a:solidFill>
            <a:prstDash val="solid"/>
          </a:ln>
        </p:spPr>
        <p:txBody>
          <a:bodyPr/>
          <a:lstStyle/>
          <a:p>
            <a:endParaRPr lang="fr-FR"/>
          </a:p>
        </p:txBody>
      </p:sp>
      <p:sp>
        <p:nvSpPr>
          <p:cNvPr id="32" name="Text 28"/>
          <p:cNvSpPr txBox="1"/>
          <p:nvPr/>
        </p:nvSpPr>
        <p:spPr>
          <a:xfrm>
            <a:off x="7178040" y="2130552"/>
            <a:ext cx="704088" cy="320040"/>
          </a:xfrm>
          <a:prstGeom prst="rect">
            <a:avLst/>
          </a:prstGeom>
          <a:noFill/>
          <a:ln/>
        </p:spPr>
        <p:txBody>
          <a:bodyPr wrap="square" lIns="0" tIns="0" rIns="0" bIns="0" rtlCol="0" anchor="t"/>
          <a:lstStyle/>
          <a:p>
            <a:pPr marL="0" indent="0" algn="ctr">
              <a:buNone/>
            </a:pPr>
            <a:r>
              <a:rPr lang="en-US" sz="1500" dirty="0">
                <a:solidFill>
                  <a:srgbClr val="2DD4BF"/>
                </a:solidFill>
                <a:latin typeface="Segoe UI Semibold" pitchFamily="34" charset="0"/>
                <a:ea typeface="Segoe UI Semibold" pitchFamily="34" charset="-122"/>
                <a:cs typeface="Segoe UI Semibold" pitchFamily="34" charset="-120"/>
              </a:rPr>
              <a:t>6</a:t>
            </a:r>
            <a:endParaRPr lang="en-US" sz="1500" dirty="0"/>
          </a:p>
        </p:txBody>
      </p:sp>
      <p:sp>
        <p:nvSpPr>
          <p:cNvPr id="33" name="Text 29"/>
          <p:cNvSpPr txBox="1"/>
          <p:nvPr/>
        </p:nvSpPr>
        <p:spPr>
          <a:xfrm>
            <a:off x="7196328" y="2487168"/>
            <a:ext cx="667512" cy="320040"/>
          </a:xfrm>
          <a:prstGeom prst="rect">
            <a:avLst/>
          </a:prstGeom>
          <a:noFill/>
          <a:ln/>
        </p:spPr>
        <p:txBody>
          <a:bodyPr wrap="square" lIns="0" tIns="0" rIns="0" bIns="0" rtlCol="0" anchor="t"/>
          <a:lstStyle/>
          <a:p>
            <a:pPr marL="0" indent="0" algn="ctr">
              <a:buNone/>
            </a:pPr>
            <a:r>
              <a:rPr lang="en-US" sz="850" dirty="0">
                <a:solidFill>
                  <a:srgbClr val="FFFFFF"/>
                </a:solidFill>
                <a:latin typeface="Segoe UI Semibold" pitchFamily="34" charset="0"/>
                <a:ea typeface="Segoe UI Semibold" pitchFamily="34" charset="-122"/>
                <a:cs typeface="Segoe UI Semibold" pitchFamily="34" charset="-120"/>
              </a:rPr>
              <a:t>Validation</a:t>
            </a:r>
            <a:endParaRPr lang="en-US" sz="850" dirty="0"/>
          </a:p>
        </p:txBody>
      </p:sp>
      <p:sp>
        <p:nvSpPr>
          <p:cNvPr id="34" name="Shape 30"/>
          <p:cNvSpPr/>
          <p:nvPr/>
        </p:nvSpPr>
        <p:spPr>
          <a:xfrm>
            <a:off x="7955280" y="2057400"/>
            <a:ext cx="704088" cy="868680"/>
          </a:xfrm>
          <a:prstGeom prst="roundRect">
            <a:avLst>
              <a:gd name="adj" fmla="val 10390"/>
            </a:avLst>
          </a:prstGeom>
          <a:solidFill>
            <a:srgbClr val="FFFFFF"/>
          </a:solidFill>
          <a:ln w="12700">
            <a:solidFill>
              <a:srgbClr val="0D9488"/>
            </a:solidFill>
            <a:prstDash val="solid"/>
          </a:ln>
        </p:spPr>
        <p:txBody>
          <a:bodyPr/>
          <a:lstStyle/>
          <a:p>
            <a:endParaRPr lang="fr-FR"/>
          </a:p>
        </p:txBody>
      </p:sp>
      <p:sp>
        <p:nvSpPr>
          <p:cNvPr id="35" name="Text 31"/>
          <p:cNvSpPr txBox="1"/>
          <p:nvPr/>
        </p:nvSpPr>
        <p:spPr>
          <a:xfrm>
            <a:off x="7955280" y="2130552"/>
            <a:ext cx="704088" cy="320040"/>
          </a:xfrm>
          <a:prstGeom prst="rect">
            <a:avLst/>
          </a:prstGeom>
          <a:noFill/>
          <a:ln/>
        </p:spPr>
        <p:txBody>
          <a:bodyPr wrap="square" lIns="0" tIns="0" rIns="0" bIns="0" rtlCol="0" anchor="t"/>
          <a:lstStyle/>
          <a:p>
            <a:pPr marL="0" indent="0" algn="ctr">
              <a:buNone/>
            </a:pPr>
            <a:r>
              <a:rPr lang="en-US" sz="1500" dirty="0">
                <a:solidFill>
                  <a:srgbClr val="0D9488"/>
                </a:solidFill>
                <a:latin typeface="Segoe UI Semibold" pitchFamily="34" charset="0"/>
                <a:ea typeface="Segoe UI Semibold" pitchFamily="34" charset="-122"/>
                <a:cs typeface="Segoe UI Semibold" pitchFamily="34" charset="-120"/>
              </a:rPr>
              <a:t>7</a:t>
            </a:r>
            <a:endParaRPr lang="en-US" sz="1500" dirty="0"/>
          </a:p>
        </p:txBody>
      </p:sp>
      <p:sp>
        <p:nvSpPr>
          <p:cNvPr id="36" name="Text 32"/>
          <p:cNvSpPr txBox="1"/>
          <p:nvPr/>
        </p:nvSpPr>
        <p:spPr>
          <a:xfrm>
            <a:off x="7973568" y="2487168"/>
            <a:ext cx="667512" cy="320040"/>
          </a:xfrm>
          <a:prstGeom prst="rect">
            <a:avLst/>
          </a:prstGeom>
          <a:noFill/>
          <a:ln/>
        </p:spPr>
        <p:txBody>
          <a:bodyPr wrap="square" lIns="0" tIns="0" rIns="0" bIns="0" rtlCol="0" anchor="t"/>
          <a:lstStyle/>
          <a:p>
            <a:pPr marL="0" indent="0" algn="ctr">
              <a:buNone/>
            </a:pPr>
            <a:r>
              <a:rPr lang="en-US" sz="850" dirty="0">
                <a:solidFill>
                  <a:srgbClr val="0F172A"/>
                </a:solidFill>
                <a:latin typeface="Segoe UI Semibold" pitchFamily="34" charset="0"/>
                <a:ea typeface="Segoe UI Semibold" pitchFamily="34" charset="-122"/>
                <a:cs typeface="Segoe UI Semibold" pitchFamily="34" charset="-120"/>
              </a:rPr>
              <a:t>Synthèse</a:t>
            </a:r>
            <a:endParaRPr lang="en-US" sz="850" dirty="0"/>
          </a:p>
        </p:txBody>
      </p:sp>
      <p:sp>
        <p:nvSpPr>
          <p:cNvPr id="37" name="Shape 33"/>
          <p:cNvSpPr/>
          <p:nvPr/>
        </p:nvSpPr>
        <p:spPr>
          <a:xfrm>
            <a:off x="3291840" y="3090672"/>
            <a:ext cx="5394960" cy="457200"/>
          </a:xfrm>
          <a:prstGeom prst="roundRect">
            <a:avLst>
              <a:gd name="adj" fmla="val 16000"/>
            </a:avLst>
          </a:prstGeom>
          <a:solidFill>
            <a:srgbClr val="0B1220"/>
          </a:solidFill>
          <a:ln w="12700">
            <a:solidFill>
              <a:srgbClr val="0B1220"/>
            </a:solidFill>
            <a:prstDash val="solid"/>
          </a:ln>
        </p:spPr>
        <p:txBody>
          <a:bodyPr/>
          <a:lstStyle/>
          <a:p>
            <a:endParaRPr lang="fr-FR"/>
          </a:p>
        </p:txBody>
      </p:sp>
      <p:sp>
        <p:nvSpPr>
          <p:cNvPr id="38" name="Text 34"/>
          <p:cNvSpPr txBox="1"/>
          <p:nvPr/>
        </p:nvSpPr>
        <p:spPr>
          <a:xfrm>
            <a:off x="3474720" y="3090672"/>
            <a:ext cx="5120640" cy="457200"/>
          </a:xfrm>
          <a:prstGeom prst="rect">
            <a:avLst/>
          </a:prstGeom>
          <a:noFill/>
          <a:ln/>
        </p:spPr>
        <p:txBody>
          <a:bodyPr wrap="square" lIns="0" tIns="0" rIns="0" bIns="0" rtlCol="0" anchor="ctr"/>
          <a:lstStyle/>
          <a:p>
            <a:pPr marL="0" indent="0">
              <a:buNone/>
            </a:pPr>
            <a:r>
              <a:rPr lang="en-US" sz="1000" dirty="0">
                <a:solidFill>
                  <a:srgbClr val="2DD4BF"/>
                </a:solidFill>
                <a:latin typeface="Segoe UI Semibold" pitchFamily="34" charset="0"/>
                <a:ea typeface="Segoe UI Semibold" pitchFamily="34" charset="-122"/>
                <a:cs typeface="Segoe UI Semibold" pitchFamily="34" charset="-120"/>
              </a:rPr>
              <a:t>e21-controle  </a:t>
            </a:r>
            <a:r>
              <a:rPr lang="en-US" sz="1000" dirty="0">
                <a:solidFill>
                  <a:srgbClr val="E2E8F0"/>
                </a:solidFill>
                <a:latin typeface="Segoe UI" pitchFamily="34" charset="0"/>
                <a:ea typeface="Segoe UI" pitchFamily="34" charset="-122"/>
                <a:cs typeface="Segoe UI" pitchFamily="34" charset="-120"/>
              </a:rPr>
              <a:t>garde-fous après chaque étape → OK · WARN · REJET (reprise)</a:t>
            </a:r>
            <a:endParaRPr lang="en-US" sz="1000" dirty="0"/>
          </a:p>
        </p:txBody>
      </p:sp>
      <p:sp>
        <p:nvSpPr>
          <p:cNvPr id="39" name="Shape 35"/>
          <p:cNvSpPr/>
          <p:nvPr/>
        </p:nvSpPr>
        <p:spPr>
          <a:xfrm>
            <a:off x="457200" y="3749040"/>
            <a:ext cx="2651760" cy="777240"/>
          </a:xfrm>
          <a:prstGeom prst="roundRect">
            <a:avLst>
              <a:gd name="adj" fmla="val 9412"/>
            </a:avLst>
          </a:prstGeom>
          <a:solidFill>
            <a:srgbClr val="F4F7FA"/>
          </a:solidFill>
          <a:ln w="12700">
            <a:solidFill>
              <a:srgbClr val="F4F7FA"/>
            </a:solidFill>
            <a:prstDash val="solid"/>
          </a:ln>
        </p:spPr>
        <p:txBody>
          <a:bodyPr/>
          <a:lstStyle/>
          <a:p>
            <a:endParaRPr lang="fr-FR"/>
          </a:p>
        </p:txBody>
      </p:sp>
      <p:sp>
        <p:nvSpPr>
          <p:cNvPr id="40" name="Shape 36"/>
          <p:cNvSpPr/>
          <p:nvPr/>
        </p:nvSpPr>
        <p:spPr>
          <a:xfrm>
            <a:off x="594360" y="3931920"/>
            <a:ext cx="402336" cy="402336"/>
          </a:xfrm>
          <a:prstGeom prst="roundRect">
            <a:avLst>
              <a:gd name="adj" fmla="val 22727"/>
            </a:avLst>
          </a:prstGeom>
          <a:solidFill>
            <a:srgbClr val="E6F7F4"/>
          </a:solidFill>
          <a:ln w="12700">
            <a:solidFill>
              <a:srgbClr val="E6F7F4"/>
            </a:solidFill>
            <a:prstDash val="solid"/>
          </a:ln>
        </p:spPr>
        <p:txBody>
          <a:bodyPr/>
          <a:lstStyle/>
          <a:p>
            <a:endParaRPr lang="fr-FR"/>
          </a:p>
        </p:txBody>
      </p:sp>
      <p:pic>
        <p:nvPicPr>
          <p:cNvPr id="41" name="Image 2" descr="preencoded.png"/>
          <p:cNvPicPr>
            <a:picLocks noChangeAspect="1"/>
          </p:cNvPicPr>
          <p:nvPr/>
        </p:nvPicPr>
        <p:blipFill>
          <a:blip r:embed="rId5"/>
          <a:stretch>
            <a:fillRect/>
          </a:stretch>
        </p:blipFill>
        <p:spPr>
          <a:xfrm>
            <a:off x="698967" y="4036527"/>
            <a:ext cx="193121" cy="193121"/>
          </a:xfrm>
          <a:prstGeom prst="rect">
            <a:avLst/>
          </a:prstGeom>
        </p:spPr>
      </p:pic>
      <p:sp>
        <p:nvSpPr>
          <p:cNvPr id="42" name="Text 37"/>
          <p:cNvSpPr txBox="1"/>
          <p:nvPr/>
        </p:nvSpPr>
        <p:spPr>
          <a:xfrm>
            <a:off x="1115568" y="3822192"/>
            <a:ext cx="1920240" cy="256032"/>
          </a:xfrm>
          <a:prstGeom prst="rect">
            <a:avLst/>
          </a:prstGeom>
          <a:noFill/>
          <a:ln/>
        </p:spPr>
        <p:txBody>
          <a:bodyPr wrap="square" lIns="0" tIns="0" rIns="0" bIns="0" rtlCol="0" anchor="t"/>
          <a:lstStyle/>
          <a:p>
            <a:pPr marL="0" indent="0">
              <a:buNone/>
            </a:pPr>
            <a:r>
              <a:rPr lang="en-US" sz="1100" dirty="0">
                <a:solidFill>
                  <a:srgbClr val="0F172A"/>
                </a:solidFill>
                <a:latin typeface="Segoe UI Semibold" pitchFamily="34" charset="0"/>
                <a:ea typeface="Segoe UI Semibold" pitchFamily="34" charset="-122"/>
                <a:cs typeface="Segoe UI Semibold" pitchFamily="34" charset="-120"/>
              </a:rPr>
              <a:t>knowledge_base/</a:t>
            </a:r>
            <a:endParaRPr lang="en-US" sz="1100" dirty="0"/>
          </a:p>
        </p:txBody>
      </p:sp>
      <p:sp>
        <p:nvSpPr>
          <p:cNvPr id="43" name="Text 38"/>
          <p:cNvSpPr txBox="1"/>
          <p:nvPr/>
        </p:nvSpPr>
        <p:spPr>
          <a:xfrm>
            <a:off x="1115568" y="4078224"/>
            <a:ext cx="1920240" cy="411480"/>
          </a:xfrm>
          <a:prstGeom prst="rect">
            <a:avLst/>
          </a:prstGeom>
          <a:noFill/>
          <a:ln/>
        </p:spPr>
        <p:txBody>
          <a:bodyPr wrap="square" lIns="0" tIns="0" rIns="0" bIns="0" rtlCol="0" anchor="t"/>
          <a:lstStyle/>
          <a:p>
            <a:pPr marL="0" indent="0">
              <a:buNone/>
            </a:pPr>
            <a:r>
              <a:rPr lang="en-US" sz="900" dirty="0">
                <a:solidFill>
                  <a:srgbClr val="475569"/>
                </a:solidFill>
                <a:latin typeface="Segoe UI" pitchFamily="34" charset="0"/>
                <a:ea typeface="Segoe UI" pitchFamily="34" charset="-122"/>
                <a:cs typeface="Segoe UI" pitchFamily="34" charset="-120"/>
              </a:rPr>
              <a:t>Sources à ID stable (STRIDE-S, ISO27002-…)</a:t>
            </a:r>
            <a:endParaRPr lang="en-US" sz="900" dirty="0"/>
          </a:p>
        </p:txBody>
      </p:sp>
      <p:sp>
        <p:nvSpPr>
          <p:cNvPr id="44" name="Shape 39"/>
          <p:cNvSpPr/>
          <p:nvPr/>
        </p:nvSpPr>
        <p:spPr>
          <a:xfrm>
            <a:off x="3218688" y="3749040"/>
            <a:ext cx="2651760" cy="777240"/>
          </a:xfrm>
          <a:prstGeom prst="roundRect">
            <a:avLst>
              <a:gd name="adj" fmla="val 9412"/>
            </a:avLst>
          </a:prstGeom>
          <a:solidFill>
            <a:srgbClr val="F4F7FA"/>
          </a:solidFill>
          <a:ln w="12700">
            <a:solidFill>
              <a:srgbClr val="F4F7FA"/>
            </a:solidFill>
            <a:prstDash val="solid"/>
          </a:ln>
        </p:spPr>
        <p:txBody>
          <a:bodyPr/>
          <a:lstStyle/>
          <a:p>
            <a:endParaRPr lang="fr-FR"/>
          </a:p>
        </p:txBody>
      </p:sp>
      <p:sp>
        <p:nvSpPr>
          <p:cNvPr id="45" name="Shape 40"/>
          <p:cNvSpPr/>
          <p:nvPr/>
        </p:nvSpPr>
        <p:spPr>
          <a:xfrm>
            <a:off x="3355848" y="3931920"/>
            <a:ext cx="402336" cy="402336"/>
          </a:xfrm>
          <a:prstGeom prst="roundRect">
            <a:avLst>
              <a:gd name="adj" fmla="val 22727"/>
            </a:avLst>
          </a:prstGeom>
          <a:solidFill>
            <a:srgbClr val="E6F7F4"/>
          </a:solidFill>
          <a:ln w="12700">
            <a:solidFill>
              <a:srgbClr val="E6F7F4"/>
            </a:solidFill>
            <a:prstDash val="solid"/>
          </a:ln>
        </p:spPr>
        <p:txBody>
          <a:bodyPr/>
          <a:lstStyle/>
          <a:p>
            <a:endParaRPr lang="fr-FR"/>
          </a:p>
        </p:txBody>
      </p:sp>
      <p:pic>
        <p:nvPicPr>
          <p:cNvPr id="46" name="Image 3" descr="preencoded.png"/>
          <p:cNvPicPr>
            <a:picLocks noChangeAspect="1"/>
          </p:cNvPicPr>
          <p:nvPr/>
        </p:nvPicPr>
        <p:blipFill>
          <a:blip r:embed="rId6"/>
          <a:stretch>
            <a:fillRect/>
          </a:stretch>
        </p:blipFill>
        <p:spPr>
          <a:xfrm>
            <a:off x="3460455" y="4036527"/>
            <a:ext cx="193121" cy="193121"/>
          </a:xfrm>
          <a:prstGeom prst="rect">
            <a:avLst/>
          </a:prstGeom>
        </p:spPr>
      </p:pic>
      <p:sp>
        <p:nvSpPr>
          <p:cNvPr id="47" name="Text 41"/>
          <p:cNvSpPr txBox="1"/>
          <p:nvPr/>
        </p:nvSpPr>
        <p:spPr>
          <a:xfrm>
            <a:off x="3877056" y="3822192"/>
            <a:ext cx="1920240" cy="256032"/>
          </a:xfrm>
          <a:prstGeom prst="rect">
            <a:avLst/>
          </a:prstGeom>
          <a:noFill/>
          <a:ln/>
        </p:spPr>
        <p:txBody>
          <a:bodyPr wrap="square" lIns="0" tIns="0" rIns="0" bIns="0" rtlCol="0" anchor="t"/>
          <a:lstStyle/>
          <a:p>
            <a:pPr marL="0" indent="0">
              <a:buNone/>
            </a:pPr>
            <a:r>
              <a:rPr lang="en-US" sz="1100" dirty="0">
                <a:solidFill>
                  <a:srgbClr val="0F172A"/>
                </a:solidFill>
                <a:latin typeface="Segoe UI Semibold" pitchFamily="34" charset="0"/>
                <a:ea typeface="Segoe UI Semibold" pitchFamily="34" charset="-122"/>
                <a:cs typeface="Segoe UI Semibold" pitchFamily="34" charset="-120"/>
              </a:rPr>
              <a:t>GitHub</a:t>
            </a:r>
            <a:endParaRPr lang="en-US" sz="1100" dirty="0"/>
          </a:p>
        </p:txBody>
      </p:sp>
      <p:sp>
        <p:nvSpPr>
          <p:cNvPr id="48" name="Text 42"/>
          <p:cNvSpPr txBox="1"/>
          <p:nvPr/>
        </p:nvSpPr>
        <p:spPr>
          <a:xfrm>
            <a:off x="3877056" y="4078224"/>
            <a:ext cx="1920240" cy="411480"/>
          </a:xfrm>
          <a:prstGeom prst="rect">
            <a:avLst/>
          </a:prstGeom>
          <a:noFill/>
          <a:ln/>
        </p:spPr>
        <p:txBody>
          <a:bodyPr wrap="square" lIns="0" tIns="0" rIns="0" bIns="0" rtlCol="0" anchor="t"/>
          <a:lstStyle/>
          <a:p>
            <a:pPr marL="0" indent="0">
              <a:buNone/>
            </a:pPr>
            <a:r>
              <a:rPr lang="en-US" sz="900" dirty="0">
                <a:solidFill>
                  <a:srgbClr val="475569"/>
                </a:solidFill>
                <a:latin typeface="Segoe UI" pitchFamily="34" charset="0"/>
                <a:ea typeface="Segoe UI" pitchFamily="34" charset="-122"/>
                <a:cs typeface="Segoe UI" pitchFamily="34" charset="-120"/>
              </a:rPr>
              <a:t>Branche par analyse, push à chaque étape, board</a:t>
            </a:r>
            <a:endParaRPr lang="en-US" sz="900" dirty="0"/>
          </a:p>
        </p:txBody>
      </p:sp>
      <p:sp>
        <p:nvSpPr>
          <p:cNvPr id="49" name="Shape 43"/>
          <p:cNvSpPr/>
          <p:nvPr/>
        </p:nvSpPr>
        <p:spPr>
          <a:xfrm>
            <a:off x="5980176" y="3749040"/>
            <a:ext cx="2651760" cy="777240"/>
          </a:xfrm>
          <a:prstGeom prst="roundRect">
            <a:avLst>
              <a:gd name="adj" fmla="val 9412"/>
            </a:avLst>
          </a:prstGeom>
          <a:solidFill>
            <a:srgbClr val="F4F7FA"/>
          </a:solidFill>
          <a:ln w="12700">
            <a:solidFill>
              <a:srgbClr val="F4F7FA"/>
            </a:solidFill>
            <a:prstDash val="solid"/>
          </a:ln>
        </p:spPr>
        <p:txBody>
          <a:bodyPr/>
          <a:lstStyle/>
          <a:p>
            <a:endParaRPr lang="fr-FR"/>
          </a:p>
        </p:txBody>
      </p:sp>
      <p:sp>
        <p:nvSpPr>
          <p:cNvPr id="50" name="Shape 44"/>
          <p:cNvSpPr/>
          <p:nvPr/>
        </p:nvSpPr>
        <p:spPr>
          <a:xfrm>
            <a:off x="6117336" y="3931920"/>
            <a:ext cx="402336" cy="402336"/>
          </a:xfrm>
          <a:prstGeom prst="roundRect">
            <a:avLst>
              <a:gd name="adj" fmla="val 22727"/>
            </a:avLst>
          </a:prstGeom>
          <a:solidFill>
            <a:srgbClr val="E6F7F4"/>
          </a:solidFill>
          <a:ln w="12700">
            <a:solidFill>
              <a:srgbClr val="E6F7F4"/>
            </a:solidFill>
            <a:prstDash val="solid"/>
          </a:ln>
        </p:spPr>
        <p:txBody>
          <a:bodyPr/>
          <a:lstStyle/>
          <a:p>
            <a:endParaRPr lang="fr-FR"/>
          </a:p>
        </p:txBody>
      </p:sp>
      <p:pic>
        <p:nvPicPr>
          <p:cNvPr id="51" name="Image 4" descr="preencoded.png"/>
          <p:cNvPicPr>
            <a:picLocks noChangeAspect="1"/>
          </p:cNvPicPr>
          <p:nvPr/>
        </p:nvPicPr>
        <p:blipFill>
          <a:blip r:embed="rId7"/>
          <a:stretch>
            <a:fillRect/>
          </a:stretch>
        </p:blipFill>
        <p:spPr>
          <a:xfrm>
            <a:off x="6221943" y="4036527"/>
            <a:ext cx="193121" cy="193121"/>
          </a:xfrm>
          <a:prstGeom prst="rect">
            <a:avLst/>
          </a:prstGeom>
        </p:spPr>
      </p:pic>
      <p:sp>
        <p:nvSpPr>
          <p:cNvPr id="52" name="Text 45"/>
          <p:cNvSpPr txBox="1"/>
          <p:nvPr/>
        </p:nvSpPr>
        <p:spPr>
          <a:xfrm>
            <a:off x="6638544" y="3822192"/>
            <a:ext cx="1920240" cy="256032"/>
          </a:xfrm>
          <a:prstGeom prst="rect">
            <a:avLst/>
          </a:prstGeom>
          <a:noFill/>
          <a:ln/>
        </p:spPr>
        <p:txBody>
          <a:bodyPr wrap="square" lIns="0" tIns="0" rIns="0" bIns="0" rtlCol="0" anchor="t"/>
          <a:lstStyle/>
          <a:p>
            <a:pPr marL="0" indent="0">
              <a:buNone/>
            </a:pPr>
            <a:r>
              <a:rPr lang="en-US" sz="1100" dirty="0">
                <a:solidFill>
                  <a:srgbClr val="0F172A"/>
                </a:solidFill>
                <a:latin typeface="Segoe UI Semibold" pitchFamily="34" charset="0"/>
                <a:ea typeface="Segoe UI Semibold" pitchFamily="34" charset="-122"/>
                <a:cs typeface="Segoe UI Semibold" pitchFamily="34" charset="-120"/>
              </a:rPr>
              <a:t>Livrables</a:t>
            </a:r>
            <a:endParaRPr lang="en-US" sz="1100" dirty="0"/>
          </a:p>
        </p:txBody>
      </p:sp>
      <p:sp>
        <p:nvSpPr>
          <p:cNvPr id="53" name="Text 46"/>
          <p:cNvSpPr txBox="1"/>
          <p:nvPr/>
        </p:nvSpPr>
        <p:spPr>
          <a:xfrm>
            <a:off x="6638544" y="4078224"/>
            <a:ext cx="1920240" cy="411480"/>
          </a:xfrm>
          <a:prstGeom prst="rect">
            <a:avLst/>
          </a:prstGeom>
          <a:noFill/>
          <a:ln/>
        </p:spPr>
        <p:txBody>
          <a:bodyPr wrap="square" lIns="0" tIns="0" rIns="0" bIns="0" rtlCol="0" anchor="t"/>
          <a:lstStyle/>
          <a:p>
            <a:pPr marL="0" indent="0">
              <a:buNone/>
            </a:pPr>
            <a:r>
              <a:rPr lang="en-US" sz="900" dirty="0">
                <a:solidFill>
                  <a:srgbClr val="475569"/>
                </a:solidFill>
                <a:latin typeface="Segoe UI" pitchFamily="34" charset="0"/>
                <a:ea typeface="Segoe UI" pitchFamily="34" charset="-122"/>
                <a:cs typeface="Segoe UI" pitchFamily="34" charset="-120"/>
              </a:rPr>
              <a:t>00 → 06, registre .md/.json, SYNTHESE.md</a:t>
            </a:r>
            <a:endParaRPr lang="en-US" sz="900" dirty="0"/>
          </a:p>
        </p:txBody>
      </p:sp>
      <p:sp>
        <p:nvSpPr>
          <p:cNvPr id="54" name="Text 47"/>
          <p:cNvSpPr txBox="1"/>
          <p:nvPr/>
        </p:nvSpPr>
        <p:spPr>
          <a:xfrm>
            <a:off x="8321040" y="4800600"/>
            <a:ext cx="365760" cy="182880"/>
          </a:xfrm>
          <a:prstGeom prst="rect">
            <a:avLst/>
          </a:prstGeom>
          <a:noFill/>
          <a:ln/>
        </p:spPr>
        <p:txBody>
          <a:bodyPr wrap="square" lIns="0" tIns="0" rIns="0" bIns="0" rtlCol="0" anchor="t"/>
          <a:lstStyle/>
          <a:p>
            <a:pPr marL="0" indent="0" algn="r">
              <a:buNone/>
            </a:pPr>
            <a:r>
              <a:rPr lang="en-US" sz="800" dirty="0">
                <a:solidFill>
                  <a:srgbClr val="94A3B8"/>
                </a:solidFill>
                <a:latin typeface="Consolas" pitchFamily="34" charset="0"/>
                <a:ea typeface="Consolas" pitchFamily="34" charset="-122"/>
                <a:cs typeface="Consolas" pitchFamily="34" charset="-120"/>
              </a:rPr>
              <a:t>7</a:t>
            </a:r>
            <a:endParaRPr lang="en-US" sz="800" dirty="0"/>
          </a:p>
        </p:txBody>
      </p:sp>
      <p:sp>
        <p:nvSpPr>
          <p:cNvPr id="55" name="Text 48"/>
          <p:cNvSpPr txBox="1"/>
          <p:nvPr/>
        </p:nvSpPr>
        <p:spPr>
          <a:xfrm>
            <a:off x="457200" y="4800600"/>
            <a:ext cx="3657600" cy="182880"/>
          </a:xfrm>
          <a:prstGeom prst="rect">
            <a:avLst/>
          </a:prstGeom>
          <a:noFill/>
          <a:ln/>
        </p:spPr>
        <p:txBody>
          <a:bodyPr wrap="square" lIns="0" tIns="0" rIns="0" bIns="0" rtlCol="0" anchor="t"/>
          <a:lstStyle/>
          <a:p>
            <a:pPr marL="0" indent="0">
              <a:buNone/>
            </a:pPr>
            <a:r>
              <a:rPr lang="en-US" sz="800" dirty="0">
                <a:solidFill>
                  <a:srgbClr val="94A3B8"/>
                </a:solidFill>
                <a:latin typeface="Consolas" pitchFamily="34" charset="0"/>
                <a:ea typeface="Consolas" pitchFamily="34" charset="-122"/>
                <a:cs typeface="Consolas" pitchFamily="34" charset="-120"/>
              </a:rPr>
              <a:t>E21 · Agents IA &amp; analyse de risques</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92608"/>
            <a:ext cx="8229600" cy="228600"/>
          </a:xfrm>
          <a:prstGeom prst="rect">
            <a:avLst/>
          </a:prstGeom>
          <a:noFill/>
          <a:ln/>
        </p:spPr>
        <p:txBody>
          <a:bodyPr wrap="square" lIns="0" tIns="0" rIns="0" bIns="0" rtlCol="0" anchor="t"/>
          <a:lstStyle/>
          <a:p>
            <a:pPr marL="0" indent="0">
              <a:buNone/>
            </a:pPr>
            <a:r>
              <a:rPr lang="en-US" sz="1000" kern="0" spc="200" dirty="0">
                <a:solidFill>
                  <a:srgbClr val="0D9488"/>
                </a:solidFill>
                <a:latin typeface="Consolas" pitchFamily="34" charset="0"/>
                <a:ea typeface="Consolas" pitchFamily="34" charset="-122"/>
                <a:cs typeface="Consolas" pitchFamily="34" charset="-120"/>
              </a:rPr>
              <a:t>V1 · AGENTS</a:t>
            </a:r>
            <a:endParaRPr lang="en-US" sz="1000" dirty="0"/>
          </a:p>
        </p:txBody>
      </p:sp>
      <p:sp>
        <p:nvSpPr>
          <p:cNvPr id="3" name="Text 1"/>
          <p:cNvSpPr txBox="1"/>
          <p:nvPr/>
        </p:nvSpPr>
        <p:spPr>
          <a:xfrm>
            <a:off x="457200" y="502920"/>
            <a:ext cx="8229600" cy="548640"/>
          </a:xfrm>
          <a:prstGeom prst="rect">
            <a:avLst/>
          </a:prstGeom>
          <a:noFill/>
          <a:ln/>
        </p:spPr>
        <p:txBody>
          <a:bodyPr wrap="square" lIns="0" tIns="0" rIns="0" bIns="0" rtlCol="0" anchor="ctr"/>
          <a:lstStyle/>
          <a:p>
            <a:pPr marL="0" indent="0">
              <a:buNone/>
            </a:pPr>
            <a:r>
              <a:rPr lang="en-US" sz="2400" dirty="0">
                <a:solidFill>
                  <a:srgbClr val="0F172A"/>
                </a:solidFill>
                <a:latin typeface="Segoe UI Semibold" pitchFamily="34" charset="0"/>
                <a:ea typeface="Segoe UI Semibold" pitchFamily="34" charset="-122"/>
                <a:cs typeface="Segoe UI Semibold" pitchFamily="34" charset="-120"/>
              </a:rPr>
              <a:t>12 agents, un rôle et une sortie chacun</a:t>
            </a:r>
            <a:endParaRPr lang="en-US" sz="2400" dirty="0"/>
          </a:p>
        </p:txBody>
      </p:sp>
      <p:sp>
        <p:nvSpPr>
          <p:cNvPr id="4" name="Shape 2"/>
          <p:cNvSpPr/>
          <p:nvPr/>
        </p:nvSpPr>
        <p:spPr>
          <a:xfrm>
            <a:off x="922409" y="1234440"/>
            <a:ext cx="3641581" cy="3337560"/>
          </a:xfrm>
          <a:prstGeom prst="roundRect">
            <a:avLst>
              <a:gd name="adj" fmla="val 1644"/>
            </a:avLst>
          </a:prstGeom>
          <a:solidFill>
            <a:srgbClr val="E9EEF4"/>
          </a:solidFill>
          <a:ln w="9525">
            <a:solidFill>
              <a:srgbClr val="D5DDE7"/>
            </a:solidFill>
            <a:prstDash val="solid"/>
          </a:ln>
          <a:effectLst>
            <a:outerShdw blurRad="101600" dist="38100" dir="5400000" algn="bl" rotWithShape="0">
              <a:srgbClr val="0B1220">
                <a:alpha val="18000"/>
              </a:srgbClr>
            </a:outerShdw>
          </a:effectLst>
        </p:spPr>
        <p:txBody>
          <a:bodyPr/>
          <a:lstStyle/>
          <a:p>
            <a:endParaRPr lang="fr-FR"/>
          </a:p>
        </p:txBody>
      </p:sp>
      <p:sp>
        <p:nvSpPr>
          <p:cNvPr id="5" name="Shape 3"/>
          <p:cNvSpPr/>
          <p:nvPr/>
        </p:nvSpPr>
        <p:spPr>
          <a:xfrm>
            <a:off x="1013849" y="1312164"/>
            <a:ext cx="68580" cy="68580"/>
          </a:xfrm>
          <a:prstGeom prst="ellipse">
            <a:avLst/>
          </a:prstGeom>
          <a:solidFill>
            <a:srgbClr val="F87171"/>
          </a:solidFill>
          <a:ln w="12700">
            <a:solidFill>
              <a:srgbClr val="F87171"/>
            </a:solidFill>
            <a:prstDash val="solid"/>
          </a:ln>
        </p:spPr>
        <p:txBody>
          <a:bodyPr/>
          <a:lstStyle/>
          <a:p>
            <a:endParaRPr lang="fr-FR"/>
          </a:p>
        </p:txBody>
      </p:sp>
      <p:sp>
        <p:nvSpPr>
          <p:cNvPr id="6" name="Shape 4"/>
          <p:cNvSpPr/>
          <p:nvPr/>
        </p:nvSpPr>
        <p:spPr>
          <a:xfrm>
            <a:off x="1123577" y="1312164"/>
            <a:ext cx="68580" cy="68580"/>
          </a:xfrm>
          <a:prstGeom prst="ellipse">
            <a:avLst/>
          </a:prstGeom>
          <a:solidFill>
            <a:srgbClr val="FBBF24"/>
          </a:solidFill>
          <a:ln w="12700">
            <a:solidFill>
              <a:srgbClr val="FBBF24"/>
            </a:solidFill>
            <a:prstDash val="solid"/>
          </a:ln>
        </p:spPr>
        <p:txBody>
          <a:bodyPr/>
          <a:lstStyle/>
          <a:p>
            <a:endParaRPr lang="fr-FR"/>
          </a:p>
        </p:txBody>
      </p:sp>
      <p:sp>
        <p:nvSpPr>
          <p:cNvPr id="7" name="Shape 5"/>
          <p:cNvSpPr/>
          <p:nvPr/>
        </p:nvSpPr>
        <p:spPr>
          <a:xfrm>
            <a:off x="1233305" y="1312164"/>
            <a:ext cx="68580" cy="68580"/>
          </a:xfrm>
          <a:prstGeom prst="ellipse">
            <a:avLst/>
          </a:prstGeom>
          <a:solidFill>
            <a:srgbClr val="34D399"/>
          </a:solidFill>
          <a:ln w="12700">
            <a:solidFill>
              <a:srgbClr val="34D399"/>
            </a:solidFill>
            <a:prstDash val="solid"/>
          </a:ln>
        </p:spPr>
        <p:txBody>
          <a:bodyPr/>
          <a:lstStyle/>
          <a:p>
            <a:endParaRPr lang="fr-FR"/>
          </a:p>
        </p:txBody>
      </p:sp>
      <p:sp>
        <p:nvSpPr>
          <p:cNvPr id="8" name="Text 6"/>
          <p:cNvSpPr txBox="1"/>
          <p:nvPr/>
        </p:nvSpPr>
        <p:spPr>
          <a:xfrm>
            <a:off x="1379609" y="1266444"/>
            <a:ext cx="3092941" cy="155448"/>
          </a:xfrm>
          <a:prstGeom prst="rect">
            <a:avLst/>
          </a:prstGeom>
          <a:noFill/>
          <a:ln/>
        </p:spPr>
        <p:txBody>
          <a:bodyPr wrap="square" lIns="0" tIns="0" rIns="0" bIns="0" rtlCol="0" anchor="ctr"/>
          <a:lstStyle/>
          <a:p>
            <a:pPr marL="0" indent="0">
              <a:buNone/>
            </a:pPr>
            <a:r>
              <a:rPr lang="en-US" sz="700" dirty="0">
                <a:solidFill>
                  <a:srgbClr val="475569"/>
                </a:solidFill>
                <a:latin typeface="Consolas" pitchFamily="34" charset="0"/>
                <a:ea typeface="Consolas" pitchFamily="34" charset="-122"/>
                <a:cs typeface="Consolas" pitchFamily="34" charset="-120"/>
              </a:rPr>
              <a:t>github.com/…/.opencode/agents</a:t>
            </a:r>
            <a:endParaRPr lang="en-US" sz="700" dirty="0"/>
          </a:p>
        </p:txBody>
      </p:sp>
      <p:pic>
        <p:nvPicPr>
          <p:cNvPr id="9" name="Image 0" descr="shots/c_agents.png"/>
          <p:cNvPicPr>
            <a:picLocks noChangeAspect="1"/>
          </p:cNvPicPr>
          <p:nvPr/>
        </p:nvPicPr>
        <p:blipFill>
          <a:blip r:embed="rId3"/>
          <a:stretch>
            <a:fillRect/>
          </a:stretch>
        </p:blipFill>
        <p:spPr>
          <a:xfrm>
            <a:off x="949841" y="1453896"/>
            <a:ext cx="3586717" cy="3090672"/>
          </a:xfrm>
          <a:prstGeom prst="rect">
            <a:avLst/>
          </a:prstGeom>
        </p:spPr>
      </p:pic>
      <p:sp>
        <p:nvSpPr>
          <p:cNvPr id="10" name="Shape 7"/>
          <p:cNvSpPr/>
          <p:nvPr/>
        </p:nvSpPr>
        <p:spPr>
          <a:xfrm>
            <a:off x="5257800" y="1234440"/>
            <a:ext cx="3429000" cy="749808"/>
          </a:xfrm>
          <a:prstGeom prst="roundRect">
            <a:avLst>
              <a:gd name="adj" fmla="val 9756"/>
            </a:avLst>
          </a:prstGeom>
          <a:solidFill>
            <a:srgbClr val="F4F7FA"/>
          </a:solidFill>
          <a:ln w="12700">
            <a:solidFill>
              <a:srgbClr val="F4F7FA"/>
            </a:solidFill>
            <a:prstDash val="solid"/>
          </a:ln>
        </p:spPr>
        <p:txBody>
          <a:bodyPr/>
          <a:lstStyle/>
          <a:p>
            <a:endParaRPr lang="fr-FR"/>
          </a:p>
        </p:txBody>
      </p:sp>
      <p:sp>
        <p:nvSpPr>
          <p:cNvPr id="11" name="Text 8"/>
          <p:cNvSpPr txBox="1"/>
          <p:nvPr/>
        </p:nvSpPr>
        <p:spPr>
          <a:xfrm>
            <a:off x="5413248" y="1307592"/>
            <a:ext cx="3200400" cy="228600"/>
          </a:xfrm>
          <a:prstGeom prst="rect">
            <a:avLst/>
          </a:prstGeom>
          <a:noFill/>
          <a:ln/>
        </p:spPr>
        <p:txBody>
          <a:bodyPr wrap="square" lIns="0" tIns="0" rIns="0" bIns="0" rtlCol="0" anchor="t"/>
          <a:lstStyle/>
          <a:p>
            <a:pPr marL="0" indent="0">
              <a:buNone/>
            </a:pPr>
            <a:r>
              <a:rPr lang="en-US" sz="1150" dirty="0">
                <a:solidFill>
                  <a:srgbClr val="0F172A"/>
                </a:solidFill>
                <a:latin typeface="Segoe UI Semibold" pitchFamily="34" charset="0"/>
                <a:ea typeface="Segoe UI Semibold" pitchFamily="34" charset="-122"/>
                <a:cs typeface="Segoe UI Semibold" pitchFamily="34" charset="-120"/>
              </a:rPr>
              <a:t>Orchestration</a:t>
            </a:r>
            <a:endParaRPr lang="en-US" sz="1150" dirty="0"/>
          </a:p>
        </p:txBody>
      </p:sp>
      <p:sp>
        <p:nvSpPr>
          <p:cNvPr id="12" name="Text 9"/>
          <p:cNvSpPr txBox="1"/>
          <p:nvPr/>
        </p:nvSpPr>
        <p:spPr>
          <a:xfrm>
            <a:off x="5413248" y="1536192"/>
            <a:ext cx="3200400" cy="201168"/>
          </a:xfrm>
          <a:prstGeom prst="rect">
            <a:avLst/>
          </a:prstGeom>
          <a:noFill/>
          <a:ln/>
        </p:spPr>
        <p:txBody>
          <a:bodyPr wrap="square" lIns="0" tIns="0" rIns="0" bIns="0" rtlCol="0" anchor="t"/>
          <a:lstStyle/>
          <a:p>
            <a:pPr marL="0" indent="0">
              <a:buNone/>
            </a:pPr>
            <a:r>
              <a:rPr lang="en-US" sz="850" dirty="0">
                <a:solidFill>
                  <a:srgbClr val="0D9488"/>
                </a:solidFill>
                <a:latin typeface="Consolas" pitchFamily="34" charset="0"/>
                <a:ea typeface="Consolas" pitchFamily="34" charset="-122"/>
                <a:cs typeface="Consolas" pitchFamily="34" charset="-120"/>
              </a:rPr>
              <a:t>orchestrator</a:t>
            </a:r>
            <a:endParaRPr lang="en-US" sz="850" dirty="0"/>
          </a:p>
        </p:txBody>
      </p:sp>
      <p:sp>
        <p:nvSpPr>
          <p:cNvPr id="13" name="Text 10"/>
          <p:cNvSpPr txBox="1"/>
          <p:nvPr/>
        </p:nvSpPr>
        <p:spPr>
          <a:xfrm>
            <a:off x="5413248" y="1728216"/>
            <a:ext cx="3200400" cy="201168"/>
          </a:xfrm>
          <a:prstGeom prst="rect">
            <a:avLst/>
          </a:prstGeom>
          <a:noFill/>
          <a:ln/>
        </p:spPr>
        <p:txBody>
          <a:bodyPr wrap="square" lIns="0" tIns="0" rIns="0" bIns="0" rtlCol="0" anchor="t"/>
          <a:lstStyle/>
          <a:p>
            <a:pPr marL="0" indent="0">
              <a:buNone/>
            </a:pPr>
            <a:r>
              <a:rPr lang="en-US" sz="900" dirty="0">
                <a:solidFill>
                  <a:srgbClr val="475569"/>
                </a:solidFill>
                <a:latin typeface="Segoe UI" pitchFamily="34" charset="0"/>
                <a:ea typeface="Segoe UI" pitchFamily="34" charset="-122"/>
                <a:cs typeface="Segoe UI" pitchFamily="34" charset="-120"/>
              </a:rPr>
              <a:t>collecte en une passe, lance et reprend</a:t>
            </a:r>
            <a:endParaRPr lang="en-US" sz="900" dirty="0"/>
          </a:p>
        </p:txBody>
      </p:sp>
      <p:sp>
        <p:nvSpPr>
          <p:cNvPr id="14" name="Shape 11"/>
          <p:cNvSpPr/>
          <p:nvPr/>
        </p:nvSpPr>
        <p:spPr>
          <a:xfrm>
            <a:off x="5257800" y="2103120"/>
            <a:ext cx="3429000" cy="749808"/>
          </a:xfrm>
          <a:prstGeom prst="roundRect">
            <a:avLst>
              <a:gd name="adj" fmla="val 9756"/>
            </a:avLst>
          </a:prstGeom>
          <a:solidFill>
            <a:srgbClr val="F4F7FA"/>
          </a:solidFill>
          <a:ln w="12700">
            <a:solidFill>
              <a:srgbClr val="F4F7FA"/>
            </a:solidFill>
            <a:prstDash val="solid"/>
          </a:ln>
        </p:spPr>
        <p:txBody>
          <a:bodyPr/>
          <a:lstStyle/>
          <a:p>
            <a:endParaRPr lang="fr-FR"/>
          </a:p>
        </p:txBody>
      </p:sp>
      <p:sp>
        <p:nvSpPr>
          <p:cNvPr id="15" name="Text 12"/>
          <p:cNvSpPr txBox="1"/>
          <p:nvPr/>
        </p:nvSpPr>
        <p:spPr>
          <a:xfrm>
            <a:off x="5413248" y="2176272"/>
            <a:ext cx="3200400" cy="228600"/>
          </a:xfrm>
          <a:prstGeom prst="rect">
            <a:avLst/>
          </a:prstGeom>
          <a:noFill/>
          <a:ln/>
        </p:spPr>
        <p:txBody>
          <a:bodyPr wrap="square" lIns="0" tIns="0" rIns="0" bIns="0" rtlCol="0" anchor="t"/>
          <a:lstStyle/>
          <a:p>
            <a:pPr marL="0" indent="0">
              <a:buNone/>
            </a:pPr>
            <a:r>
              <a:rPr lang="en-US" sz="1150" dirty="0">
                <a:solidFill>
                  <a:srgbClr val="0F172A"/>
                </a:solidFill>
                <a:latin typeface="Segoe UI Semibold" pitchFamily="34" charset="0"/>
                <a:ea typeface="Segoe UI Semibold" pitchFamily="34" charset="-122"/>
                <a:cs typeface="Segoe UI Semibold" pitchFamily="34" charset="-120"/>
              </a:rPr>
              <a:t>Chaîne E21 (7)</a:t>
            </a:r>
            <a:endParaRPr lang="en-US" sz="1150" dirty="0"/>
          </a:p>
        </p:txBody>
      </p:sp>
      <p:sp>
        <p:nvSpPr>
          <p:cNvPr id="16" name="Text 13"/>
          <p:cNvSpPr txBox="1"/>
          <p:nvPr/>
        </p:nvSpPr>
        <p:spPr>
          <a:xfrm>
            <a:off x="5413248" y="2404872"/>
            <a:ext cx="3200400" cy="201168"/>
          </a:xfrm>
          <a:prstGeom prst="rect">
            <a:avLst/>
          </a:prstGeom>
          <a:noFill/>
          <a:ln/>
        </p:spPr>
        <p:txBody>
          <a:bodyPr wrap="square" lIns="0" tIns="0" rIns="0" bIns="0" rtlCol="0" anchor="t"/>
          <a:lstStyle/>
          <a:p>
            <a:pPr marL="0" indent="0">
              <a:buNone/>
            </a:pPr>
            <a:r>
              <a:rPr lang="en-US" sz="850" dirty="0">
                <a:solidFill>
                  <a:srgbClr val="0D9488"/>
                </a:solidFill>
                <a:latin typeface="Consolas" pitchFamily="34" charset="0"/>
                <a:ea typeface="Consolas" pitchFamily="34" charset="-122"/>
                <a:cs typeface="Consolas" pitchFamily="34" charset="-120"/>
              </a:rPr>
              <a:t>analyse-existant → synthese</a:t>
            </a:r>
            <a:endParaRPr lang="en-US" sz="850" dirty="0"/>
          </a:p>
        </p:txBody>
      </p:sp>
      <p:sp>
        <p:nvSpPr>
          <p:cNvPr id="17" name="Text 14"/>
          <p:cNvSpPr txBox="1"/>
          <p:nvPr/>
        </p:nvSpPr>
        <p:spPr>
          <a:xfrm>
            <a:off x="5413248" y="2596896"/>
            <a:ext cx="3200400" cy="201168"/>
          </a:xfrm>
          <a:prstGeom prst="rect">
            <a:avLst/>
          </a:prstGeom>
          <a:noFill/>
          <a:ln/>
        </p:spPr>
        <p:txBody>
          <a:bodyPr wrap="square" lIns="0" tIns="0" rIns="0" bIns="0" rtlCol="0" anchor="t"/>
          <a:lstStyle/>
          <a:p>
            <a:pPr marL="0" indent="0">
              <a:buNone/>
            </a:pPr>
            <a:r>
              <a:rPr lang="en-US" sz="900" dirty="0">
                <a:solidFill>
                  <a:srgbClr val="475569"/>
                </a:solidFill>
                <a:latin typeface="Segoe UI" pitchFamily="34" charset="0"/>
                <a:ea typeface="Segoe UI" pitchFamily="34" charset="-122"/>
                <a:cs typeface="Segoe UI" pitchFamily="34" charset="-120"/>
              </a:rPr>
              <a:t>un fichier 00 → 06 + SYNTHESE.md</a:t>
            </a:r>
            <a:endParaRPr lang="en-US" sz="900" dirty="0"/>
          </a:p>
        </p:txBody>
      </p:sp>
      <p:sp>
        <p:nvSpPr>
          <p:cNvPr id="18" name="Shape 15"/>
          <p:cNvSpPr/>
          <p:nvPr/>
        </p:nvSpPr>
        <p:spPr>
          <a:xfrm>
            <a:off x="5257800" y="2971800"/>
            <a:ext cx="3429000" cy="749808"/>
          </a:xfrm>
          <a:prstGeom prst="roundRect">
            <a:avLst>
              <a:gd name="adj" fmla="val 9756"/>
            </a:avLst>
          </a:prstGeom>
          <a:solidFill>
            <a:srgbClr val="0B1220"/>
          </a:solidFill>
          <a:ln w="12700">
            <a:solidFill>
              <a:srgbClr val="0B1220"/>
            </a:solidFill>
            <a:prstDash val="solid"/>
          </a:ln>
        </p:spPr>
        <p:txBody>
          <a:bodyPr/>
          <a:lstStyle/>
          <a:p>
            <a:endParaRPr lang="fr-FR"/>
          </a:p>
        </p:txBody>
      </p:sp>
      <p:sp>
        <p:nvSpPr>
          <p:cNvPr id="19" name="Text 16"/>
          <p:cNvSpPr txBox="1"/>
          <p:nvPr/>
        </p:nvSpPr>
        <p:spPr>
          <a:xfrm>
            <a:off x="5413248" y="3044952"/>
            <a:ext cx="3200400" cy="228600"/>
          </a:xfrm>
          <a:prstGeom prst="rect">
            <a:avLst/>
          </a:prstGeom>
          <a:noFill/>
          <a:ln/>
        </p:spPr>
        <p:txBody>
          <a:bodyPr wrap="square" lIns="0" tIns="0" rIns="0" bIns="0" rtlCol="0" anchor="t"/>
          <a:lstStyle/>
          <a:p>
            <a:pPr marL="0" indent="0">
              <a:buNone/>
            </a:pPr>
            <a:r>
              <a:rPr lang="en-US" sz="1150" dirty="0">
                <a:solidFill>
                  <a:srgbClr val="2DD4BF"/>
                </a:solidFill>
                <a:latin typeface="Segoe UI Semibold" pitchFamily="34" charset="0"/>
                <a:ea typeface="Segoe UI Semibold" pitchFamily="34" charset="-122"/>
                <a:cs typeface="Segoe UI Semibold" pitchFamily="34" charset="-120"/>
              </a:rPr>
              <a:t>Contrôle</a:t>
            </a:r>
            <a:endParaRPr lang="en-US" sz="1150" dirty="0"/>
          </a:p>
        </p:txBody>
      </p:sp>
      <p:sp>
        <p:nvSpPr>
          <p:cNvPr id="20" name="Text 17"/>
          <p:cNvSpPr txBox="1"/>
          <p:nvPr/>
        </p:nvSpPr>
        <p:spPr>
          <a:xfrm>
            <a:off x="5413248" y="3273552"/>
            <a:ext cx="3200400" cy="201168"/>
          </a:xfrm>
          <a:prstGeom prst="rect">
            <a:avLst/>
          </a:prstGeom>
          <a:noFill/>
          <a:ln/>
        </p:spPr>
        <p:txBody>
          <a:bodyPr wrap="square" lIns="0" tIns="0" rIns="0" bIns="0" rtlCol="0" anchor="t"/>
          <a:lstStyle/>
          <a:p>
            <a:pPr marL="0" indent="0">
              <a:buNone/>
            </a:pPr>
            <a:r>
              <a:rPr lang="en-US" sz="850" dirty="0">
                <a:solidFill>
                  <a:srgbClr val="FFFFFF"/>
                </a:solidFill>
                <a:latin typeface="Consolas" pitchFamily="34" charset="0"/>
                <a:ea typeface="Consolas" pitchFamily="34" charset="-122"/>
                <a:cs typeface="Consolas" pitchFamily="34" charset="-120"/>
              </a:rPr>
              <a:t>e21-controle</a:t>
            </a:r>
            <a:endParaRPr lang="en-US" sz="850" dirty="0"/>
          </a:p>
        </p:txBody>
      </p:sp>
      <p:sp>
        <p:nvSpPr>
          <p:cNvPr id="21" name="Text 18"/>
          <p:cNvSpPr txBox="1"/>
          <p:nvPr/>
        </p:nvSpPr>
        <p:spPr>
          <a:xfrm>
            <a:off x="5413248" y="3465576"/>
            <a:ext cx="3200400" cy="201168"/>
          </a:xfrm>
          <a:prstGeom prst="rect">
            <a:avLst/>
          </a:prstGeom>
          <a:noFill/>
          <a:ln/>
        </p:spPr>
        <p:txBody>
          <a:bodyPr wrap="square" lIns="0" tIns="0" rIns="0" bIns="0" rtlCol="0" anchor="t"/>
          <a:lstStyle/>
          <a:p>
            <a:pPr marL="0" indent="0">
              <a:buNone/>
            </a:pPr>
            <a:r>
              <a:rPr lang="en-US" sz="900" dirty="0">
                <a:solidFill>
                  <a:srgbClr val="CBD5E1"/>
                </a:solidFill>
                <a:latin typeface="Segoe UI" pitchFamily="34" charset="0"/>
                <a:ea typeface="Segoe UI" pitchFamily="34" charset="-122"/>
                <a:cs typeface="Segoe UI" pitchFamily="34" charset="-120"/>
              </a:rPr>
              <a:t>RAPPORT-CONTROLE.md : OK / WARN / REJET</a:t>
            </a:r>
            <a:endParaRPr lang="en-US" sz="900" dirty="0"/>
          </a:p>
        </p:txBody>
      </p:sp>
      <p:sp>
        <p:nvSpPr>
          <p:cNvPr id="22" name="Shape 19"/>
          <p:cNvSpPr/>
          <p:nvPr/>
        </p:nvSpPr>
        <p:spPr>
          <a:xfrm>
            <a:off x="5257800" y="3840480"/>
            <a:ext cx="3429000" cy="749808"/>
          </a:xfrm>
          <a:prstGeom prst="roundRect">
            <a:avLst>
              <a:gd name="adj" fmla="val 9756"/>
            </a:avLst>
          </a:prstGeom>
          <a:solidFill>
            <a:srgbClr val="F4F7FA"/>
          </a:solidFill>
          <a:ln w="12700">
            <a:solidFill>
              <a:srgbClr val="F4F7FA"/>
            </a:solidFill>
            <a:prstDash val="solid"/>
          </a:ln>
        </p:spPr>
        <p:txBody>
          <a:bodyPr/>
          <a:lstStyle/>
          <a:p>
            <a:endParaRPr lang="fr-FR"/>
          </a:p>
        </p:txBody>
      </p:sp>
      <p:sp>
        <p:nvSpPr>
          <p:cNvPr id="23" name="Text 20"/>
          <p:cNvSpPr txBox="1"/>
          <p:nvPr/>
        </p:nvSpPr>
        <p:spPr>
          <a:xfrm>
            <a:off x="5413248" y="3913632"/>
            <a:ext cx="3200400" cy="228600"/>
          </a:xfrm>
          <a:prstGeom prst="rect">
            <a:avLst/>
          </a:prstGeom>
          <a:noFill/>
          <a:ln/>
        </p:spPr>
        <p:txBody>
          <a:bodyPr wrap="square" lIns="0" tIns="0" rIns="0" bIns="0" rtlCol="0" anchor="t"/>
          <a:lstStyle/>
          <a:p>
            <a:pPr marL="0" indent="0">
              <a:buNone/>
            </a:pPr>
            <a:r>
              <a:rPr lang="en-US" sz="1150" dirty="0">
                <a:solidFill>
                  <a:srgbClr val="0F172A"/>
                </a:solidFill>
                <a:latin typeface="Segoe UI Semibold" pitchFamily="34" charset="0"/>
                <a:ea typeface="Segoe UI Semibold" pitchFamily="34" charset="-122"/>
                <a:cs typeface="Segoe UI Semibold" pitchFamily="34" charset="-120"/>
              </a:rPr>
              <a:t>Support</a:t>
            </a:r>
            <a:endParaRPr lang="en-US" sz="1150" dirty="0"/>
          </a:p>
        </p:txBody>
      </p:sp>
      <p:sp>
        <p:nvSpPr>
          <p:cNvPr id="24" name="Text 21"/>
          <p:cNvSpPr txBox="1"/>
          <p:nvPr/>
        </p:nvSpPr>
        <p:spPr>
          <a:xfrm>
            <a:off x="5413248" y="4142232"/>
            <a:ext cx="3200400" cy="201168"/>
          </a:xfrm>
          <a:prstGeom prst="rect">
            <a:avLst/>
          </a:prstGeom>
          <a:noFill/>
          <a:ln/>
        </p:spPr>
        <p:txBody>
          <a:bodyPr wrap="square" lIns="0" tIns="0" rIns="0" bIns="0" rtlCol="0" anchor="t"/>
          <a:lstStyle/>
          <a:p>
            <a:pPr marL="0" indent="0">
              <a:buNone/>
            </a:pPr>
            <a:r>
              <a:rPr lang="en-US" sz="850" dirty="0">
                <a:solidFill>
                  <a:srgbClr val="0D9488"/>
                </a:solidFill>
                <a:latin typeface="Consolas" pitchFamily="34" charset="0"/>
                <a:ea typeface="Consolas" pitchFamily="34" charset="-122"/>
                <a:cs typeface="Consolas" pitchFamily="34" charset="-120"/>
              </a:rPr>
              <a:t>github-manager · research · security</a:t>
            </a:r>
            <a:endParaRPr lang="en-US" sz="850" dirty="0"/>
          </a:p>
        </p:txBody>
      </p:sp>
      <p:sp>
        <p:nvSpPr>
          <p:cNvPr id="25" name="Text 22"/>
          <p:cNvSpPr txBox="1"/>
          <p:nvPr/>
        </p:nvSpPr>
        <p:spPr>
          <a:xfrm>
            <a:off x="5413248" y="4334256"/>
            <a:ext cx="3200400" cy="201168"/>
          </a:xfrm>
          <a:prstGeom prst="rect">
            <a:avLst/>
          </a:prstGeom>
          <a:noFill/>
          <a:ln/>
        </p:spPr>
        <p:txBody>
          <a:bodyPr wrap="square" lIns="0" tIns="0" rIns="0" bIns="0" rtlCol="0" anchor="t"/>
          <a:lstStyle/>
          <a:p>
            <a:pPr marL="0" indent="0">
              <a:buNone/>
            </a:pPr>
            <a:r>
              <a:rPr lang="en-US" sz="900" dirty="0">
                <a:solidFill>
                  <a:srgbClr val="475569"/>
                </a:solidFill>
                <a:latin typeface="Segoe UI" pitchFamily="34" charset="0"/>
                <a:ea typeface="Segoe UI" pitchFamily="34" charset="-122"/>
                <a:cs typeface="Segoe UI" pitchFamily="34" charset="-120"/>
              </a:rPr>
              <a:t>board &amp; PR, veille, audit</a:t>
            </a:r>
            <a:endParaRPr lang="en-US" sz="900" dirty="0"/>
          </a:p>
        </p:txBody>
      </p:sp>
      <p:sp>
        <p:nvSpPr>
          <p:cNvPr id="26" name="Text 23"/>
          <p:cNvSpPr txBox="1"/>
          <p:nvPr/>
        </p:nvSpPr>
        <p:spPr>
          <a:xfrm>
            <a:off x="8321040" y="4800600"/>
            <a:ext cx="365760" cy="182880"/>
          </a:xfrm>
          <a:prstGeom prst="rect">
            <a:avLst/>
          </a:prstGeom>
          <a:noFill/>
          <a:ln/>
        </p:spPr>
        <p:txBody>
          <a:bodyPr wrap="square" lIns="0" tIns="0" rIns="0" bIns="0" rtlCol="0" anchor="t"/>
          <a:lstStyle/>
          <a:p>
            <a:pPr marL="0" indent="0" algn="r">
              <a:buNone/>
            </a:pPr>
            <a:r>
              <a:rPr lang="en-US" sz="800" dirty="0">
                <a:solidFill>
                  <a:srgbClr val="94A3B8"/>
                </a:solidFill>
                <a:latin typeface="Consolas" pitchFamily="34" charset="0"/>
                <a:ea typeface="Consolas" pitchFamily="34" charset="-122"/>
                <a:cs typeface="Consolas" pitchFamily="34" charset="-120"/>
              </a:rPr>
              <a:t>8</a:t>
            </a:r>
            <a:endParaRPr lang="en-US" sz="800" dirty="0"/>
          </a:p>
        </p:txBody>
      </p:sp>
      <p:sp>
        <p:nvSpPr>
          <p:cNvPr id="27" name="Text 24"/>
          <p:cNvSpPr txBox="1"/>
          <p:nvPr/>
        </p:nvSpPr>
        <p:spPr>
          <a:xfrm>
            <a:off x="457200" y="4800600"/>
            <a:ext cx="3657600" cy="182880"/>
          </a:xfrm>
          <a:prstGeom prst="rect">
            <a:avLst/>
          </a:prstGeom>
          <a:noFill/>
          <a:ln/>
        </p:spPr>
        <p:txBody>
          <a:bodyPr wrap="square" lIns="0" tIns="0" rIns="0" bIns="0" rtlCol="0" anchor="t"/>
          <a:lstStyle/>
          <a:p>
            <a:pPr marL="0" indent="0">
              <a:buNone/>
            </a:pPr>
            <a:r>
              <a:rPr lang="en-US" sz="800" dirty="0">
                <a:solidFill>
                  <a:srgbClr val="94A3B8"/>
                </a:solidFill>
                <a:latin typeface="Consolas" pitchFamily="34" charset="0"/>
                <a:ea typeface="Consolas" pitchFamily="34" charset="-122"/>
                <a:cs typeface="Consolas" pitchFamily="34" charset="-120"/>
              </a:rPr>
              <a:t>E21 · Agents IA &amp; analyse de risques</a:t>
            </a:r>
            <a:endParaRPr lang="en-US" sz="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92608"/>
            <a:ext cx="8229600" cy="228600"/>
          </a:xfrm>
          <a:prstGeom prst="rect">
            <a:avLst/>
          </a:prstGeom>
          <a:noFill/>
          <a:ln/>
        </p:spPr>
        <p:txBody>
          <a:bodyPr wrap="square" lIns="0" tIns="0" rIns="0" bIns="0" rtlCol="0" anchor="t"/>
          <a:lstStyle/>
          <a:p>
            <a:pPr marL="0" indent="0">
              <a:buNone/>
            </a:pPr>
            <a:r>
              <a:rPr lang="en-US" sz="1000" kern="0" spc="200" dirty="0">
                <a:solidFill>
                  <a:srgbClr val="0D9488"/>
                </a:solidFill>
                <a:latin typeface="Consolas" pitchFamily="34" charset="0"/>
                <a:ea typeface="Consolas" pitchFamily="34" charset="-122"/>
                <a:cs typeface="Consolas" pitchFamily="34" charset="-120"/>
              </a:rPr>
              <a:t>V1 · DÉMO SHOPIX · RÉSULTAT</a:t>
            </a:r>
            <a:endParaRPr lang="en-US" sz="1000" dirty="0"/>
          </a:p>
        </p:txBody>
      </p:sp>
      <p:sp>
        <p:nvSpPr>
          <p:cNvPr id="3" name="Text 1"/>
          <p:cNvSpPr txBox="1"/>
          <p:nvPr/>
        </p:nvSpPr>
        <p:spPr>
          <a:xfrm>
            <a:off x="457200" y="502920"/>
            <a:ext cx="8229600" cy="548640"/>
          </a:xfrm>
          <a:prstGeom prst="rect">
            <a:avLst/>
          </a:prstGeom>
          <a:noFill/>
          <a:ln/>
        </p:spPr>
        <p:txBody>
          <a:bodyPr wrap="square" lIns="0" tIns="0" rIns="0" bIns="0" rtlCol="0" anchor="ctr"/>
          <a:lstStyle/>
          <a:p>
            <a:pPr marL="0" indent="0">
              <a:buNone/>
            </a:pPr>
            <a:r>
              <a:rPr lang="en-US" sz="2400" dirty="0">
                <a:solidFill>
                  <a:srgbClr val="0F172A"/>
                </a:solidFill>
                <a:latin typeface="Segoe UI Semibold" pitchFamily="34" charset="0"/>
                <a:ea typeface="Segoe UI Semibold" pitchFamily="34" charset="-122"/>
                <a:cs typeface="Segoe UI Semibold" pitchFamily="34" charset="-120"/>
              </a:rPr>
              <a:t>14 menaces identifiées, 14 risques validés</a:t>
            </a:r>
            <a:endParaRPr lang="en-US" sz="2400" dirty="0"/>
          </a:p>
        </p:txBody>
      </p:sp>
      <p:sp>
        <p:nvSpPr>
          <p:cNvPr id="4" name="Shape 2"/>
          <p:cNvSpPr/>
          <p:nvPr/>
        </p:nvSpPr>
        <p:spPr>
          <a:xfrm>
            <a:off x="457200" y="1234440"/>
            <a:ext cx="1965960" cy="1143000"/>
          </a:xfrm>
          <a:prstGeom prst="roundRect">
            <a:avLst>
              <a:gd name="adj" fmla="val 6400"/>
            </a:avLst>
          </a:prstGeom>
          <a:solidFill>
            <a:srgbClr val="F4F7FA"/>
          </a:solidFill>
          <a:ln w="12700">
            <a:solidFill>
              <a:srgbClr val="F4F7FA"/>
            </a:solidFill>
            <a:prstDash val="solid"/>
          </a:ln>
        </p:spPr>
        <p:txBody>
          <a:bodyPr/>
          <a:lstStyle/>
          <a:p>
            <a:endParaRPr lang="fr-FR"/>
          </a:p>
        </p:txBody>
      </p:sp>
      <p:sp>
        <p:nvSpPr>
          <p:cNvPr id="5" name="Text 3"/>
          <p:cNvSpPr txBox="1"/>
          <p:nvPr/>
        </p:nvSpPr>
        <p:spPr>
          <a:xfrm>
            <a:off x="640080" y="1298448"/>
            <a:ext cx="1737360" cy="640080"/>
          </a:xfrm>
          <a:prstGeom prst="rect">
            <a:avLst/>
          </a:prstGeom>
          <a:noFill/>
          <a:ln/>
        </p:spPr>
        <p:txBody>
          <a:bodyPr wrap="square" lIns="0" tIns="0" rIns="0" bIns="0" rtlCol="0" anchor="t"/>
          <a:lstStyle/>
          <a:p>
            <a:pPr marL="0" indent="0">
              <a:buNone/>
            </a:pPr>
            <a:r>
              <a:rPr lang="en-US" sz="3600" dirty="0">
                <a:solidFill>
                  <a:srgbClr val="0D9488"/>
                </a:solidFill>
                <a:latin typeface="Segoe UI Semibold" pitchFamily="34" charset="0"/>
                <a:ea typeface="Segoe UI Semibold" pitchFamily="34" charset="-122"/>
                <a:cs typeface="Segoe UI Semibold" pitchFamily="34" charset="-120"/>
              </a:rPr>
              <a:t>14</a:t>
            </a:r>
            <a:endParaRPr lang="en-US" sz="3600" dirty="0"/>
          </a:p>
        </p:txBody>
      </p:sp>
      <p:sp>
        <p:nvSpPr>
          <p:cNvPr id="6" name="Text 4"/>
          <p:cNvSpPr txBox="1"/>
          <p:nvPr/>
        </p:nvSpPr>
        <p:spPr>
          <a:xfrm>
            <a:off x="640080" y="1920240"/>
            <a:ext cx="1737360" cy="365760"/>
          </a:xfrm>
          <a:prstGeom prst="rect">
            <a:avLst/>
          </a:prstGeom>
          <a:noFill/>
          <a:ln/>
        </p:spPr>
        <p:txBody>
          <a:bodyPr wrap="square" lIns="0" tIns="0" rIns="0" bIns="0" rtlCol="0" anchor="t"/>
          <a:lstStyle/>
          <a:p>
            <a:pPr marL="0" indent="0">
              <a:buNone/>
            </a:pPr>
            <a:r>
              <a:rPr lang="en-US" sz="1000" dirty="0">
                <a:solidFill>
                  <a:srgbClr val="475569"/>
                </a:solidFill>
                <a:latin typeface="Segoe UI" pitchFamily="34" charset="0"/>
                <a:ea typeface="Segoe UI" pitchFamily="34" charset="-122"/>
                <a:cs typeface="Segoe UI" pitchFamily="34" charset="-120"/>
              </a:rPr>
              <a:t>menaces STRIDE / LINDDUN</a:t>
            </a:r>
            <a:endParaRPr lang="en-US" sz="1000" dirty="0"/>
          </a:p>
        </p:txBody>
      </p:sp>
      <p:sp>
        <p:nvSpPr>
          <p:cNvPr id="7" name="Shape 5"/>
          <p:cNvSpPr/>
          <p:nvPr/>
        </p:nvSpPr>
        <p:spPr>
          <a:xfrm>
            <a:off x="2542032" y="1234440"/>
            <a:ext cx="1965960" cy="1143000"/>
          </a:xfrm>
          <a:prstGeom prst="roundRect">
            <a:avLst>
              <a:gd name="adj" fmla="val 6400"/>
            </a:avLst>
          </a:prstGeom>
          <a:solidFill>
            <a:srgbClr val="0B1220"/>
          </a:solidFill>
          <a:ln w="12700">
            <a:solidFill>
              <a:srgbClr val="0B1220"/>
            </a:solidFill>
            <a:prstDash val="solid"/>
          </a:ln>
        </p:spPr>
        <p:txBody>
          <a:bodyPr/>
          <a:lstStyle/>
          <a:p>
            <a:endParaRPr lang="fr-FR"/>
          </a:p>
        </p:txBody>
      </p:sp>
      <p:sp>
        <p:nvSpPr>
          <p:cNvPr id="8" name="Text 6"/>
          <p:cNvSpPr txBox="1"/>
          <p:nvPr/>
        </p:nvSpPr>
        <p:spPr>
          <a:xfrm>
            <a:off x="2724912" y="1298448"/>
            <a:ext cx="1737360" cy="640080"/>
          </a:xfrm>
          <a:prstGeom prst="rect">
            <a:avLst/>
          </a:prstGeom>
          <a:noFill/>
          <a:ln/>
        </p:spPr>
        <p:txBody>
          <a:bodyPr wrap="square" lIns="0" tIns="0" rIns="0" bIns="0" rtlCol="0" anchor="t"/>
          <a:lstStyle/>
          <a:p>
            <a:pPr marL="0" indent="0">
              <a:buNone/>
            </a:pPr>
            <a:r>
              <a:rPr lang="en-US" sz="3600" dirty="0">
                <a:solidFill>
                  <a:srgbClr val="2DD4BF"/>
                </a:solidFill>
                <a:latin typeface="Segoe UI Semibold" pitchFamily="34" charset="0"/>
                <a:ea typeface="Segoe UI Semibold" pitchFamily="34" charset="-122"/>
                <a:cs typeface="Segoe UI Semibold" pitchFamily="34" charset="-120"/>
              </a:rPr>
              <a:t>14</a:t>
            </a:r>
            <a:endParaRPr lang="en-US" sz="3600" dirty="0"/>
          </a:p>
        </p:txBody>
      </p:sp>
      <p:sp>
        <p:nvSpPr>
          <p:cNvPr id="9" name="Text 7"/>
          <p:cNvSpPr txBox="1"/>
          <p:nvPr/>
        </p:nvSpPr>
        <p:spPr>
          <a:xfrm>
            <a:off x="2724912" y="1920240"/>
            <a:ext cx="1737360" cy="365760"/>
          </a:xfrm>
          <a:prstGeom prst="rect">
            <a:avLst/>
          </a:prstGeom>
          <a:noFill/>
          <a:ln/>
        </p:spPr>
        <p:txBody>
          <a:bodyPr wrap="square" lIns="0" tIns="0" rIns="0" bIns="0" rtlCol="0" anchor="t"/>
          <a:lstStyle/>
          <a:p>
            <a:pPr marL="0" indent="0">
              <a:buNone/>
            </a:pPr>
            <a:r>
              <a:rPr lang="en-US" sz="1000" dirty="0">
                <a:solidFill>
                  <a:srgbClr val="CBD5E1"/>
                </a:solidFill>
                <a:latin typeface="Segoe UI" pitchFamily="34" charset="0"/>
                <a:ea typeface="Segoe UI" pitchFamily="34" charset="-122"/>
                <a:cs typeface="Segoe UI" pitchFamily="34" charset="-120"/>
              </a:rPr>
              <a:t>risques au registre validé</a:t>
            </a:r>
            <a:endParaRPr lang="en-US" sz="1000" dirty="0"/>
          </a:p>
        </p:txBody>
      </p:sp>
      <p:sp>
        <p:nvSpPr>
          <p:cNvPr id="10" name="Shape 8"/>
          <p:cNvSpPr/>
          <p:nvPr/>
        </p:nvSpPr>
        <p:spPr>
          <a:xfrm>
            <a:off x="4626864" y="1234440"/>
            <a:ext cx="1965960" cy="1143000"/>
          </a:xfrm>
          <a:prstGeom prst="roundRect">
            <a:avLst>
              <a:gd name="adj" fmla="val 6400"/>
            </a:avLst>
          </a:prstGeom>
          <a:solidFill>
            <a:srgbClr val="F4F7FA"/>
          </a:solidFill>
          <a:ln w="12700">
            <a:solidFill>
              <a:srgbClr val="F4F7FA"/>
            </a:solidFill>
            <a:prstDash val="solid"/>
          </a:ln>
        </p:spPr>
        <p:txBody>
          <a:bodyPr/>
          <a:lstStyle/>
          <a:p>
            <a:endParaRPr lang="fr-FR"/>
          </a:p>
        </p:txBody>
      </p:sp>
      <p:sp>
        <p:nvSpPr>
          <p:cNvPr id="11" name="Text 9"/>
          <p:cNvSpPr txBox="1"/>
          <p:nvPr/>
        </p:nvSpPr>
        <p:spPr>
          <a:xfrm>
            <a:off x="4809744" y="1298448"/>
            <a:ext cx="1737360" cy="640080"/>
          </a:xfrm>
          <a:prstGeom prst="rect">
            <a:avLst/>
          </a:prstGeom>
          <a:noFill/>
          <a:ln/>
        </p:spPr>
        <p:txBody>
          <a:bodyPr wrap="square" lIns="0" tIns="0" rIns="0" bIns="0" rtlCol="0" anchor="t"/>
          <a:lstStyle/>
          <a:p>
            <a:pPr marL="0" indent="0">
              <a:buNone/>
            </a:pPr>
            <a:r>
              <a:rPr lang="en-US" sz="3600" dirty="0">
                <a:solidFill>
                  <a:srgbClr val="0D9488"/>
                </a:solidFill>
                <a:latin typeface="Segoe UI Semibold" pitchFamily="34" charset="0"/>
                <a:ea typeface="Segoe UI Semibold" pitchFamily="34" charset="-122"/>
                <a:cs typeface="Segoe UI Semibold" pitchFamily="34" charset="-120"/>
              </a:rPr>
              <a:t>1</a:t>
            </a:r>
            <a:endParaRPr lang="en-US" sz="3600" dirty="0"/>
          </a:p>
        </p:txBody>
      </p:sp>
      <p:sp>
        <p:nvSpPr>
          <p:cNvPr id="12" name="Text 10"/>
          <p:cNvSpPr txBox="1"/>
          <p:nvPr/>
        </p:nvSpPr>
        <p:spPr>
          <a:xfrm>
            <a:off x="4809744" y="1920240"/>
            <a:ext cx="1737360" cy="365760"/>
          </a:xfrm>
          <a:prstGeom prst="rect">
            <a:avLst/>
          </a:prstGeom>
          <a:noFill/>
          <a:ln/>
        </p:spPr>
        <p:txBody>
          <a:bodyPr wrap="square" lIns="0" tIns="0" rIns="0" bIns="0" rtlCol="0" anchor="t"/>
          <a:lstStyle/>
          <a:p>
            <a:pPr marL="0" indent="0">
              <a:buNone/>
            </a:pPr>
            <a:r>
              <a:rPr lang="en-US" sz="1000" dirty="0">
                <a:solidFill>
                  <a:srgbClr val="475569"/>
                </a:solidFill>
                <a:latin typeface="Segoe UI" pitchFamily="34" charset="0"/>
                <a:ea typeface="Segoe UI" pitchFamily="34" charset="-122"/>
                <a:cs typeface="Segoe UI" pitchFamily="34" charset="-120"/>
              </a:rPr>
              <a:t>retenu après réexamen (R-13)</a:t>
            </a:r>
            <a:endParaRPr lang="en-US" sz="1000" dirty="0"/>
          </a:p>
        </p:txBody>
      </p:sp>
      <p:sp>
        <p:nvSpPr>
          <p:cNvPr id="13" name="Shape 11"/>
          <p:cNvSpPr/>
          <p:nvPr/>
        </p:nvSpPr>
        <p:spPr>
          <a:xfrm>
            <a:off x="6711696" y="1234440"/>
            <a:ext cx="1965960" cy="1143000"/>
          </a:xfrm>
          <a:prstGeom prst="roundRect">
            <a:avLst>
              <a:gd name="adj" fmla="val 6400"/>
            </a:avLst>
          </a:prstGeom>
          <a:solidFill>
            <a:srgbClr val="F4F7FA"/>
          </a:solidFill>
          <a:ln w="12700">
            <a:solidFill>
              <a:srgbClr val="F4F7FA"/>
            </a:solidFill>
            <a:prstDash val="solid"/>
          </a:ln>
        </p:spPr>
        <p:txBody>
          <a:bodyPr/>
          <a:lstStyle/>
          <a:p>
            <a:endParaRPr lang="fr-FR"/>
          </a:p>
        </p:txBody>
      </p:sp>
      <p:sp>
        <p:nvSpPr>
          <p:cNvPr id="14" name="Text 12"/>
          <p:cNvSpPr txBox="1"/>
          <p:nvPr/>
        </p:nvSpPr>
        <p:spPr>
          <a:xfrm>
            <a:off x="6894576" y="1298448"/>
            <a:ext cx="1737360" cy="640080"/>
          </a:xfrm>
          <a:prstGeom prst="rect">
            <a:avLst/>
          </a:prstGeom>
          <a:noFill/>
          <a:ln/>
        </p:spPr>
        <p:txBody>
          <a:bodyPr wrap="square" lIns="0" tIns="0" rIns="0" bIns="0" rtlCol="0" anchor="t"/>
          <a:lstStyle/>
          <a:p>
            <a:pPr marL="0" indent="0">
              <a:buNone/>
            </a:pPr>
            <a:r>
              <a:rPr lang="en-US" sz="3600" dirty="0">
                <a:solidFill>
                  <a:srgbClr val="0D9488"/>
                </a:solidFill>
                <a:latin typeface="Segoe UI Semibold" pitchFamily="34" charset="0"/>
                <a:ea typeface="Segoe UI Semibold" pitchFamily="34" charset="-122"/>
                <a:cs typeface="Segoe UI Semibold" pitchFamily="34" charset="-120"/>
              </a:rPr>
              <a:t>1</a:t>
            </a:r>
            <a:endParaRPr lang="en-US" sz="3600" dirty="0"/>
          </a:p>
        </p:txBody>
      </p:sp>
      <p:sp>
        <p:nvSpPr>
          <p:cNvPr id="15" name="Text 13"/>
          <p:cNvSpPr txBox="1"/>
          <p:nvPr/>
        </p:nvSpPr>
        <p:spPr>
          <a:xfrm>
            <a:off x="6894576" y="1920240"/>
            <a:ext cx="1737360" cy="365760"/>
          </a:xfrm>
          <a:prstGeom prst="rect">
            <a:avLst/>
          </a:prstGeom>
          <a:noFill/>
          <a:ln/>
        </p:spPr>
        <p:txBody>
          <a:bodyPr wrap="square" lIns="0" tIns="0" rIns="0" bIns="0" rtlCol="0" anchor="t"/>
          <a:lstStyle/>
          <a:p>
            <a:pPr marL="0" indent="0">
              <a:buNone/>
            </a:pPr>
            <a:r>
              <a:rPr lang="en-US" sz="1000" dirty="0">
                <a:solidFill>
                  <a:srgbClr val="475569"/>
                </a:solidFill>
                <a:latin typeface="Segoe UI" pitchFamily="34" charset="0"/>
                <a:ea typeface="Segoe UI" pitchFamily="34" charset="-122"/>
                <a:cs typeface="Segoe UI" pitchFamily="34" charset="-120"/>
              </a:rPr>
              <a:t>modifié (R-14)</a:t>
            </a:r>
            <a:endParaRPr lang="en-US" sz="1000" dirty="0"/>
          </a:p>
        </p:txBody>
      </p:sp>
      <p:sp>
        <p:nvSpPr>
          <p:cNvPr id="16" name="Text 14"/>
          <p:cNvSpPr txBox="1"/>
          <p:nvPr/>
        </p:nvSpPr>
        <p:spPr>
          <a:xfrm>
            <a:off x="457200" y="2697480"/>
            <a:ext cx="5486400" cy="274320"/>
          </a:xfrm>
          <a:prstGeom prst="rect">
            <a:avLst/>
          </a:prstGeom>
          <a:noFill/>
          <a:ln/>
        </p:spPr>
        <p:txBody>
          <a:bodyPr wrap="square" lIns="0" tIns="0" rIns="0" bIns="0" rtlCol="0" anchor="t"/>
          <a:lstStyle/>
          <a:p>
            <a:pPr marL="0" indent="0">
              <a:buNone/>
            </a:pPr>
            <a:r>
              <a:rPr lang="en-US" sz="1300" dirty="0">
                <a:solidFill>
                  <a:srgbClr val="0F172A"/>
                </a:solidFill>
                <a:latin typeface="Segoe UI Semibold" pitchFamily="34" charset="0"/>
                <a:ea typeface="Segoe UI Semibold" pitchFamily="34" charset="-122"/>
                <a:cs typeface="Segoe UI Semibold" pitchFamily="34" charset="-120"/>
              </a:rPr>
              <a:t>Répartition des 14 risques validés</a:t>
            </a:r>
            <a:endParaRPr lang="en-US" sz="1300" dirty="0"/>
          </a:p>
        </p:txBody>
      </p:sp>
      <p:sp>
        <p:nvSpPr>
          <p:cNvPr id="17" name="Shape 15"/>
          <p:cNvSpPr/>
          <p:nvPr/>
        </p:nvSpPr>
        <p:spPr>
          <a:xfrm>
            <a:off x="457200" y="3063240"/>
            <a:ext cx="1175657" cy="502920"/>
          </a:xfrm>
          <a:prstGeom prst="rect">
            <a:avLst/>
          </a:prstGeom>
          <a:solidFill>
            <a:srgbClr val="DC2626"/>
          </a:solidFill>
          <a:ln w="19050">
            <a:solidFill>
              <a:srgbClr val="FFFFFF"/>
            </a:solidFill>
            <a:prstDash val="solid"/>
          </a:ln>
        </p:spPr>
        <p:txBody>
          <a:bodyPr/>
          <a:lstStyle/>
          <a:p>
            <a:endParaRPr lang="fr-FR"/>
          </a:p>
        </p:txBody>
      </p:sp>
      <p:sp>
        <p:nvSpPr>
          <p:cNvPr id="18" name="Text 16"/>
          <p:cNvSpPr txBox="1"/>
          <p:nvPr/>
        </p:nvSpPr>
        <p:spPr>
          <a:xfrm>
            <a:off x="457200" y="3063240"/>
            <a:ext cx="1175657" cy="502920"/>
          </a:xfrm>
          <a:prstGeom prst="rect">
            <a:avLst/>
          </a:prstGeom>
          <a:noFill/>
          <a:ln/>
        </p:spPr>
        <p:txBody>
          <a:bodyPr wrap="square" lIns="0" tIns="0" rIns="0" bIns="0" rtlCol="0" anchor="ctr"/>
          <a:lstStyle/>
          <a:p>
            <a:pPr marL="0" indent="0" algn="ctr">
              <a:buNone/>
            </a:pPr>
            <a:r>
              <a:rPr lang="en-US" sz="1600" dirty="0">
                <a:solidFill>
                  <a:srgbClr val="FFFFFF"/>
                </a:solidFill>
                <a:latin typeface="Segoe UI Semibold" pitchFamily="34" charset="0"/>
                <a:ea typeface="Segoe UI Semibold" pitchFamily="34" charset="-122"/>
                <a:cs typeface="Segoe UI Semibold" pitchFamily="34" charset="-120"/>
              </a:rPr>
              <a:t>2</a:t>
            </a:r>
            <a:endParaRPr lang="en-US" sz="1600" dirty="0"/>
          </a:p>
        </p:txBody>
      </p:sp>
      <p:sp>
        <p:nvSpPr>
          <p:cNvPr id="19" name="Shape 17"/>
          <p:cNvSpPr/>
          <p:nvPr/>
        </p:nvSpPr>
        <p:spPr>
          <a:xfrm>
            <a:off x="1632857" y="3063240"/>
            <a:ext cx="6466114" cy="502920"/>
          </a:xfrm>
          <a:prstGeom prst="rect">
            <a:avLst/>
          </a:prstGeom>
          <a:solidFill>
            <a:srgbClr val="EA580C"/>
          </a:solidFill>
          <a:ln w="19050">
            <a:solidFill>
              <a:srgbClr val="FFFFFF"/>
            </a:solidFill>
            <a:prstDash val="solid"/>
          </a:ln>
        </p:spPr>
        <p:txBody>
          <a:bodyPr/>
          <a:lstStyle/>
          <a:p>
            <a:endParaRPr lang="fr-FR"/>
          </a:p>
        </p:txBody>
      </p:sp>
      <p:sp>
        <p:nvSpPr>
          <p:cNvPr id="20" name="Text 18"/>
          <p:cNvSpPr txBox="1"/>
          <p:nvPr/>
        </p:nvSpPr>
        <p:spPr>
          <a:xfrm>
            <a:off x="1632857" y="3063240"/>
            <a:ext cx="6466114" cy="502920"/>
          </a:xfrm>
          <a:prstGeom prst="rect">
            <a:avLst/>
          </a:prstGeom>
          <a:noFill/>
          <a:ln/>
        </p:spPr>
        <p:txBody>
          <a:bodyPr wrap="square" lIns="0" tIns="0" rIns="0" bIns="0" rtlCol="0" anchor="ctr"/>
          <a:lstStyle/>
          <a:p>
            <a:pPr marL="0" indent="0" algn="ctr">
              <a:buNone/>
            </a:pPr>
            <a:r>
              <a:rPr lang="en-US" sz="1600" dirty="0">
                <a:solidFill>
                  <a:srgbClr val="FFFFFF"/>
                </a:solidFill>
                <a:latin typeface="Segoe UI Semibold" pitchFamily="34" charset="0"/>
                <a:ea typeface="Segoe UI Semibold" pitchFamily="34" charset="-122"/>
                <a:cs typeface="Segoe UI Semibold" pitchFamily="34" charset="-120"/>
              </a:rPr>
              <a:t>11</a:t>
            </a:r>
            <a:endParaRPr lang="en-US" sz="1600" dirty="0"/>
          </a:p>
        </p:txBody>
      </p:sp>
      <p:sp>
        <p:nvSpPr>
          <p:cNvPr id="21" name="Shape 19"/>
          <p:cNvSpPr/>
          <p:nvPr/>
        </p:nvSpPr>
        <p:spPr>
          <a:xfrm>
            <a:off x="8098971" y="3063240"/>
            <a:ext cx="587829" cy="502920"/>
          </a:xfrm>
          <a:prstGeom prst="rect">
            <a:avLst/>
          </a:prstGeom>
          <a:solidFill>
            <a:srgbClr val="D97706"/>
          </a:solidFill>
          <a:ln w="19050">
            <a:solidFill>
              <a:srgbClr val="FFFFFF"/>
            </a:solidFill>
            <a:prstDash val="solid"/>
          </a:ln>
        </p:spPr>
        <p:txBody>
          <a:bodyPr/>
          <a:lstStyle/>
          <a:p>
            <a:endParaRPr lang="fr-FR"/>
          </a:p>
        </p:txBody>
      </p:sp>
      <p:sp>
        <p:nvSpPr>
          <p:cNvPr id="22" name="Text 20"/>
          <p:cNvSpPr txBox="1"/>
          <p:nvPr/>
        </p:nvSpPr>
        <p:spPr>
          <a:xfrm>
            <a:off x="8098971" y="3063240"/>
            <a:ext cx="587829" cy="502920"/>
          </a:xfrm>
          <a:prstGeom prst="rect">
            <a:avLst/>
          </a:prstGeom>
          <a:noFill/>
          <a:ln/>
        </p:spPr>
        <p:txBody>
          <a:bodyPr wrap="square" lIns="0" tIns="0" rIns="0" bIns="0" rtlCol="0" anchor="ctr"/>
          <a:lstStyle/>
          <a:p>
            <a:pPr marL="0" indent="0" algn="ctr">
              <a:buNone/>
            </a:pPr>
            <a:r>
              <a:rPr lang="en-US" sz="1600" dirty="0">
                <a:solidFill>
                  <a:srgbClr val="FFFFFF"/>
                </a:solidFill>
                <a:latin typeface="Segoe UI Semibold" pitchFamily="34" charset="0"/>
                <a:ea typeface="Segoe UI Semibold" pitchFamily="34" charset="-122"/>
                <a:cs typeface="Segoe UI Semibold" pitchFamily="34" charset="-120"/>
              </a:rPr>
              <a:t>1</a:t>
            </a:r>
            <a:endParaRPr lang="en-US" sz="1600" dirty="0"/>
          </a:p>
        </p:txBody>
      </p:sp>
      <p:sp>
        <p:nvSpPr>
          <p:cNvPr id="23" name="Shape 21"/>
          <p:cNvSpPr/>
          <p:nvPr/>
        </p:nvSpPr>
        <p:spPr>
          <a:xfrm>
            <a:off x="457200" y="3767328"/>
            <a:ext cx="146304" cy="146304"/>
          </a:xfrm>
          <a:prstGeom prst="ellipse">
            <a:avLst/>
          </a:prstGeom>
          <a:solidFill>
            <a:srgbClr val="DC2626"/>
          </a:solidFill>
          <a:ln w="12700">
            <a:solidFill>
              <a:srgbClr val="DC2626"/>
            </a:solidFill>
            <a:prstDash val="solid"/>
          </a:ln>
        </p:spPr>
        <p:txBody>
          <a:bodyPr/>
          <a:lstStyle/>
          <a:p>
            <a:endParaRPr lang="fr-FR"/>
          </a:p>
        </p:txBody>
      </p:sp>
      <p:sp>
        <p:nvSpPr>
          <p:cNvPr id="24" name="Text 22"/>
          <p:cNvSpPr txBox="1"/>
          <p:nvPr/>
        </p:nvSpPr>
        <p:spPr>
          <a:xfrm>
            <a:off x="685800" y="3703320"/>
            <a:ext cx="2468880" cy="274320"/>
          </a:xfrm>
          <a:prstGeom prst="rect">
            <a:avLst/>
          </a:prstGeom>
          <a:noFill/>
          <a:ln/>
        </p:spPr>
        <p:txBody>
          <a:bodyPr wrap="square" lIns="0" tIns="0" rIns="0" bIns="0" rtlCol="0" anchor="ctr"/>
          <a:lstStyle/>
          <a:p>
            <a:pPr marL="0" indent="0">
              <a:buNone/>
            </a:pPr>
            <a:r>
              <a:rPr lang="en-US" sz="1000" dirty="0">
                <a:solidFill>
                  <a:srgbClr val="0F172A"/>
                </a:solidFill>
                <a:latin typeface="Segoe UI Semibold" pitchFamily="34" charset="0"/>
                <a:ea typeface="Segoe UI Semibold" pitchFamily="34" charset="-122"/>
                <a:cs typeface="Segoe UI Semibold" pitchFamily="34" charset="-120"/>
              </a:rPr>
              <a:t>Critique  </a:t>
            </a:r>
            <a:r>
              <a:rPr lang="en-US" sz="1000" dirty="0">
                <a:solidFill>
                  <a:srgbClr val="475569"/>
                </a:solidFill>
                <a:latin typeface="Segoe UI" pitchFamily="34" charset="0"/>
                <a:ea typeface="Segoe UI" pitchFamily="34" charset="-122"/>
                <a:cs typeface="Segoe UI" pitchFamily="34" charset="-120"/>
              </a:rPr>
              <a:t>R-01, R-10</a:t>
            </a:r>
            <a:endParaRPr lang="en-US" sz="1000" dirty="0"/>
          </a:p>
        </p:txBody>
      </p:sp>
      <p:sp>
        <p:nvSpPr>
          <p:cNvPr id="25" name="Shape 23"/>
          <p:cNvSpPr/>
          <p:nvPr/>
        </p:nvSpPr>
        <p:spPr>
          <a:xfrm>
            <a:off x="3200400" y="3767328"/>
            <a:ext cx="146304" cy="146304"/>
          </a:xfrm>
          <a:prstGeom prst="ellipse">
            <a:avLst/>
          </a:prstGeom>
          <a:solidFill>
            <a:srgbClr val="EA580C"/>
          </a:solidFill>
          <a:ln w="12700">
            <a:solidFill>
              <a:srgbClr val="EA580C"/>
            </a:solidFill>
            <a:prstDash val="solid"/>
          </a:ln>
        </p:spPr>
        <p:txBody>
          <a:bodyPr/>
          <a:lstStyle/>
          <a:p>
            <a:endParaRPr lang="fr-FR"/>
          </a:p>
        </p:txBody>
      </p:sp>
      <p:sp>
        <p:nvSpPr>
          <p:cNvPr id="26" name="Text 24"/>
          <p:cNvSpPr txBox="1"/>
          <p:nvPr/>
        </p:nvSpPr>
        <p:spPr>
          <a:xfrm>
            <a:off x="3429000" y="3703320"/>
            <a:ext cx="2468880" cy="274320"/>
          </a:xfrm>
          <a:prstGeom prst="rect">
            <a:avLst/>
          </a:prstGeom>
          <a:noFill/>
          <a:ln/>
        </p:spPr>
        <p:txBody>
          <a:bodyPr wrap="square" lIns="0" tIns="0" rIns="0" bIns="0" rtlCol="0" anchor="ctr"/>
          <a:lstStyle/>
          <a:p>
            <a:pPr marL="0" indent="0">
              <a:buNone/>
            </a:pPr>
            <a:r>
              <a:rPr lang="en-US" sz="1000" dirty="0">
                <a:solidFill>
                  <a:srgbClr val="0F172A"/>
                </a:solidFill>
                <a:latin typeface="Segoe UI Semibold" pitchFamily="34" charset="0"/>
                <a:ea typeface="Segoe UI Semibold" pitchFamily="34" charset="-122"/>
                <a:cs typeface="Segoe UI Semibold" pitchFamily="34" charset="-120"/>
              </a:rPr>
              <a:t>Élevé  </a:t>
            </a:r>
            <a:r>
              <a:rPr lang="en-US" sz="1000" dirty="0">
                <a:solidFill>
                  <a:srgbClr val="475569"/>
                </a:solidFill>
                <a:latin typeface="Segoe UI" pitchFamily="34" charset="0"/>
                <a:ea typeface="Segoe UI" pitchFamily="34" charset="-122"/>
                <a:cs typeface="Segoe UI" pitchFamily="34" charset="-120"/>
              </a:rPr>
              <a:t>R-03 à R-09, R-11 à R-14</a:t>
            </a:r>
            <a:endParaRPr lang="en-US" sz="1000" dirty="0"/>
          </a:p>
        </p:txBody>
      </p:sp>
      <p:sp>
        <p:nvSpPr>
          <p:cNvPr id="27" name="Shape 25"/>
          <p:cNvSpPr/>
          <p:nvPr/>
        </p:nvSpPr>
        <p:spPr>
          <a:xfrm>
            <a:off x="5943600" y="3767328"/>
            <a:ext cx="146304" cy="146304"/>
          </a:xfrm>
          <a:prstGeom prst="ellipse">
            <a:avLst/>
          </a:prstGeom>
          <a:solidFill>
            <a:srgbClr val="D97706"/>
          </a:solidFill>
          <a:ln w="12700">
            <a:solidFill>
              <a:srgbClr val="D97706"/>
            </a:solidFill>
            <a:prstDash val="solid"/>
          </a:ln>
        </p:spPr>
        <p:txBody>
          <a:bodyPr/>
          <a:lstStyle/>
          <a:p>
            <a:endParaRPr lang="fr-FR"/>
          </a:p>
        </p:txBody>
      </p:sp>
      <p:sp>
        <p:nvSpPr>
          <p:cNvPr id="28" name="Text 26"/>
          <p:cNvSpPr txBox="1"/>
          <p:nvPr/>
        </p:nvSpPr>
        <p:spPr>
          <a:xfrm>
            <a:off x="6172200" y="3703320"/>
            <a:ext cx="2468880" cy="274320"/>
          </a:xfrm>
          <a:prstGeom prst="rect">
            <a:avLst/>
          </a:prstGeom>
          <a:noFill/>
          <a:ln/>
        </p:spPr>
        <p:txBody>
          <a:bodyPr wrap="square" lIns="0" tIns="0" rIns="0" bIns="0" rtlCol="0" anchor="ctr"/>
          <a:lstStyle/>
          <a:p>
            <a:pPr marL="0" indent="0">
              <a:buNone/>
            </a:pPr>
            <a:r>
              <a:rPr lang="en-US" sz="1000" dirty="0">
                <a:solidFill>
                  <a:srgbClr val="0F172A"/>
                </a:solidFill>
                <a:latin typeface="Segoe UI Semibold" pitchFamily="34" charset="0"/>
                <a:ea typeface="Segoe UI Semibold" pitchFamily="34" charset="-122"/>
                <a:cs typeface="Segoe UI Semibold" pitchFamily="34" charset="-120"/>
              </a:rPr>
              <a:t>Moyen  </a:t>
            </a:r>
            <a:r>
              <a:rPr lang="en-US" sz="1000" dirty="0">
                <a:solidFill>
                  <a:srgbClr val="475569"/>
                </a:solidFill>
                <a:latin typeface="Segoe UI" pitchFamily="34" charset="0"/>
                <a:ea typeface="Segoe UI" pitchFamily="34" charset="-122"/>
                <a:cs typeface="Segoe UI" pitchFamily="34" charset="-120"/>
              </a:rPr>
              <a:t>R-02</a:t>
            </a:r>
            <a:endParaRPr lang="en-US" sz="1000" dirty="0"/>
          </a:p>
        </p:txBody>
      </p:sp>
      <p:sp>
        <p:nvSpPr>
          <p:cNvPr id="29" name="Text 27"/>
          <p:cNvSpPr txBox="1"/>
          <p:nvPr/>
        </p:nvSpPr>
        <p:spPr>
          <a:xfrm>
            <a:off x="457200" y="4206240"/>
            <a:ext cx="8229600" cy="274320"/>
          </a:xfrm>
          <a:prstGeom prst="rect">
            <a:avLst/>
          </a:prstGeom>
          <a:noFill/>
          <a:ln/>
        </p:spPr>
        <p:txBody>
          <a:bodyPr wrap="square" lIns="0" tIns="0" rIns="0" bIns="0" rtlCol="0" anchor="t"/>
          <a:lstStyle/>
          <a:p>
            <a:pPr marL="0" indent="0">
              <a:buNone/>
            </a:pPr>
            <a:r>
              <a:rPr lang="en-US" sz="1000" i="1" dirty="0">
                <a:solidFill>
                  <a:srgbClr val="475569"/>
                </a:solidFill>
                <a:latin typeface="Segoe UI" pitchFamily="34" charset="0"/>
                <a:ea typeface="Segoe UI" pitchFamily="34" charset="-122"/>
                <a:cs typeface="Segoe UI" pitchFamily="34" charset="-120"/>
              </a:rPr>
              <a:t>Traitement : réduire partout, + transférer pour R-05 et R-09. Chaque résiduel est accepté par l’analyste.</a:t>
            </a:r>
            <a:endParaRPr lang="en-US" sz="1000" dirty="0"/>
          </a:p>
        </p:txBody>
      </p:sp>
      <p:sp>
        <p:nvSpPr>
          <p:cNvPr id="30" name="Text 28"/>
          <p:cNvSpPr txBox="1"/>
          <p:nvPr/>
        </p:nvSpPr>
        <p:spPr>
          <a:xfrm>
            <a:off x="8321040" y="4800600"/>
            <a:ext cx="365760" cy="182880"/>
          </a:xfrm>
          <a:prstGeom prst="rect">
            <a:avLst/>
          </a:prstGeom>
          <a:noFill/>
          <a:ln/>
        </p:spPr>
        <p:txBody>
          <a:bodyPr wrap="square" lIns="0" tIns="0" rIns="0" bIns="0" rtlCol="0" anchor="t"/>
          <a:lstStyle/>
          <a:p>
            <a:pPr marL="0" indent="0" algn="r">
              <a:buNone/>
            </a:pPr>
            <a:r>
              <a:rPr lang="en-US" sz="800" dirty="0">
                <a:solidFill>
                  <a:srgbClr val="94A3B8"/>
                </a:solidFill>
                <a:latin typeface="Consolas" pitchFamily="34" charset="0"/>
                <a:ea typeface="Consolas" pitchFamily="34" charset="-122"/>
                <a:cs typeface="Consolas" pitchFamily="34" charset="-120"/>
              </a:rPr>
              <a:t>9</a:t>
            </a:r>
            <a:endParaRPr lang="en-US" sz="800" dirty="0"/>
          </a:p>
        </p:txBody>
      </p:sp>
      <p:sp>
        <p:nvSpPr>
          <p:cNvPr id="31" name="Text 29"/>
          <p:cNvSpPr txBox="1"/>
          <p:nvPr/>
        </p:nvSpPr>
        <p:spPr>
          <a:xfrm>
            <a:off x="457200" y="4800600"/>
            <a:ext cx="3657600" cy="182880"/>
          </a:xfrm>
          <a:prstGeom prst="rect">
            <a:avLst/>
          </a:prstGeom>
          <a:noFill/>
          <a:ln/>
        </p:spPr>
        <p:txBody>
          <a:bodyPr wrap="square" lIns="0" tIns="0" rIns="0" bIns="0" rtlCol="0" anchor="t"/>
          <a:lstStyle/>
          <a:p>
            <a:pPr marL="0" indent="0">
              <a:buNone/>
            </a:pPr>
            <a:r>
              <a:rPr lang="en-US" sz="800" dirty="0">
                <a:solidFill>
                  <a:srgbClr val="94A3B8"/>
                </a:solidFill>
                <a:latin typeface="Consolas" pitchFamily="34" charset="0"/>
                <a:ea typeface="Consolas" pitchFamily="34" charset="-122"/>
                <a:cs typeface="Consolas" pitchFamily="34" charset="-120"/>
              </a:rPr>
              <a:t>E21 · Agents IA &amp; analyse de risques</a:t>
            </a:r>
            <a:endParaRPr lang="en-US" sz="8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92608"/>
            <a:ext cx="8229600" cy="228600"/>
          </a:xfrm>
          <a:prstGeom prst="rect">
            <a:avLst/>
          </a:prstGeom>
          <a:noFill/>
          <a:ln/>
        </p:spPr>
        <p:txBody>
          <a:bodyPr wrap="square" lIns="0" tIns="0" rIns="0" bIns="0" rtlCol="0" anchor="t"/>
          <a:lstStyle/>
          <a:p>
            <a:pPr marL="0" indent="0">
              <a:buNone/>
            </a:pPr>
            <a:r>
              <a:rPr lang="en-US" sz="1000" kern="0" spc="200" dirty="0">
                <a:solidFill>
                  <a:srgbClr val="0D9488"/>
                </a:solidFill>
                <a:latin typeface="Consolas" pitchFamily="34" charset="0"/>
                <a:ea typeface="Consolas" pitchFamily="34" charset="-122"/>
                <a:cs typeface="Consolas" pitchFamily="34" charset="-120"/>
              </a:rPr>
              <a:t>V1 · DÉMO SHOPIX · ÉTAPE 6</a:t>
            </a:r>
            <a:endParaRPr lang="en-US" sz="1000" dirty="0"/>
          </a:p>
        </p:txBody>
      </p:sp>
      <p:sp>
        <p:nvSpPr>
          <p:cNvPr id="3" name="Text 1"/>
          <p:cNvSpPr txBox="1"/>
          <p:nvPr/>
        </p:nvSpPr>
        <p:spPr>
          <a:xfrm>
            <a:off x="457200" y="502920"/>
            <a:ext cx="8229600" cy="548640"/>
          </a:xfrm>
          <a:prstGeom prst="rect">
            <a:avLst/>
          </a:prstGeom>
          <a:noFill/>
          <a:ln/>
        </p:spPr>
        <p:txBody>
          <a:bodyPr wrap="square" lIns="0" tIns="0" rIns="0" bIns="0" rtlCol="0" anchor="ctr"/>
          <a:lstStyle/>
          <a:p>
            <a:pPr marL="0" indent="0">
              <a:buNone/>
            </a:pPr>
            <a:r>
              <a:rPr lang="en-US" sz="2400" dirty="0">
                <a:solidFill>
                  <a:srgbClr val="0F172A"/>
                </a:solidFill>
                <a:latin typeface="Segoe UI Semibold" pitchFamily="34" charset="0"/>
                <a:ea typeface="Segoe UI Semibold" pitchFamily="34" charset="-122"/>
                <a:cs typeface="Segoe UI Semibold" pitchFamily="34" charset="-120"/>
              </a:rPr>
              <a:t>Décider, et savoir revenir sur une décision</a:t>
            </a:r>
            <a:endParaRPr lang="en-US" sz="2400" dirty="0"/>
          </a:p>
        </p:txBody>
      </p:sp>
      <p:sp>
        <p:nvSpPr>
          <p:cNvPr id="4" name="Shape 2"/>
          <p:cNvSpPr/>
          <p:nvPr/>
        </p:nvSpPr>
        <p:spPr>
          <a:xfrm>
            <a:off x="457200" y="1280160"/>
            <a:ext cx="2560320" cy="3017520"/>
          </a:xfrm>
          <a:prstGeom prst="roundRect">
            <a:avLst>
              <a:gd name="adj" fmla="val 2857"/>
            </a:avLst>
          </a:prstGeom>
          <a:solidFill>
            <a:srgbClr val="EAF7EE"/>
          </a:solidFill>
          <a:ln w="12700">
            <a:solidFill>
              <a:srgbClr val="EAF7EE"/>
            </a:solidFill>
            <a:prstDash val="solid"/>
          </a:ln>
        </p:spPr>
        <p:txBody>
          <a:bodyPr/>
          <a:lstStyle/>
          <a:p>
            <a:endParaRPr lang="fr-FR"/>
          </a:p>
        </p:txBody>
      </p:sp>
      <p:sp>
        <p:nvSpPr>
          <p:cNvPr id="5" name="Shape 3"/>
          <p:cNvSpPr/>
          <p:nvPr/>
        </p:nvSpPr>
        <p:spPr>
          <a:xfrm>
            <a:off x="640080" y="1463040"/>
            <a:ext cx="457200" cy="457200"/>
          </a:xfrm>
          <a:prstGeom prst="roundRect">
            <a:avLst>
              <a:gd name="adj" fmla="val 20000"/>
            </a:avLst>
          </a:prstGeom>
          <a:solidFill>
            <a:srgbClr val="FFFFFF"/>
          </a:solidFill>
          <a:ln w="12700">
            <a:solidFill>
              <a:srgbClr val="FFFFFF"/>
            </a:solidFill>
            <a:prstDash val="solid"/>
          </a:ln>
        </p:spPr>
        <p:txBody>
          <a:bodyPr/>
          <a:lstStyle/>
          <a:p>
            <a:endParaRPr lang="fr-FR"/>
          </a:p>
        </p:txBody>
      </p:sp>
      <p:pic>
        <p:nvPicPr>
          <p:cNvPr id="6" name="Image 0" descr="preencoded.png"/>
          <p:cNvPicPr>
            <a:picLocks noChangeAspect="1"/>
          </p:cNvPicPr>
          <p:nvPr/>
        </p:nvPicPr>
        <p:blipFill>
          <a:blip r:embed="rId3"/>
          <a:stretch>
            <a:fillRect/>
          </a:stretch>
        </p:blipFill>
        <p:spPr>
          <a:xfrm>
            <a:off x="758952" y="1581912"/>
            <a:ext cx="219456" cy="219456"/>
          </a:xfrm>
          <a:prstGeom prst="rect">
            <a:avLst/>
          </a:prstGeom>
        </p:spPr>
      </p:pic>
      <p:sp>
        <p:nvSpPr>
          <p:cNvPr id="7" name="Text 4"/>
          <p:cNvSpPr txBox="1"/>
          <p:nvPr/>
        </p:nvSpPr>
        <p:spPr>
          <a:xfrm>
            <a:off x="640080" y="2011680"/>
            <a:ext cx="2194560" cy="640080"/>
          </a:xfrm>
          <a:prstGeom prst="rect">
            <a:avLst/>
          </a:prstGeom>
          <a:noFill/>
          <a:ln/>
        </p:spPr>
        <p:txBody>
          <a:bodyPr wrap="square" lIns="0" tIns="0" rIns="0" bIns="0" rtlCol="0" anchor="t"/>
          <a:lstStyle/>
          <a:p>
            <a:pPr marL="0" indent="0">
              <a:buNone/>
            </a:pPr>
            <a:r>
              <a:rPr lang="en-US" sz="4000" dirty="0">
                <a:solidFill>
                  <a:srgbClr val="16A34A"/>
                </a:solidFill>
                <a:latin typeface="Segoe UI Semibold" pitchFamily="34" charset="0"/>
                <a:ea typeface="Segoe UI Semibold" pitchFamily="34" charset="-122"/>
                <a:cs typeface="Segoe UI Semibold" pitchFamily="34" charset="-120"/>
              </a:rPr>
              <a:t>12</a:t>
            </a:r>
            <a:endParaRPr lang="en-US" sz="4000" dirty="0"/>
          </a:p>
        </p:txBody>
      </p:sp>
      <p:sp>
        <p:nvSpPr>
          <p:cNvPr id="8" name="Text 5"/>
          <p:cNvSpPr txBox="1"/>
          <p:nvPr/>
        </p:nvSpPr>
        <p:spPr>
          <a:xfrm>
            <a:off x="640080" y="2651760"/>
            <a:ext cx="2194560" cy="274320"/>
          </a:xfrm>
          <a:prstGeom prst="rect">
            <a:avLst/>
          </a:prstGeom>
          <a:noFill/>
          <a:ln/>
        </p:spPr>
        <p:txBody>
          <a:bodyPr wrap="square" lIns="0" tIns="0" rIns="0" bIns="0" rtlCol="0" anchor="t"/>
          <a:lstStyle/>
          <a:p>
            <a:pPr marL="0" indent="0">
              <a:buNone/>
            </a:pPr>
            <a:r>
              <a:rPr lang="en-US" sz="1200" dirty="0">
                <a:solidFill>
                  <a:srgbClr val="0F172A"/>
                </a:solidFill>
                <a:latin typeface="Segoe UI Semibold" pitchFamily="34" charset="0"/>
                <a:ea typeface="Segoe UI Semibold" pitchFamily="34" charset="-122"/>
                <a:cs typeface="Segoe UI Semibold" pitchFamily="34" charset="-120"/>
              </a:rPr>
              <a:t>risques validés tels quels</a:t>
            </a:r>
            <a:endParaRPr lang="en-US" sz="1200" dirty="0"/>
          </a:p>
        </p:txBody>
      </p:sp>
      <p:sp>
        <p:nvSpPr>
          <p:cNvPr id="9" name="Text 6"/>
          <p:cNvSpPr txBox="1"/>
          <p:nvPr/>
        </p:nvSpPr>
        <p:spPr>
          <a:xfrm>
            <a:off x="640080" y="2971800"/>
            <a:ext cx="2194560" cy="548640"/>
          </a:xfrm>
          <a:prstGeom prst="rect">
            <a:avLst/>
          </a:prstGeom>
          <a:noFill/>
          <a:ln/>
        </p:spPr>
        <p:txBody>
          <a:bodyPr wrap="square" lIns="0" tIns="0" rIns="0" bIns="0" rtlCol="0" anchor="t"/>
          <a:lstStyle/>
          <a:p>
            <a:pPr marL="0" indent="0">
              <a:buNone/>
            </a:pPr>
            <a:r>
              <a:rPr lang="en-US" sz="950" dirty="0">
                <a:solidFill>
                  <a:srgbClr val="475569"/>
                </a:solidFill>
                <a:latin typeface="Segoe UI" pitchFamily="34" charset="0"/>
                <a:ea typeface="Segoe UI" pitchFamily="34" charset="-122"/>
                <a:cs typeface="Segoe UI" pitchFamily="34" charset="-120"/>
              </a:rPr>
              <a:t>R-01 à R-12, avec traitement et résiduel acceptés.</a:t>
            </a:r>
            <a:endParaRPr lang="en-US" sz="950" dirty="0"/>
          </a:p>
        </p:txBody>
      </p:sp>
      <p:sp>
        <p:nvSpPr>
          <p:cNvPr id="10" name="Shape 7"/>
          <p:cNvSpPr/>
          <p:nvPr/>
        </p:nvSpPr>
        <p:spPr>
          <a:xfrm>
            <a:off x="3200400" y="1280160"/>
            <a:ext cx="2651760" cy="3017520"/>
          </a:xfrm>
          <a:prstGeom prst="roundRect">
            <a:avLst>
              <a:gd name="adj" fmla="val 2759"/>
            </a:avLst>
          </a:prstGeom>
          <a:solidFill>
            <a:srgbClr val="FEF6E4"/>
          </a:solidFill>
          <a:ln w="12700">
            <a:solidFill>
              <a:srgbClr val="FEF6E4"/>
            </a:solidFill>
            <a:prstDash val="solid"/>
          </a:ln>
        </p:spPr>
        <p:txBody>
          <a:bodyPr/>
          <a:lstStyle/>
          <a:p>
            <a:endParaRPr lang="fr-FR"/>
          </a:p>
        </p:txBody>
      </p:sp>
      <p:sp>
        <p:nvSpPr>
          <p:cNvPr id="11" name="Shape 8"/>
          <p:cNvSpPr/>
          <p:nvPr/>
        </p:nvSpPr>
        <p:spPr>
          <a:xfrm>
            <a:off x="3383280" y="1463040"/>
            <a:ext cx="457200" cy="457200"/>
          </a:xfrm>
          <a:prstGeom prst="roundRect">
            <a:avLst>
              <a:gd name="adj" fmla="val 20000"/>
            </a:avLst>
          </a:prstGeom>
          <a:solidFill>
            <a:srgbClr val="FFFFFF"/>
          </a:solidFill>
          <a:ln w="12700">
            <a:solidFill>
              <a:srgbClr val="FFFFFF"/>
            </a:solidFill>
            <a:prstDash val="solid"/>
          </a:ln>
        </p:spPr>
        <p:txBody>
          <a:bodyPr/>
          <a:lstStyle/>
          <a:p>
            <a:endParaRPr lang="fr-FR"/>
          </a:p>
        </p:txBody>
      </p:sp>
      <p:pic>
        <p:nvPicPr>
          <p:cNvPr id="12" name="Image 1" descr="preencoded.png"/>
          <p:cNvPicPr>
            <a:picLocks noChangeAspect="1"/>
          </p:cNvPicPr>
          <p:nvPr/>
        </p:nvPicPr>
        <p:blipFill>
          <a:blip r:embed="rId4"/>
          <a:stretch>
            <a:fillRect/>
          </a:stretch>
        </p:blipFill>
        <p:spPr>
          <a:xfrm>
            <a:off x="3502152" y="1581912"/>
            <a:ext cx="219456" cy="219456"/>
          </a:xfrm>
          <a:prstGeom prst="rect">
            <a:avLst/>
          </a:prstGeom>
        </p:spPr>
      </p:pic>
      <p:sp>
        <p:nvSpPr>
          <p:cNvPr id="13" name="Text 9"/>
          <p:cNvSpPr txBox="1"/>
          <p:nvPr/>
        </p:nvSpPr>
        <p:spPr>
          <a:xfrm>
            <a:off x="3383280" y="2057400"/>
            <a:ext cx="2377440" cy="365760"/>
          </a:xfrm>
          <a:prstGeom prst="rect">
            <a:avLst/>
          </a:prstGeom>
          <a:noFill/>
          <a:ln/>
        </p:spPr>
        <p:txBody>
          <a:bodyPr wrap="square" lIns="0" tIns="0" rIns="0" bIns="0" rtlCol="0" anchor="t"/>
          <a:lstStyle/>
          <a:p>
            <a:pPr marL="0" indent="0">
              <a:buNone/>
            </a:pPr>
            <a:r>
              <a:rPr lang="en-US" sz="1800" dirty="0">
                <a:solidFill>
                  <a:srgbClr val="D97706"/>
                </a:solidFill>
                <a:latin typeface="Segoe UI Semibold" pitchFamily="34" charset="0"/>
                <a:ea typeface="Segoe UI Semibold" pitchFamily="34" charset="-122"/>
                <a:cs typeface="Segoe UI Semibold" pitchFamily="34" charset="-120"/>
              </a:rPr>
              <a:t>R-13 retenu</a:t>
            </a:r>
            <a:endParaRPr lang="en-US" sz="1800" dirty="0"/>
          </a:p>
        </p:txBody>
      </p:sp>
      <p:sp>
        <p:nvSpPr>
          <p:cNvPr id="14" name="Text 10"/>
          <p:cNvSpPr txBox="1"/>
          <p:nvPr/>
        </p:nvSpPr>
        <p:spPr>
          <a:xfrm>
            <a:off x="3383280" y="2468880"/>
            <a:ext cx="2331720" cy="274320"/>
          </a:xfrm>
          <a:prstGeom prst="rect">
            <a:avLst/>
          </a:prstGeom>
          <a:noFill/>
          <a:ln/>
        </p:spPr>
        <p:txBody>
          <a:bodyPr wrap="square" lIns="0" tIns="0" rIns="0" bIns="0" rtlCol="0" anchor="t"/>
          <a:lstStyle/>
          <a:p>
            <a:pPr marL="0" indent="0">
              <a:buNone/>
            </a:pPr>
            <a:r>
              <a:rPr lang="en-US" sz="1000" dirty="0">
                <a:solidFill>
                  <a:srgbClr val="0F172A"/>
                </a:solidFill>
                <a:latin typeface="Segoe UI Semibold" pitchFamily="34" charset="0"/>
                <a:ea typeface="Segoe UI Semibold" pitchFamily="34" charset="-122"/>
                <a:cs typeface="Segoe UI Semibold" pitchFamily="34" charset="-120"/>
              </a:rPr>
              <a:t>Non-conformité RGPD (LINDDUN-NC).</a:t>
            </a:r>
            <a:endParaRPr lang="en-US" sz="1000" dirty="0"/>
          </a:p>
        </p:txBody>
      </p:sp>
      <p:sp>
        <p:nvSpPr>
          <p:cNvPr id="15" name="Text 11"/>
          <p:cNvSpPr txBox="1"/>
          <p:nvPr/>
        </p:nvSpPr>
        <p:spPr>
          <a:xfrm>
            <a:off x="3383280" y="2743200"/>
            <a:ext cx="2331720" cy="1280160"/>
          </a:xfrm>
          <a:prstGeom prst="rect">
            <a:avLst/>
          </a:prstGeom>
          <a:noFill/>
          <a:ln/>
        </p:spPr>
        <p:txBody>
          <a:bodyPr wrap="square" lIns="0" tIns="0" rIns="0" bIns="0" rtlCol="0" anchor="t"/>
          <a:lstStyle/>
          <a:p>
            <a:pPr marL="0" indent="0">
              <a:buNone/>
            </a:pPr>
            <a:r>
              <a:rPr lang="en-US" sz="950" dirty="0">
                <a:solidFill>
                  <a:srgbClr val="475569"/>
                </a:solidFill>
                <a:latin typeface="Segoe UI" pitchFamily="34" charset="0"/>
                <a:ea typeface="Segoe UI" pitchFamily="34" charset="-122"/>
                <a:cs typeface="Segoe UI" pitchFamily="34" charset="-120"/>
              </a:rPr>
              <a:t>Rejeté le 23/09 pour tester le circuit, reconsidéré le 24/09 : c’est un état de fait. Réduire : programme RGPD, échéance déc. 2026.</a:t>
            </a:r>
            <a:endParaRPr lang="en-US" sz="950" dirty="0"/>
          </a:p>
        </p:txBody>
      </p:sp>
      <p:sp>
        <p:nvSpPr>
          <p:cNvPr id="16" name="Shape 12"/>
          <p:cNvSpPr/>
          <p:nvPr/>
        </p:nvSpPr>
        <p:spPr>
          <a:xfrm>
            <a:off x="6035040" y="1280160"/>
            <a:ext cx="2651760" cy="3017520"/>
          </a:xfrm>
          <a:prstGeom prst="roundRect">
            <a:avLst>
              <a:gd name="adj" fmla="val 2759"/>
            </a:avLst>
          </a:prstGeom>
          <a:solidFill>
            <a:srgbClr val="FFF1E7"/>
          </a:solidFill>
          <a:ln w="12700">
            <a:solidFill>
              <a:srgbClr val="FFF1E7"/>
            </a:solidFill>
            <a:prstDash val="solid"/>
          </a:ln>
        </p:spPr>
        <p:txBody>
          <a:bodyPr/>
          <a:lstStyle/>
          <a:p>
            <a:endParaRPr lang="fr-FR"/>
          </a:p>
        </p:txBody>
      </p:sp>
      <p:sp>
        <p:nvSpPr>
          <p:cNvPr id="17" name="Shape 13"/>
          <p:cNvSpPr/>
          <p:nvPr/>
        </p:nvSpPr>
        <p:spPr>
          <a:xfrm>
            <a:off x="6217920" y="1463040"/>
            <a:ext cx="457200" cy="457200"/>
          </a:xfrm>
          <a:prstGeom prst="roundRect">
            <a:avLst>
              <a:gd name="adj" fmla="val 20000"/>
            </a:avLst>
          </a:prstGeom>
          <a:solidFill>
            <a:srgbClr val="FFFFFF"/>
          </a:solidFill>
          <a:ln w="12700">
            <a:solidFill>
              <a:srgbClr val="FFFFFF"/>
            </a:solidFill>
            <a:prstDash val="solid"/>
          </a:ln>
        </p:spPr>
        <p:txBody>
          <a:bodyPr/>
          <a:lstStyle/>
          <a:p>
            <a:endParaRPr lang="fr-FR"/>
          </a:p>
        </p:txBody>
      </p:sp>
      <p:pic>
        <p:nvPicPr>
          <p:cNvPr id="18" name="Image 2" descr="preencoded.png"/>
          <p:cNvPicPr>
            <a:picLocks noChangeAspect="1"/>
          </p:cNvPicPr>
          <p:nvPr/>
        </p:nvPicPr>
        <p:blipFill>
          <a:blip r:embed="rId5"/>
          <a:stretch>
            <a:fillRect/>
          </a:stretch>
        </p:blipFill>
        <p:spPr>
          <a:xfrm>
            <a:off x="6336792" y="1581912"/>
            <a:ext cx="219456" cy="219456"/>
          </a:xfrm>
          <a:prstGeom prst="rect">
            <a:avLst/>
          </a:prstGeom>
        </p:spPr>
      </p:pic>
      <p:sp>
        <p:nvSpPr>
          <p:cNvPr id="19" name="Text 14"/>
          <p:cNvSpPr txBox="1"/>
          <p:nvPr/>
        </p:nvSpPr>
        <p:spPr>
          <a:xfrm>
            <a:off x="6217920" y="2057400"/>
            <a:ext cx="2377440" cy="365760"/>
          </a:xfrm>
          <a:prstGeom prst="rect">
            <a:avLst/>
          </a:prstGeom>
          <a:noFill/>
          <a:ln/>
        </p:spPr>
        <p:txBody>
          <a:bodyPr wrap="square" lIns="0" tIns="0" rIns="0" bIns="0" rtlCol="0" anchor="t"/>
          <a:lstStyle/>
          <a:p>
            <a:pPr marL="0" indent="0">
              <a:buNone/>
            </a:pPr>
            <a:r>
              <a:rPr lang="en-US" sz="1800" dirty="0">
                <a:solidFill>
                  <a:srgbClr val="EA580C"/>
                </a:solidFill>
                <a:latin typeface="Segoe UI Semibold" pitchFamily="34" charset="0"/>
                <a:ea typeface="Segoe UI Semibold" pitchFamily="34" charset="-122"/>
                <a:cs typeface="Segoe UI Semibold" pitchFamily="34" charset="-120"/>
              </a:rPr>
              <a:t>R-14 modifié</a:t>
            </a:r>
            <a:endParaRPr lang="en-US" sz="1800" dirty="0"/>
          </a:p>
        </p:txBody>
      </p:sp>
      <p:sp>
        <p:nvSpPr>
          <p:cNvPr id="20" name="Text 15"/>
          <p:cNvSpPr txBox="1"/>
          <p:nvPr/>
        </p:nvSpPr>
        <p:spPr>
          <a:xfrm>
            <a:off x="6217920" y="2468880"/>
            <a:ext cx="2331720" cy="274320"/>
          </a:xfrm>
          <a:prstGeom prst="rect">
            <a:avLst/>
          </a:prstGeom>
          <a:noFill/>
          <a:ln/>
        </p:spPr>
        <p:txBody>
          <a:bodyPr wrap="square" lIns="0" tIns="0" rIns="0" bIns="0" rtlCol="0" anchor="t"/>
          <a:lstStyle/>
          <a:p>
            <a:pPr marL="0" indent="0">
              <a:buNone/>
            </a:pPr>
            <a:r>
              <a:rPr lang="en-US" sz="1000" dirty="0">
                <a:solidFill>
                  <a:srgbClr val="0F172A"/>
                </a:solidFill>
                <a:latin typeface="Segoe UI Semibold" pitchFamily="34" charset="0"/>
                <a:ea typeface="Segoe UI Semibold" pitchFamily="34" charset="-122"/>
                <a:cs typeface="Segoe UI Semibold" pitchFamily="34" charset="-120"/>
              </a:rPr>
              <a:t>Perte de commandes (STRIDE-D).</a:t>
            </a:r>
            <a:endParaRPr lang="en-US" sz="1000" dirty="0"/>
          </a:p>
        </p:txBody>
      </p:sp>
      <p:sp>
        <p:nvSpPr>
          <p:cNvPr id="21" name="Text 16"/>
          <p:cNvSpPr txBox="1"/>
          <p:nvPr/>
        </p:nvSpPr>
        <p:spPr>
          <a:xfrm>
            <a:off x="6217920" y="2743200"/>
            <a:ext cx="2331720" cy="685800"/>
          </a:xfrm>
          <a:prstGeom prst="rect">
            <a:avLst/>
          </a:prstGeom>
          <a:noFill/>
          <a:ln/>
        </p:spPr>
        <p:txBody>
          <a:bodyPr wrap="square" lIns="0" tIns="0" rIns="0" bIns="0" rtlCol="0" anchor="t"/>
          <a:lstStyle/>
          <a:p>
            <a:pPr marL="0" indent="0">
              <a:buNone/>
            </a:pPr>
            <a:r>
              <a:rPr lang="en-US" sz="950" dirty="0">
                <a:solidFill>
                  <a:srgbClr val="0F172A"/>
                </a:solidFill>
                <a:latin typeface="Consolas" pitchFamily="34" charset="0"/>
                <a:ea typeface="Consolas" pitchFamily="34" charset="-122"/>
                <a:cs typeface="Consolas" pitchFamily="34" charset="-120"/>
              </a:rPr>
              <a:t>Impact : Moyen → Élevé</a:t>
            </a:r>
            <a:endParaRPr lang="en-US" sz="950" dirty="0"/>
          </a:p>
          <a:p>
            <a:pPr marL="0" indent="0">
              <a:buNone/>
            </a:pPr>
            <a:r>
              <a:rPr lang="en-US" sz="950" dirty="0">
                <a:solidFill>
                  <a:srgbClr val="0F172A"/>
                </a:solidFill>
                <a:latin typeface="Consolas" pitchFamily="34" charset="0"/>
                <a:ea typeface="Consolas" pitchFamily="34" charset="-122"/>
                <a:cs typeface="Consolas" pitchFamily="34" charset="-120"/>
              </a:rPr>
              <a:t>Niveau : Moyen → Élevé</a:t>
            </a:r>
            <a:endParaRPr lang="en-US" sz="950" dirty="0"/>
          </a:p>
          <a:p>
            <a:pPr marL="0" indent="0">
              <a:buNone/>
            </a:pPr>
            <a:r>
              <a:rPr lang="en-US" sz="950" dirty="0">
                <a:solidFill>
                  <a:srgbClr val="0F172A"/>
                </a:solidFill>
                <a:latin typeface="Consolas" pitchFamily="34" charset="0"/>
                <a:ea typeface="Consolas" pitchFamily="34" charset="-122"/>
                <a:cs typeface="Consolas" pitchFamily="34" charset="-120"/>
              </a:rPr>
              <a:t>Résiduel : Faible → Moyen</a:t>
            </a:r>
            <a:endParaRPr lang="en-US" sz="950" dirty="0"/>
          </a:p>
        </p:txBody>
      </p:sp>
      <p:sp>
        <p:nvSpPr>
          <p:cNvPr id="22" name="Text 17"/>
          <p:cNvSpPr txBox="1"/>
          <p:nvPr/>
        </p:nvSpPr>
        <p:spPr>
          <a:xfrm>
            <a:off x="6217920" y="3474720"/>
            <a:ext cx="2331720" cy="457200"/>
          </a:xfrm>
          <a:prstGeom prst="rect">
            <a:avLst/>
          </a:prstGeom>
          <a:noFill/>
          <a:ln/>
        </p:spPr>
        <p:txBody>
          <a:bodyPr wrap="square" lIns="0" tIns="0" rIns="0" bIns="0" rtlCol="0" anchor="t"/>
          <a:lstStyle/>
          <a:p>
            <a:pPr marL="0" indent="0">
              <a:buNone/>
            </a:pPr>
            <a:r>
              <a:rPr lang="en-US" sz="950" dirty="0">
                <a:solidFill>
                  <a:srgbClr val="475569"/>
                </a:solidFill>
                <a:latin typeface="Segoe UI" pitchFamily="34" charset="0"/>
                <a:ea typeface="Segoe UI" pitchFamily="34" charset="-122"/>
                <a:cs typeface="Segoe UI" pitchFamily="34" charset="-120"/>
              </a:rPr>
              <a:t>Motif : incident 2025, perte définitive.</a:t>
            </a:r>
            <a:endParaRPr lang="en-US" sz="950" dirty="0"/>
          </a:p>
        </p:txBody>
      </p:sp>
      <p:sp>
        <p:nvSpPr>
          <p:cNvPr id="23" name="Text 18"/>
          <p:cNvSpPr txBox="1"/>
          <p:nvPr/>
        </p:nvSpPr>
        <p:spPr>
          <a:xfrm>
            <a:off x="457200" y="4434840"/>
            <a:ext cx="8229600" cy="274320"/>
          </a:xfrm>
          <a:prstGeom prst="rect">
            <a:avLst/>
          </a:prstGeom>
          <a:noFill/>
          <a:ln/>
        </p:spPr>
        <p:txBody>
          <a:bodyPr wrap="square" lIns="0" tIns="0" rIns="0" bIns="0" rtlCol="0" anchor="t"/>
          <a:lstStyle/>
          <a:p>
            <a:pPr marL="0" indent="0">
              <a:buNone/>
            </a:pPr>
            <a:r>
              <a:rPr lang="en-US" sz="1000" i="1" dirty="0">
                <a:solidFill>
                  <a:srgbClr val="475569"/>
                </a:solidFill>
                <a:latin typeface="Segoe UI" pitchFamily="34" charset="0"/>
                <a:ea typeface="Segoe UI" pitchFamily="34" charset="-122"/>
                <a:cs typeface="Segoe UI" pitchFamily="34" charset="-120"/>
              </a:rPr>
              <a:t>valide_par nominatif sur les 14 risques : « Melvin RAIMBAULT · 2026-09-24 ». Aucun agent ne peut le remplir.</a:t>
            </a:r>
            <a:endParaRPr lang="en-US" sz="1000" dirty="0"/>
          </a:p>
        </p:txBody>
      </p:sp>
      <p:sp>
        <p:nvSpPr>
          <p:cNvPr id="24" name="Text 19"/>
          <p:cNvSpPr txBox="1"/>
          <p:nvPr/>
        </p:nvSpPr>
        <p:spPr>
          <a:xfrm>
            <a:off x="8321040" y="4800600"/>
            <a:ext cx="365760" cy="182880"/>
          </a:xfrm>
          <a:prstGeom prst="rect">
            <a:avLst/>
          </a:prstGeom>
          <a:noFill/>
          <a:ln/>
        </p:spPr>
        <p:txBody>
          <a:bodyPr wrap="square" lIns="0" tIns="0" rIns="0" bIns="0" rtlCol="0" anchor="t"/>
          <a:lstStyle/>
          <a:p>
            <a:pPr marL="0" indent="0" algn="r">
              <a:buNone/>
            </a:pPr>
            <a:r>
              <a:rPr lang="en-US" sz="800" dirty="0">
                <a:solidFill>
                  <a:srgbClr val="94A3B8"/>
                </a:solidFill>
                <a:latin typeface="Consolas" pitchFamily="34" charset="0"/>
                <a:ea typeface="Consolas" pitchFamily="34" charset="-122"/>
                <a:cs typeface="Consolas" pitchFamily="34" charset="-120"/>
              </a:rPr>
              <a:t>10</a:t>
            </a:r>
            <a:endParaRPr lang="en-US" sz="800" dirty="0"/>
          </a:p>
        </p:txBody>
      </p:sp>
      <p:sp>
        <p:nvSpPr>
          <p:cNvPr id="25" name="Text 20"/>
          <p:cNvSpPr txBox="1"/>
          <p:nvPr/>
        </p:nvSpPr>
        <p:spPr>
          <a:xfrm>
            <a:off x="457200" y="4800600"/>
            <a:ext cx="3657600" cy="182880"/>
          </a:xfrm>
          <a:prstGeom prst="rect">
            <a:avLst/>
          </a:prstGeom>
          <a:noFill/>
          <a:ln/>
        </p:spPr>
        <p:txBody>
          <a:bodyPr wrap="square" lIns="0" tIns="0" rIns="0" bIns="0" rtlCol="0" anchor="t"/>
          <a:lstStyle/>
          <a:p>
            <a:pPr marL="0" indent="0">
              <a:buNone/>
            </a:pPr>
            <a:r>
              <a:rPr lang="en-US" sz="800" dirty="0">
                <a:solidFill>
                  <a:srgbClr val="94A3B8"/>
                </a:solidFill>
                <a:latin typeface="Consolas" pitchFamily="34" charset="0"/>
                <a:ea typeface="Consolas" pitchFamily="34" charset="-122"/>
                <a:cs typeface="Consolas" pitchFamily="34" charset="-120"/>
              </a:rPr>
              <a:t>E21 · Agents IA &amp; analyse de risques</a:t>
            </a:r>
            <a:endParaRPr lang="en-US" sz="8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457200" y="292608"/>
            <a:ext cx="8229600" cy="228600"/>
          </a:xfrm>
          <a:prstGeom prst="rect">
            <a:avLst/>
          </a:prstGeom>
          <a:noFill/>
        </p:spPr>
        <p:txBody>
          <a:bodyPr wrap="square" lIns="0" rIns="0" tIns="0" bIns="0" anchor="t">
            <a:spAutoFit/>
          </a:bodyPr>
          <a:lstStyle/>
          <a:p>
            <a:r>
              <a:rPr sz="1000" b="0">
                <a:solidFill>
                  <a:srgbClr val="0D9488"/>
                </a:solidFill>
                <a:latin typeface="Consolas"/>
              </a:rPr>
              <a:t>V1 → V2 · TESTS · INJECTION DE PROMPT</a:t>
            </a:r>
          </a:p>
        </p:txBody>
      </p:sp>
      <p:sp>
        <p:nvSpPr>
          <p:cNvPr id="3" name="TextBox 2"/>
          <p:cNvSpPr txBox="1"/>
          <p:nvPr/>
        </p:nvSpPr>
        <p:spPr>
          <a:xfrm>
            <a:off x="457200" y="502920"/>
            <a:ext cx="8229600" cy="548640"/>
          </a:xfrm>
          <a:prstGeom prst="rect">
            <a:avLst/>
          </a:prstGeom>
          <a:noFill/>
        </p:spPr>
        <p:txBody>
          <a:bodyPr wrap="square" lIns="0" rIns="0" tIns="0" bIns="0" anchor="t">
            <a:spAutoFit/>
          </a:bodyPr>
          <a:lstStyle/>
          <a:p>
            <a:r>
              <a:rPr sz="2400" b="0">
                <a:solidFill>
                  <a:srgbClr val="0F172A"/>
                </a:solidFill>
                <a:latin typeface="Segoe UI Semibold"/>
              </a:rPr>
              <a:t>Injection de prompt : du test statique au test réel</a:t>
            </a:r>
          </a:p>
        </p:txBody>
      </p:sp>
      <p:sp>
        <p:nvSpPr>
          <p:cNvPr id="4" name="Rounded Rectangle 3"/>
          <p:cNvSpPr/>
          <p:nvPr/>
        </p:nvSpPr>
        <p:spPr>
          <a:xfrm>
            <a:off x="457200" y="1280160"/>
            <a:ext cx="2651760" cy="2514600"/>
          </a:xfrm>
          <a:prstGeom prst="roundRect">
            <a:avLst>
              <a:gd name="adj" fmla="val 6000"/>
            </a:avLst>
          </a:prstGeom>
          <a:solidFill>
            <a:srgbClr val="F4F7FA"/>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444752"/>
            <a:ext cx="2286000" cy="228600"/>
          </a:xfrm>
          <a:prstGeom prst="rect">
            <a:avLst/>
          </a:prstGeom>
          <a:noFill/>
        </p:spPr>
        <p:txBody>
          <a:bodyPr wrap="square" lIns="0" rIns="0" tIns="0" bIns="0" anchor="t">
            <a:spAutoFit/>
          </a:bodyPr>
          <a:lstStyle/>
          <a:p>
            <a:r>
              <a:rPr sz="1000" b="1">
                <a:solidFill>
                  <a:srgbClr val="475569"/>
                </a:solidFill>
                <a:latin typeface="Consolas"/>
              </a:rPr>
              <a:t>24/09 · T-07</a:t>
            </a:r>
          </a:p>
        </p:txBody>
      </p:sp>
      <p:sp>
        <p:nvSpPr>
          <p:cNvPr id="6" name="TextBox 5"/>
          <p:cNvSpPr txBox="1"/>
          <p:nvPr/>
        </p:nvSpPr>
        <p:spPr>
          <a:xfrm>
            <a:off x="640080" y="1755648"/>
            <a:ext cx="2286000" cy="320040"/>
          </a:xfrm>
          <a:prstGeom prst="rect">
            <a:avLst/>
          </a:prstGeom>
          <a:noFill/>
        </p:spPr>
        <p:txBody>
          <a:bodyPr wrap="square" lIns="0" rIns="0" tIns="0" bIns="0" anchor="t">
            <a:spAutoFit/>
          </a:bodyPr>
          <a:lstStyle/>
          <a:p>
            <a:r>
              <a:rPr sz="1400" b="0">
                <a:solidFill>
                  <a:srgbClr val="0F172A"/>
                </a:solidFill>
                <a:latin typeface="Segoe UI Semibold"/>
              </a:rPr>
              <a:t>Régression statique</a:t>
            </a:r>
          </a:p>
        </p:txBody>
      </p:sp>
      <p:sp>
        <p:nvSpPr>
          <p:cNvPr id="7" name="TextBox 6"/>
          <p:cNvSpPr txBox="1"/>
          <p:nvPr/>
        </p:nvSpPr>
        <p:spPr>
          <a:xfrm>
            <a:off x="640080" y="2148840"/>
            <a:ext cx="2286000" cy="1554480"/>
          </a:xfrm>
          <a:prstGeom prst="rect">
            <a:avLst/>
          </a:prstGeom>
          <a:noFill/>
        </p:spPr>
        <p:txBody>
          <a:bodyPr wrap="square" lIns="0" rIns="0" tIns="0" bIns="0" anchor="t">
            <a:spAutoFit/>
          </a:bodyPr>
          <a:lstStyle/>
          <a:p>
            <a:r>
              <a:rPr sz="1050" b="0">
                <a:solidFill>
                  <a:srgbClr val="0F172A"/>
                </a:solidFill>
                <a:latin typeface="Segoe UI"/>
              </a:rPr>
              <a:t>La consigne cachée d'un document piégé est absente de toutes les sorties. Convention &lt;&lt;&lt;DONNÉES&gt;&gt;&gt;.</a:t>
            </a:r>
          </a:p>
        </p:txBody>
      </p:sp>
      <p:sp>
        <p:nvSpPr>
          <p:cNvPr id="8" name="Rounded Rectangle 7"/>
          <p:cNvSpPr/>
          <p:nvPr/>
        </p:nvSpPr>
        <p:spPr>
          <a:xfrm>
            <a:off x="3246120" y="1280160"/>
            <a:ext cx="2651760" cy="2514600"/>
          </a:xfrm>
          <a:prstGeom prst="roundRect">
            <a:avLst>
              <a:gd name="adj" fmla="val 6000"/>
            </a:avLst>
          </a:prstGeom>
          <a:solidFill>
            <a:srgbClr val="EAF7EE"/>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429000" y="1444752"/>
            <a:ext cx="2286000" cy="228600"/>
          </a:xfrm>
          <a:prstGeom prst="rect">
            <a:avLst/>
          </a:prstGeom>
          <a:noFill/>
        </p:spPr>
        <p:txBody>
          <a:bodyPr wrap="square" lIns="0" rIns="0" tIns="0" bIns="0" anchor="t">
            <a:spAutoFit/>
          </a:bodyPr>
          <a:lstStyle/>
          <a:p>
            <a:r>
              <a:rPr sz="1000" b="1">
                <a:solidFill>
                  <a:srgbClr val="16A34A"/>
                </a:solidFill>
                <a:latin typeface="Consolas"/>
              </a:rPr>
              <a:t>04/10 · T-11</a:t>
            </a:r>
          </a:p>
        </p:txBody>
      </p:sp>
      <p:sp>
        <p:nvSpPr>
          <p:cNvPr id="10" name="TextBox 9"/>
          <p:cNvSpPr txBox="1"/>
          <p:nvPr/>
        </p:nvSpPr>
        <p:spPr>
          <a:xfrm>
            <a:off x="3429000" y="1755648"/>
            <a:ext cx="2286000" cy="320040"/>
          </a:xfrm>
          <a:prstGeom prst="rect">
            <a:avLst/>
          </a:prstGeom>
          <a:noFill/>
        </p:spPr>
        <p:txBody>
          <a:bodyPr wrap="square" lIns="0" rIns="0" tIns="0" bIns="0" anchor="t">
            <a:spAutoFit/>
          </a:bodyPr>
          <a:lstStyle/>
          <a:p>
            <a:r>
              <a:rPr sz="1400" b="0">
                <a:solidFill>
                  <a:srgbClr val="0F172A"/>
                </a:solidFill>
                <a:latin typeface="Segoe UI Semibold"/>
              </a:rPr>
              <a:t>Exécution réelle archivée</a:t>
            </a:r>
          </a:p>
        </p:txBody>
      </p:sp>
      <p:sp>
        <p:nvSpPr>
          <p:cNvPr id="11" name="TextBox 10"/>
          <p:cNvSpPr txBox="1"/>
          <p:nvPr/>
        </p:nvSpPr>
        <p:spPr>
          <a:xfrm>
            <a:off x="3429000" y="2148840"/>
            <a:ext cx="2286000" cy="1554480"/>
          </a:xfrm>
          <a:prstGeom prst="rect">
            <a:avLst/>
          </a:prstGeom>
          <a:noFill/>
        </p:spPr>
        <p:txBody>
          <a:bodyPr wrap="square" lIns="0" rIns="0" tIns="0" bIns="0" anchor="t">
            <a:spAutoFit/>
          </a:bodyPr>
          <a:lstStyle/>
          <a:p>
            <a:r>
              <a:rPr sz="1050" b="0">
                <a:solidFill>
                  <a:srgbClr val="0F172A"/>
                </a:solidFill>
                <a:latin typeface="Segoe UI"/>
              </a:rPr>
              <a:t>Vraie fixture de production : la ligne hostile est conservée mot pour mot comme donnée, détectée, journalisée, absente de toute consigne. 11 contrôles : « PAS DE CONSIGNE EXÉCUTÉE ».</a:t>
            </a:r>
          </a:p>
        </p:txBody>
      </p:sp>
      <p:sp>
        <p:nvSpPr>
          <p:cNvPr id="12" name="Rounded Rectangle 11"/>
          <p:cNvSpPr/>
          <p:nvPr/>
        </p:nvSpPr>
        <p:spPr>
          <a:xfrm>
            <a:off x="6035040" y="1280160"/>
            <a:ext cx="2651760" cy="2514600"/>
          </a:xfrm>
          <a:prstGeom prst="roundRect">
            <a:avLst>
              <a:gd name="adj" fmla="val 6000"/>
            </a:avLst>
          </a:prstGeom>
          <a:solidFill>
            <a:srgbClr val="FEF3C7"/>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217920" y="1444752"/>
            <a:ext cx="2286000" cy="228600"/>
          </a:xfrm>
          <a:prstGeom prst="rect">
            <a:avLst/>
          </a:prstGeom>
          <a:noFill/>
        </p:spPr>
        <p:txBody>
          <a:bodyPr wrap="square" lIns="0" rIns="0" tIns="0" bIns="0" anchor="t">
            <a:spAutoFit/>
          </a:bodyPr>
          <a:lstStyle/>
          <a:p>
            <a:r>
              <a:rPr sz="1000" b="1">
                <a:solidFill>
                  <a:srgbClr val="B45309"/>
                </a:solidFill>
                <a:latin typeface="Consolas"/>
              </a:rPr>
              <a:t>À montrer</a:t>
            </a:r>
          </a:p>
        </p:txBody>
      </p:sp>
      <p:sp>
        <p:nvSpPr>
          <p:cNvPr id="14" name="TextBox 13"/>
          <p:cNvSpPr txBox="1"/>
          <p:nvPr/>
        </p:nvSpPr>
        <p:spPr>
          <a:xfrm>
            <a:off x="6217920" y="1755648"/>
            <a:ext cx="2286000" cy="320040"/>
          </a:xfrm>
          <a:prstGeom prst="rect">
            <a:avLst/>
          </a:prstGeom>
          <a:noFill/>
        </p:spPr>
        <p:txBody>
          <a:bodyPr wrap="square" lIns="0" rIns="0" tIns="0" bIns="0" anchor="t">
            <a:spAutoFit/>
          </a:bodyPr>
          <a:lstStyle/>
          <a:p>
            <a:r>
              <a:rPr sz="1400" b="0">
                <a:solidFill>
                  <a:srgbClr val="0F172A"/>
                </a:solidFill>
                <a:latin typeface="Segoe UI Semibold"/>
              </a:rPr>
              <a:t>Limite assumée</a:t>
            </a:r>
          </a:p>
        </p:txBody>
      </p:sp>
      <p:sp>
        <p:nvSpPr>
          <p:cNvPr id="15" name="TextBox 14"/>
          <p:cNvSpPr txBox="1"/>
          <p:nvPr/>
        </p:nvSpPr>
        <p:spPr>
          <a:xfrm>
            <a:off x="6217920" y="2148840"/>
            <a:ext cx="2286000" cy="1554480"/>
          </a:xfrm>
          <a:prstGeom prst="rect">
            <a:avLst/>
          </a:prstGeom>
          <a:noFill/>
        </p:spPr>
        <p:txBody>
          <a:bodyPr wrap="square" lIns="0" rIns="0" tIns="0" bIns="0" anchor="t">
            <a:spAutoFit/>
          </a:bodyPr>
          <a:lstStyle/>
          <a:p>
            <a:r>
              <a:rPr sz="1050" b="0">
                <a:solidFill>
                  <a:srgbClr val="0F172A"/>
                </a:solidFill>
                <a:latin typeface="Segoe UI"/>
              </a:rPr>
              <a:t>Cette exécution n'appelle pas le modèle en direct. La démonstration avec le modèle local sur le document piégé est à jouer en séance, puis à archiver.</a:t>
            </a:r>
          </a:p>
        </p:txBody>
      </p:sp>
      <p:sp>
        <p:nvSpPr>
          <p:cNvPr id="16" name="Rounded Rectangle 15"/>
          <p:cNvSpPr/>
          <p:nvPr/>
        </p:nvSpPr>
        <p:spPr>
          <a:xfrm>
            <a:off x="457200" y="3931920"/>
            <a:ext cx="8229600" cy="548640"/>
          </a:xfrm>
          <a:prstGeom prst="roundRect">
            <a:avLst>
              <a:gd name="adj" fmla="val 6000"/>
            </a:avLst>
          </a:prstGeom>
          <a:solidFill>
            <a:srgbClr val="0B1220"/>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85800" y="3931920"/>
            <a:ext cx="7772400" cy="548640"/>
          </a:xfrm>
          <a:prstGeom prst="rect">
            <a:avLst/>
          </a:prstGeom>
          <a:noFill/>
        </p:spPr>
        <p:txBody>
          <a:bodyPr wrap="square" lIns="0" rIns="0" tIns="0" bIns="0" anchor="ctr">
            <a:spAutoFit/>
          </a:bodyPr>
          <a:lstStyle/>
          <a:p>
            <a:r>
              <a:rPr sz="1050" b="0">
                <a:solidFill>
                  <a:srgbClr val="FFFFFF"/>
                </a:solidFill>
                <a:latin typeface="Segoe UI"/>
              </a:rPr>
              <a:t>Choix de conception : la ligne hostile n'est pas supprimée. Un garde-fou qui la retirerait donnerait une fausse impression de sécurité ; elle est conservée comme donnée et signalée.</a:t>
            </a:r>
          </a:p>
        </p:txBody>
      </p:sp>
      <p:sp>
        <p:nvSpPr>
          <p:cNvPr id="18" name="TextBox 17"/>
          <p:cNvSpPr txBox="1"/>
          <p:nvPr/>
        </p:nvSpPr>
        <p:spPr>
          <a:xfrm>
            <a:off x="457200" y="4800600"/>
            <a:ext cx="3657600" cy="182880"/>
          </a:xfrm>
          <a:prstGeom prst="rect">
            <a:avLst/>
          </a:prstGeom>
          <a:noFill/>
        </p:spPr>
        <p:txBody>
          <a:bodyPr wrap="square" lIns="0" rIns="0" tIns="0" bIns="0" anchor="t">
            <a:spAutoFit/>
          </a:bodyPr>
          <a:lstStyle/>
          <a:p>
            <a:r>
              <a:rPr sz="800" b="0">
                <a:solidFill>
                  <a:srgbClr val="94A3B8"/>
                </a:solidFill>
                <a:latin typeface="Consolas"/>
              </a:rPr>
              <a:t>E21 · Agents IA &amp; analyse de risques</a:t>
            </a:r>
          </a:p>
        </p:txBody>
      </p:sp>
      <p:sp>
        <p:nvSpPr>
          <p:cNvPr id="19" name="TextBox 18"/>
          <p:cNvSpPr txBox="1"/>
          <p:nvPr/>
        </p:nvSpPr>
        <p:spPr>
          <a:xfrm>
            <a:off x="8321040" y="4800600"/>
            <a:ext cx="365760" cy="182880"/>
          </a:xfrm>
          <a:prstGeom prst="rect">
            <a:avLst/>
          </a:prstGeom>
          <a:noFill/>
        </p:spPr>
        <p:txBody>
          <a:bodyPr wrap="square" lIns="0" rIns="0" tIns="0" bIns="0" anchor="t">
            <a:spAutoFit/>
          </a:bodyPr>
          <a:lstStyle/>
          <a:p>
            <a:pPr algn="r"/>
            <a:r>
              <a:rPr sz="800" b="0">
                <a:solidFill>
                  <a:srgbClr val="94A3B8"/>
                </a:solidFill>
                <a:latin typeface="Consolas"/>
              </a:rPr>
              <a:t>25</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B1220"/>
        </a:solidFill>
        <a:effectLst/>
      </p:bgPr>
    </p:bg>
    <p:spTree>
      <p:nvGrpSpPr>
        <p:cNvPr id="1" name=""/>
        <p:cNvGrpSpPr/>
        <p:nvPr/>
      </p:nvGrpSpPr>
      <p:grpSpPr>
        <a:xfrm>
          <a:off x="0" y="0"/>
          <a:ext cx="0" cy="0"/>
          <a:chOff x="0" y="0"/>
          <a:chExt cx="0" cy="0"/>
        </a:xfrm>
      </p:grpSpPr>
      <p:sp>
        <p:nvSpPr>
          <p:cNvPr id="2" name="Text 0"/>
          <p:cNvSpPr txBox="1"/>
          <p:nvPr/>
        </p:nvSpPr>
        <p:spPr>
          <a:xfrm>
            <a:off x="457200" y="292608"/>
            <a:ext cx="8229600" cy="228600"/>
          </a:xfrm>
          <a:prstGeom prst="rect">
            <a:avLst/>
          </a:prstGeom>
          <a:noFill/>
          <a:ln/>
        </p:spPr>
        <p:txBody>
          <a:bodyPr wrap="square" lIns="0" tIns="0" rIns="0" bIns="0" rtlCol="0" anchor="t"/>
          <a:lstStyle/>
          <a:p>
            <a:pPr marL="0" indent="0">
              <a:buNone/>
            </a:pPr>
            <a:r>
              <a:rPr lang="en-US" sz="1000" kern="0" spc="200" dirty="0">
                <a:solidFill>
                  <a:srgbClr val="2DD4BF"/>
                </a:solidFill>
                <a:latin typeface="Consolas" pitchFamily="34" charset="0"/>
                <a:ea typeface="Consolas" pitchFamily="34" charset="-122"/>
                <a:cs typeface="Consolas" pitchFamily="34" charset="-120"/>
              </a:rPr>
              <a:t>V1 · MODÈLES IA · POINT CLÉ</a:t>
            </a:r>
            <a:endParaRPr lang="en-US" sz="1000" dirty="0"/>
          </a:p>
        </p:txBody>
      </p:sp>
      <p:sp>
        <p:nvSpPr>
          <p:cNvPr id="3" name="Text 1"/>
          <p:cNvSpPr txBox="1"/>
          <p:nvPr/>
        </p:nvSpPr>
        <p:spPr>
          <a:xfrm>
            <a:off x="457200" y="502920"/>
            <a:ext cx="8229600" cy="548640"/>
          </a:xfrm>
          <a:prstGeom prst="rect">
            <a:avLst/>
          </a:prstGeom>
          <a:noFill/>
          <a:ln/>
        </p:spPr>
        <p:txBody>
          <a:bodyPr wrap="square" lIns="0" tIns="0" rIns="0" bIns="0" rtlCol="0" anchor="ctr"/>
          <a:lstStyle/>
          <a:p>
            <a:pPr marL="0" indent="0">
              <a:buNone/>
            </a:pPr>
            <a:r>
              <a:rPr lang="en-US" sz="2400" dirty="0">
                <a:solidFill>
                  <a:srgbClr val="FFFFFF"/>
                </a:solidFill>
                <a:latin typeface="Segoe UI Semibold" pitchFamily="34" charset="0"/>
                <a:ea typeface="Segoe UI Semibold" pitchFamily="34" charset="-122"/>
                <a:cs typeface="Segoe UI Semibold" pitchFamily="34" charset="-120"/>
              </a:rPr>
              <a:t>Un format valide n’est pas un contenu juste</a:t>
            </a:r>
            <a:endParaRPr lang="en-US" sz="2400" dirty="0"/>
          </a:p>
        </p:txBody>
      </p:sp>
      <p:sp>
        <p:nvSpPr>
          <p:cNvPr id="4" name="Shape 2"/>
          <p:cNvSpPr/>
          <p:nvPr/>
        </p:nvSpPr>
        <p:spPr>
          <a:xfrm>
            <a:off x="457200" y="1325880"/>
            <a:ext cx="3931920" cy="2103120"/>
          </a:xfrm>
          <a:prstGeom prst="roundRect">
            <a:avLst>
              <a:gd name="adj" fmla="val 3478"/>
            </a:avLst>
          </a:prstGeom>
          <a:solidFill>
            <a:srgbClr val="131D31"/>
          </a:solidFill>
          <a:ln w="12700">
            <a:solidFill>
              <a:srgbClr val="131D31"/>
            </a:solidFill>
            <a:prstDash val="solid"/>
          </a:ln>
        </p:spPr>
        <p:txBody>
          <a:bodyPr/>
          <a:lstStyle/>
          <a:p>
            <a:endParaRPr lang="fr-FR"/>
          </a:p>
        </p:txBody>
      </p:sp>
      <p:sp>
        <p:nvSpPr>
          <p:cNvPr id="5" name="Text 3"/>
          <p:cNvSpPr txBox="1"/>
          <p:nvPr/>
        </p:nvSpPr>
        <p:spPr>
          <a:xfrm>
            <a:off x="685800" y="1463040"/>
            <a:ext cx="3566160" cy="228600"/>
          </a:xfrm>
          <a:prstGeom prst="rect">
            <a:avLst/>
          </a:prstGeom>
          <a:noFill/>
          <a:ln/>
        </p:spPr>
        <p:txBody>
          <a:bodyPr wrap="square" lIns="0" tIns="0" rIns="0" bIns="0" rtlCol="0" anchor="t"/>
          <a:lstStyle/>
          <a:p>
            <a:pPr marL="0" indent="0">
              <a:buNone/>
            </a:pPr>
            <a:r>
              <a:rPr lang="en-US" sz="900" dirty="0">
                <a:solidFill>
                  <a:srgbClr val="2DD4BF"/>
                </a:solidFill>
                <a:latin typeface="Consolas" pitchFamily="34" charset="0"/>
                <a:ea typeface="Consolas" pitchFamily="34" charset="-122"/>
                <a:cs typeface="Consolas" pitchFamily="34" charset="-120"/>
              </a:rPr>
              <a:t>FORME (AVANT L’AUDIT)</a:t>
            </a:r>
            <a:endParaRPr lang="en-US" sz="900" dirty="0"/>
          </a:p>
        </p:txBody>
      </p:sp>
      <p:sp>
        <p:nvSpPr>
          <p:cNvPr id="6" name="Text 4"/>
          <p:cNvSpPr txBox="1"/>
          <p:nvPr/>
        </p:nvSpPr>
        <p:spPr>
          <a:xfrm>
            <a:off x="685800" y="1691640"/>
            <a:ext cx="3566160" cy="685800"/>
          </a:xfrm>
          <a:prstGeom prst="rect">
            <a:avLst/>
          </a:prstGeom>
          <a:noFill/>
          <a:ln/>
        </p:spPr>
        <p:txBody>
          <a:bodyPr wrap="square" lIns="0" tIns="0" rIns="0" bIns="0" rtlCol="0" anchor="t"/>
          <a:lstStyle/>
          <a:p>
            <a:pPr marL="0" indent="0">
              <a:buNone/>
            </a:pPr>
            <a:r>
              <a:rPr lang="en-US" sz="4400" dirty="0">
                <a:solidFill>
                  <a:srgbClr val="2DD4BF"/>
                </a:solidFill>
                <a:latin typeface="Segoe UI Semibold" pitchFamily="34" charset="0"/>
                <a:ea typeface="Segoe UI Semibold" pitchFamily="34" charset="-122"/>
                <a:cs typeface="Segoe UI Semibold" pitchFamily="34" charset="-120"/>
              </a:rPr>
              <a:t>13/13</a:t>
            </a:r>
            <a:endParaRPr lang="en-US" sz="4400" dirty="0"/>
          </a:p>
        </p:txBody>
      </p:sp>
      <p:sp>
        <p:nvSpPr>
          <p:cNvPr id="7" name="Text 5"/>
          <p:cNvSpPr txBox="1"/>
          <p:nvPr/>
        </p:nvSpPr>
        <p:spPr>
          <a:xfrm>
            <a:off x="685800" y="2468880"/>
            <a:ext cx="3474720" cy="822960"/>
          </a:xfrm>
          <a:prstGeom prst="rect">
            <a:avLst/>
          </a:prstGeom>
          <a:noFill/>
          <a:ln/>
        </p:spPr>
        <p:txBody>
          <a:bodyPr wrap="square" lIns="0" tIns="0" rIns="0" bIns="0" rtlCol="0" anchor="t"/>
          <a:lstStyle/>
          <a:p>
            <a:pPr marL="0" indent="0">
              <a:buNone/>
            </a:pPr>
            <a:r>
              <a:rPr lang="en-US" sz="1100" dirty="0">
                <a:solidFill>
                  <a:srgbClr val="CBD5E1"/>
                </a:solidFill>
                <a:latin typeface="Segoe UI" pitchFamily="34" charset="0"/>
                <a:ea typeface="Segoe UI" pitchFamily="34" charset="-122"/>
                <a:cs typeface="Segoe UI" pitchFamily="34" charset="-120"/>
              </a:rPr>
              <a:t>risques au bon format, chacun avec une source présente dans l’index. e21-controle : OK.</a:t>
            </a:r>
            <a:endParaRPr lang="en-US" sz="1100" dirty="0"/>
          </a:p>
        </p:txBody>
      </p:sp>
      <p:sp>
        <p:nvSpPr>
          <p:cNvPr id="8" name="Shape 6"/>
          <p:cNvSpPr/>
          <p:nvPr/>
        </p:nvSpPr>
        <p:spPr>
          <a:xfrm>
            <a:off x="4754880" y="1325880"/>
            <a:ext cx="3931920" cy="2103120"/>
          </a:xfrm>
          <a:prstGeom prst="roundRect">
            <a:avLst>
              <a:gd name="adj" fmla="val 3478"/>
            </a:avLst>
          </a:prstGeom>
          <a:solidFill>
            <a:srgbClr val="131D31"/>
          </a:solidFill>
          <a:ln w="12700">
            <a:solidFill>
              <a:srgbClr val="131D31"/>
            </a:solidFill>
            <a:prstDash val="solid"/>
          </a:ln>
        </p:spPr>
        <p:txBody>
          <a:bodyPr/>
          <a:lstStyle/>
          <a:p>
            <a:endParaRPr lang="fr-FR"/>
          </a:p>
        </p:txBody>
      </p:sp>
      <p:sp>
        <p:nvSpPr>
          <p:cNvPr id="9" name="Text 7"/>
          <p:cNvSpPr txBox="1"/>
          <p:nvPr/>
        </p:nvSpPr>
        <p:spPr>
          <a:xfrm>
            <a:off x="4983480" y="1463040"/>
            <a:ext cx="3566160" cy="228600"/>
          </a:xfrm>
          <a:prstGeom prst="rect">
            <a:avLst/>
          </a:prstGeom>
          <a:noFill/>
          <a:ln/>
        </p:spPr>
        <p:txBody>
          <a:bodyPr wrap="square" lIns="0" tIns="0" rIns="0" bIns="0" rtlCol="0" anchor="t"/>
          <a:lstStyle/>
          <a:p>
            <a:pPr marL="0" indent="0">
              <a:buNone/>
            </a:pPr>
            <a:r>
              <a:rPr lang="en-US" sz="900" dirty="0">
                <a:solidFill>
                  <a:srgbClr val="FB923C"/>
                </a:solidFill>
                <a:latin typeface="Consolas" pitchFamily="34" charset="0"/>
                <a:ea typeface="Consolas" pitchFamily="34" charset="-122"/>
                <a:cs typeface="Consolas" pitchFamily="34" charset="-120"/>
              </a:rPr>
              <a:t>CONTENU (AVANT L’AUDIT)</a:t>
            </a:r>
            <a:endParaRPr lang="en-US" sz="900" dirty="0"/>
          </a:p>
        </p:txBody>
      </p:sp>
      <p:sp>
        <p:nvSpPr>
          <p:cNvPr id="10" name="Text 8"/>
          <p:cNvSpPr txBox="1"/>
          <p:nvPr/>
        </p:nvSpPr>
        <p:spPr>
          <a:xfrm>
            <a:off x="4983480" y="1691640"/>
            <a:ext cx="3566160" cy="685800"/>
          </a:xfrm>
          <a:prstGeom prst="rect">
            <a:avLst/>
          </a:prstGeom>
          <a:noFill/>
          <a:ln/>
        </p:spPr>
        <p:txBody>
          <a:bodyPr wrap="square" lIns="0" tIns="0" rIns="0" bIns="0" rtlCol="0" anchor="t"/>
          <a:lstStyle/>
          <a:p>
            <a:pPr marL="0" indent="0">
              <a:buNone/>
            </a:pPr>
            <a:r>
              <a:rPr lang="en-US" sz="4400" dirty="0">
                <a:solidFill>
                  <a:srgbClr val="FB923C"/>
                </a:solidFill>
                <a:latin typeface="Segoe UI Semibold" pitchFamily="34" charset="0"/>
                <a:ea typeface="Segoe UI Semibold" pitchFamily="34" charset="-122"/>
                <a:cs typeface="Segoe UI Semibold" pitchFamily="34" charset="-120"/>
              </a:rPr>
              <a:t>10/13</a:t>
            </a:r>
            <a:endParaRPr lang="en-US" sz="4400" dirty="0"/>
          </a:p>
        </p:txBody>
      </p:sp>
      <p:sp>
        <p:nvSpPr>
          <p:cNvPr id="11" name="Text 9"/>
          <p:cNvSpPr txBox="1"/>
          <p:nvPr/>
        </p:nvSpPr>
        <p:spPr>
          <a:xfrm>
            <a:off x="4983480" y="2468880"/>
            <a:ext cx="3474720" cy="822960"/>
          </a:xfrm>
          <a:prstGeom prst="rect">
            <a:avLst/>
          </a:prstGeom>
          <a:noFill/>
          <a:ln/>
        </p:spPr>
        <p:txBody>
          <a:bodyPr wrap="square" lIns="0" tIns="0" rIns="0" bIns="0" rtlCol="0" anchor="t"/>
          <a:lstStyle/>
          <a:p>
            <a:pPr marL="0" indent="0">
              <a:buNone/>
            </a:pPr>
            <a:r>
              <a:rPr lang="en-US" sz="1100" dirty="0">
                <a:solidFill>
                  <a:srgbClr val="CBD5E1"/>
                </a:solidFill>
                <a:latin typeface="Segoe UI" pitchFamily="34" charset="0"/>
                <a:ea typeface="Segoe UI" pitchFamily="34" charset="-122"/>
                <a:cs typeface="Segoe UI" pitchFamily="34" charset="-120"/>
              </a:rPr>
              <a:t>risques citaient un identifiant ISO 27002 faux ou inexistant. Aucun contrôle ne l’avait vu.</a:t>
            </a:r>
            <a:endParaRPr lang="en-US" sz="1100" dirty="0"/>
          </a:p>
        </p:txBody>
      </p:sp>
      <p:sp>
        <p:nvSpPr>
          <p:cNvPr id="12" name="Text 10"/>
          <p:cNvSpPr txBox="1"/>
          <p:nvPr/>
        </p:nvSpPr>
        <p:spPr>
          <a:xfrm>
            <a:off x="457200" y="3703320"/>
            <a:ext cx="8229600" cy="731520"/>
          </a:xfrm>
          <a:prstGeom prst="rect">
            <a:avLst/>
          </a:prstGeom>
          <a:noFill/>
          <a:ln/>
        </p:spPr>
        <p:txBody>
          <a:bodyPr wrap="square" lIns="0" tIns="0" rIns="0" bIns="0" rtlCol="0" anchor="t"/>
          <a:lstStyle/>
          <a:p>
            <a:pPr marL="0" indent="0">
              <a:buNone/>
            </a:pPr>
            <a:r>
              <a:rPr lang="en-US" sz="1300" dirty="0">
                <a:solidFill>
                  <a:srgbClr val="2DD4BF"/>
                </a:solidFill>
                <a:latin typeface="Segoe UI Semibold" pitchFamily="34" charset="0"/>
                <a:ea typeface="Segoe UI Semibold" pitchFamily="34" charset="-122"/>
                <a:cs typeface="Segoe UI Semibold" pitchFamily="34" charset="-120"/>
              </a:rPr>
              <a:t>Leçon : </a:t>
            </a:r>
            <a:r>
              <a:rPr lang="en-US" sz="1300" dirty="0">
                <a:solidFill>
                  <a:srgbClr val="FFFFFF"/>
                </a:solidFill>
                <a:latin typeface="Segoe UI" pitchFamily="34" charset="0"/>
                <a:ea typeface="Segoe UI" pitchFamily="34" charset="-122"/>
                <a:cs typeface="Segoe UI" pitchFamily="34" charset="-120"/>
              </a:rPr>
              <a:t>vérifier contre une référence externe fermée (index ISO 2022 canonique, T-10), pas contre ce que le système a lui-même produit. Et garder l’humain pour valider.</a:t>
            </a:r>
            <a:endParaRPr lang="en-US" sz="1300" dirty="0"/>
          </a:p>
        </p:txBody>
      </p:sp>
      <p:sp>
        <p:nvSpPr>
          <p:cNvPr id="13" name="Text 11"/>
          <p:cNvSpPr txBox="1"/>
          <p:nvPr/>
        </p:nvSpPr>
        <p:spPr>
          <a:xfrm>
            <a:off x="8321040" y="4800600"/>
            <a:ext cx="365760" cy="182880"/>
          </a:xfrm>
          <a:prstGeom prst="rect">
            <a:avLst/>
          </a:prstGeom>
          <a:noFill/>
          <a:ln/>
        </p:spPr>
        <p:txBody>
          <a:bodyPr wrap="square" lIns="0" tIns="0" rIns="0" bIns="0" rtlCol="0" anchor="t"/>
          <a:lstStyle/>
          <a:p>
            <a:pPr marL="0" indent="0" algn="r">
              <a:buNone/>
            </a:pPr>
            <a:r>
              <a:rPr lang="en-US" sz="800" dirty="0">
                <a:solidFill>
                  <a:srgbClr val="94A3B8"/>
                </a:solidFill>
                <a:latin typeface="Consolas" pitchFamily="34" charset="0"/>
                <a:ea typeface="Consolas" pitchFamily="34" charset="-122"/>
                <a:cs typeface="Consolas" pitchFamily="34" charset="-120"/>
              </a:rPr>
              <a:t>18</a:t>
            </a:r>
            <a:endParaRPr lang="en-US" sz="800" dirty="0"/>
          </a:p>
        </p:txBody>
      </p:sp>
      <p:sp>
        <p:nvSpPr>
          <p:cNvPr id="14" name="Text 12"/>
          <p:cNvSpPr txBox="1"/>
          <p:nvPr/>
        </p:nvSpPr>
        <p:spPr>
          <a:xfrm>
            <a:off x="457200" y="4800600"/>
            <a:ext cx="3657600" cy="182880"/>
          </a:xfrm>
          <a:prstGeom prst="rect">
            <a:avLst/>
          </a:prstGeom>
          <a:noFill/>
          <a:ln/>
        </p:spPr>
        <p:txBody>
          <a:bodyPr wrap="square" lIns="0" tIns="0" rIns="0" bIns="0" rtlCol="0" anchor="t"/>
          <a:lstStyle/>
          <a:p>
            <a:pPr marL="0" indent="0">
              <a:buNone/>
            </a:pPr>
            <a:r>
              <a:rPr lang="en-US" sz="800" dirty="0">
                <a:solidFill>
                  <a:srgbClr val="94A3B8"/>
                </a:solidFill>
                <a:latin typeface="Consolas" pitchFamily="34" charset="0"/>
                <a:ea typeface="Consolas" pitchFamily="34" charset="-122"/>
                <a:cs typeface="Consolas" pitchFamily="34" charset="-120"/>
              </a:rPr>
              <a:t>E21 · Agents IA &amp; analyse de risques</a:t>
            </a:r>
            <a:endParaRPr lang="en-US" sz="8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457200" y="292608"/>
            <a:ext cx="8229600" cy="228600"/>
          </a:xfrm>
          <a:prstGeom prst="rect">
            <a:avLst/>
          </a:prstGeom>
          <a:noFill/>
        </p:spPr>
        <p:txBody>
          <a:bodyPr wrap="square" lIns="0" rIns="0" tIns="0" bIns="0" anchor="t">
            <a:spAutoFit/>
          </a:bodyPr>
          <a:lstStyle/>
          <a:p>
            <a:r>
              <a:rPr sz="1000" b="0">
                <a:solidFill>
                  <a:srgbClr val="0D9488"/>
                </a:solidFill>
                <a:latin typeface="Consolas"/>
              </a:rPr>
              <a:t>V1 → V2 · LIMITES</a:t>
            </a:r>
          </a:p>
        </p:txBody>
      </p:sp>
      <p:sp>
        <p:nvSpPr>
          <p:cNvPr id="3" name="TextBox 2"/>
          <p:cNvSpPr txBox="1"/>
          <p:nvPr/>
        </p:nvSpPr>
        <p:spPr>
          <a:xfrm>
            <a:off x="457200" y="502920"/>
            <a:ext cx="8229600" cy="548640"/>
          </a:xfrm>
          <a:prstGeom prst="rect">
            <a:avLst/>
          </a:prstGeom>
          <a:noFill/>
        </p:spPr>
        <p:txBody>
          <a:bodyPr wrap="square" lIns="0" rIns="0" tIns="0" bIns="0" anchor="t">
            <a:spAutoFit/>
          </a:bodyPr>
          <a:lstStyle/>
          <a:p>
            <a:r>
              <a:rPr sz="2400" b="0">
                <a:solidFill>
                  <a:srgbClr val="0F172A"/>
                </a:solidFill>
                <a:latin typeface="Segoe UI Semibold"/>
              </a:rPr>
              <a:t>Ce que la V1 ne faisait pas, et ce que la V2 fait</a:t>
            </a:r>
          </a:p>
        </p:txBody>
      </p:sp>
      <p:sp>
        <p:nvSpPr>
          <p:cNvPr id="4" name="Rectangle 3"/>
          <p:cNvSpPr/>
          <p:nvPr/>
        </p:nvSpPr>
        <p:spPr>
          <a:xfrm>
            <a:off x="457200" y="1234440"/>
            <a:ext cx="3291840" cy="42062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234440"/>
            <a:ext cx="3108960" cy="420624"/>
          </a:xfrm>
          <a:prstGeom prst="rect">
            <a:avLst/>
          </a:prstGeom>
          <a:noFill/>
        </p:spPr>
        <p:txBody>
          <a:bodyPr wrap="square" lIns="0" rIns="0" tIns="0" bIns="0" anchor="ctr">
            <a:spAutoFit/>
          </a:bodyPr>
          <a:lstStyle/>
          <a:p>
            <a:r>
              <a:rPr sz="1000" b="0">
                <a:solidFill>
                  <a:srgbClr val="FFFFFF"/>
                </a:solidFill>
                <a:latin typeface="Segoe UI Semibold"/>
              </a:rPr>
              <a:t>La V1 annonçait…</a:t>
            </a:r>
          </a:p>
        </p:txBody>
      </p:sp>
      <p:sp>
        <p:nvSpPr>
          <p:cNvPr id="6" name="Rectangle 5"/>
          <p:cNvSpPr/>
          <p:nvPr/>
        </p:nvSpPr>
        <p:spPr>
          <a:xfrm>
            <a:off x="3749039" y="1234440"/>
            <a:ext cx="3931920" cy="42062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840479" y="1234440"/>
            <a:ext cx="3749039" cy="420624"/>
          </a:xfrm>
          <a:prstGeom prst="rect">
            <a:avLst/>
          </a:prstGeom>
          <a:noFill/>
        </p:spPr>
        <p:txBody>
          <a:bodyPr wrap="square" lIns="0" rIns="0" tIns="0" bIns="0" anchor="ctr">
            <a:spAutoFit/>
          </a:bodyPr>
          <a:lstStyle/>
          <a:p>
            <a:r>
              <a:rPr sz="1000" b="0">
                <a:solidFill>
                  <a:srgbClr val="FFFFFF"/>
                </a:solidFill>
                <a:latin typeface="Segoe UI Semibold"/>
              </a:rPr>
              <a:t>En V2</a:t>
            </a:r>
          </a:p>
        </p:txBody>
      </p:sp>
      <p:sp>
        <p:nvSpPr>
          <p:cNvPr id="8" name="Rectangle 7"/>
          <p:cNvSpPr/>
          <p:nvPr/>
        </p:nvSpPr>
        <p:spPr>
          <a:xfrm>
            <a:off x="7680959" y="1234440"/>
            <a:ext cx="1005840" cy="42062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399" y="1234440"/>
            <a:ext cx="822960" cy="420624"/>
          </a:xfrm>
          <a:prstGeom prst="rect">
            <a:avLst/>
          </a:prstGeom>
          <a:noFill/>
        </p:spPr>
        <p:txBody>
          <a:bodyPr wrap="square" lIns="0" rIns="0" tIns="0" bIns="0" anchor="ctr">
            <a:spAutoFit/>
          </a:bodyPr>
          <a:lstStyle/>
          <a:p>
            <a:r>
              <a:rPr sz="1000" b="0">
                <a:solidFill>
                  <a:srgbClr val="FFFFFF"/>
                </a:solidFill>
                <a:latin typeface="Segoe UI Semibold"/>
              </a:rPr>
              <a:t>Statut</a:t>
            </a:r>
          </a:p>
        </p:txBody>
      </p:sp>
      <p:sp>
        <p:nvSpPr>
          <p:cNvPr id="10" name="Rectangle 9"/>
          <p:cNvSpPr/>
          <p:nvPr/>
        </p:nvSpPr>
        <p:spPr>
          <a:xfrm>
            <a:off x="457200" y="1655064"/>
            <a:ext cx="3291840" cy="42062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655064"/>
            <a:ext cx="3108960" cy="420624"/>
          </a:xfrm>
          <a:prstGeom prst="rect">
            <a:avLst/>
          </a:prstGeom>
          <a:noFill/>
        </p:spPr>
        <p:txBody>
          <a:bodyPr wrap="square" lIns="0" rIns="0" tIns="0" bIns="0" anchor="ctr">
            <a:spAutoFit/>
          </a:bodyPr>
          <a:lstStyle/>
          <a:p>
            <a:r>
              <a:rPr sz="1000" b="0">
                <a:solidFill>
                  <a:srgbClr val="0F172A"/>
                </a:solidFill>
                <a:latin typeface="Segoe UI Semibold"/>
              </a:rPr>
              <a:t>Pas de lecture automatique des documents</a:t>
            </a:r>
          </a:p>
        </p:txBody>
      </p:sp>
      <p:sp>
        <p:nvSpPr>
          <p:cNvPr id="12" name="Rectangle 11"/>
          <p:cNvSpPr/>
          <p:nvPr/>
        </p:nvSpPr>
        <p:spPr>
          <a:xfrm>
            <a:off x="3749039" y="1655064"/>
            <a:ext cx="3931920" cy="42062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840479" y="1655064"/>
            <a:ext cx="3749039" cy="420624"/>
          </a:xfrm>
          <a:prstGeom prst="rect">
            <a:avLst/>
          </a:prstGeom>
          <a:noFill/>
        </p:spPr>
        <p:txBody>
          <a:bodyPr wrap="square" lIns="0" rIns="0" tIns="0" bIns="0" anchor="ctr">
            <a:spAutoFit/>
          </a:bodyPr>
          <a:lstStyle/>
          <a:p>
            <a:r>
              <a:rPr sz="1000" b="0">
                <a:solidFill>
                  <a:srgbClr val="0F172A"/>
                </a:solidFill>
                <a:latin typeface="Segoe UI"/>
              </a:rPr>
              <a:t>Sept formats (PDF, OCR, Office, ZIP), tout intrant = donnée</a:t>
            </a:r>
          </a:p>
        </p:txBody>
      </p:sp>
      <p:sp>
        <p:nvSpPr>
          <p:cNvPr id="14" name="Rectangle 13"/>
          <p:cNvSpPr/>
          <p:nvPr/>
        </p:nvSpPr>
        <p:spPr>
          <a:xfrm>
            <a:off x="7680959" y="1655064"/>
            <a:ext cx="1005840" cy="42062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772399" y="1655064"/>
            <a:ext cx="822960" cy="420624"/>
          </a:xfrm>
          <a:prstGeom prst="rect">
            <a:avLst/>
          </a:prstGeom>
          <a:noFill/>
        </p:spPr>
        <p:txBody>
          <a:bodyPr wrap="square" lIns="0" rIns="0" tIns="0" bIns="0" anchor="ctr">
            <a:spAutoFit/>
          </a:bodyPr>
          <a:lstStyle/>
          <a:p>
            <a:r>
              <a:rPr sz="1000" b="0">
                <a:solidFill>
                  <a:srgbClr val="0F172A"/>
                </a:solidFill>
                <a:latin typeface="Segoe UI"/>
              </a:rPr>
              <a:t>Fait</a:t>
            </a:r>
          </a:p>
        </p:txBody>
      </p:sp>
      <p:sp>
        <p:nvSpPr>
          <p:cNvPr id="16" name="Rectangle 15"/>
          <p:cNvSpPr/>
          <p:nvPr/>
        </p:nvSpPr>
        <p:spPr>
          <a:xfrm>
            <a:off x="457200" y="2075688"/>
            <a:ext cx="3291840" cy="420624"/>
          </a:xfrm>
          <a:prstGeom prst="rect">
            <a:avLst/>
          </a:prstGeom>
          <a:solidFill>
            <a:srgbClr val="F4F7FA"/>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48640" y="2075688"/>
            <a:ext cx="3108960" cy="420624"/>
          </a:xfrm>
          <a:prstGeom prst="rect">
            <a:avLst/>
          </a:prstGeom>
          <a:noFill/>
        </p:spPr>
        <p:txBody>
          <a:bodyPr wrap="square" lIns="0" rIns="0" tIns="0" bIns="0" anchor="ctr">
            <a:spAutoFit/>
          </a:bodyPr>
          <a:lstStyle/>
          <a:p>
            <a:r>
              <a:rPr sz="1000" b="0">
                <a:solidFill>
                  <a:srgbClr val="0F172A"/>
                </a:solidFill>
                <a:latin typeface="Segoe UI Semibold"/>
              </a:rPr>
              <a:t>Pas d'interface, éditeur opencode seul</a:t>
            </a:r>
          </a:p>
        </p:txBody>
      </p:sp>
      <p:sp>
        <p:nvSpPr>
          <p:cNvPr id="18" name="Rectangle 17"/>
          <p:cNvSpPr/>
          <p:nvPr/>
        </p:nvSpPr>
        <p:spPr>
          <a:xfrm>
            <a:off x="3749039" y="2075688"/>
            <a:ext cx="3931920" cy="420624"/>
          </a:xfrm>
          <a:prstGeom prst="rect">
            <a:avLst/>
          </a:prstGeom>
          <a:solidFill>
            <a:srgbClr val="F4F7FA"/>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840479" y="2075688"/>
            <a:ext cx="3749039" cy="420624"/>
          </a:xfrm>
          <a:prstGeom prst="rect">
            <a:avLst/>
          </a:prstGeom>
          <a:noFill/>
        </p:spPr>
        <p:txBody>
          <a:bodyPr wrap="square" lIns="0" rIns="0" tIns="0" bIns="0" anchor="ctr">
            <a:spAutoFit/>
          </a:bodyPr>
          <a:lstStyle/>
          <a:p>
            <a:r>
              <a:rPr sz="1000" b="0">
                <a:solidFill>
                  <a:srgbClr val="0F172A"/>
                </a:solidFill>
                <a:latin typeface="Segoe UI"/>
              </a:rPr>
              <a:t>Site en quatre étapes, Studio, exports PDF / HTML / ZIP</a:t>
            </a:r>
          </a:p>
        </p:txBody>
      </p:sp>
      <p:sp>
        <p:nvSpPr>
          <p:cNvPr id="20" name="Rectangle 19"/>
          <p:cNvSpPr/>
          <p:nvPr/>
        </p:nvSpPr>
        <p:spPr>
          <a:xfrm>
            <a:off x="7680959" y="2075688"/>
            <a:ext cx="1005840" cy="420624"/>
          </a:xfrm>
          <a:prstGeom prst="rect">
            <a:avLst/>
          </a:prstGeom>
          <a:solidFill>
            <a:srgbClr val="F4F7FA"/>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772399" y="2075688"/>
            <a:ext cx="822960" cy="420624"/>
          </a:xfrm>
          <a:prstGeom prst="rect">
            <a:avLst/>
          </a:prstGeom>
          <a:noFill/>
        </p:spPr>
        <p:txBody>
          <a:bodyPr wrap="square" lIns="0" rIns="0" tIns="0" bIns="0" anchor="ctr">
            <a:spAutoFit/>
          </a:bodyPr>
          <a:lstStyle/>
          <a:p>
            <a:r>
              <a:rPr sz="1000" b="0">
                <a:solidFill>
                  <a:srgbClr val="0F172A"/>
                </a:solidFill>
                <a:latin typeface="Segoe UI"/>
              </a:rPr>
              <a:t>Fait</a:t>
            </a:r>
          </a:p>
        </p:txBody>
      </p:sp>
      <p:sp>
        <p:nvSpPr>
          <p:cNvPr id="22" name="Rectangle 21"/>
          <p:cNvSpPr/>
          <p:nvPr/>
        </p:nvSpPr>
        <p:spPr>
          <a:xfrm>
            <a:off x="457200" y="2496312"/>
            <a:ext cx="3291840" cy="42062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48640" y="2496312"/>
            <a:ext cx="3108960" cy="420624"/>
          </a:xfrm>
          <a:prstGeom prst="rect">
            <a:avLst/>
          </a:prstGeom>
          <a:noFill/>
        </p:spPr>
        <p:txBody>
          <a:bodyPr wrap="square" lIns="0" rIns="0" tIns="0" bIns="0" anchor="ctr">
            <a:spAutoFit/>
          </a:bodyPr>
          <a:lstStyle/>
          <a:p>
            <a:r>
              <a:rPr sz="1000" b="0">
                <a:solidFill>
                  <a:srgbClr val="0F172A"/>
                </a:solidFill>
                <a:latin typeface="Segoe UI Semibold"/>
              </a:rPr>
              <a:t>Modèle cloud, local « en roadmap »</a:t>
            </a:r>
          </a:p>
        </p:txBody>
      </p:sp>
      <p:sp>
        <p:nvSpPr>
          <p:cNvPr id="24" name="Rectangle 23"/>
          <p:cNvSpPr/>
          <p:nvPr/>
        </p:nvSpPr>
        <p:spPr>
          <a:xfrm>
            <a:off x="3749039" y="2496312"/>
            <a:ext cx="3931920" cy="42062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840479" y="2496312"/>
            <a:ext cx="3749039" cy="420624"/>
          </a:xfrm>
          <a:prstGeom prst="rect">
            <a:avLst/>
          </a:prstGeom>
          <a:noFill/>
        </p:spPr>
        <p:txBody>
          <a:bodyPr wrap="square" lIns="0" rIns="0" tIns="0" bIns="0" anchor="ctr">
            <a:spAutoFit/>
          </a:bodyPr>
          <a:lstStyle/>
          <a:p>
            <a:r>
              <a:rPr sz="1000" b="0">
                <a:solidFill>
                  <a:srgbClr val="0F172A"/>
                </a:solidFill>
                <a:latin typeface="Segoe UI"/>
              </a:rPr>
              <a:t>Chaîne 100 % locale (Ollama), un modèle par rôle</a:t>
            </a:r>
          </a:p>
        </p:txBody>
      </p:sp>
      <p:sp>
        <p:nvSpPr>
          <p:cNvPr id="26" name="Rectangle 25"/>
          <p:cNvSpPr/>
          <p:nvPr/>
        </p:nvSpPr>
        <p:spPr>
          <a:xfrm>
            <a:off x="7680959" y="2496312"/>
            <a:ext cx="1005840" cy="42062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772399" y="2496312"/>
            <a:ext cx="822960" cy="420624"/>
          </a:xfrm>
          <a:prstGeom prst="rect">
            <a:avLst/>
          </a:prstGeom>
          <a:noFill/>
        </p:spPr>
        <p:txBody>
          <a:bodyPr wrap="square" lIns="0" rIns="0" tIns="0" bIns="0" anchor="ctr">
            <a:spAutoFit/>
          </a:bodyPr>
          <a:lstStyle/>
          <a:p>
            <a:r>
              <a:rPr sz="1000" b="0">
                <a:solidFill>
                  <a:srgbClr val="0F172A"/>
                </a:solidFill>
                <a:latin typeface="Segoe UI"/>
              </a:rPr>
              <a:t>Fait</a:t>
            </a:r>
          </a:p>
        </p:txBody>
      </p:sp>
      <p:sp>
        <p:nvSpPr>
          <p:cNvPr id="28" name="Rectangle 27"/>
          <p:cNvSpPr/>
          <p:nvPr/>
        </p:nvSpPr>
        <p:spPr>
          <a:xfrm>
            <a:off x="457200" y="2916936"/>
            <a:ext cx="3291840" cy="420624"/>
          </a:xfrm>
          <a:prstGeom prst="rect">
            <a:avLst/>
          </a:prstGeom>
          <a:solidFill>
            <a:srgbClr val="F4F7FA"/>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48640" y="2916936"/>
            <a:ext cx="3108960" cy="420624"/>
          </a:xfrm>
          <a:prstGeom prst="rect">
            <a:avLst/>
          </a:prstGeom>
          <a:noFill/>
        </p:spPr>
        <p:txBody>
          <a:bodyPr wrap="square" lIns="0" rIns="0" tIns="0" bIns="0" anchor="ctr">
            <a:spAutoFit/>
          </a:bodyPr>
          <a:lstStyle/>
          <a:p>
            <a:r>
              <a:rPr sz="1000" b="0">
                <a:solidFill>
                  <a:srgbClr val="0F172A"/>
                </a:solidFill>
                <a:latin typeface="Segoe UI Semibold"/>
              </a:rPr>
              <a:t>Analyse manuelle de référence, test d'injection réel</a:t>
            </a:r>
          </a:p>
        </p:txBody>
      </p:sp>
      <p:sp>
        <p:nvSpPr>
          <p:cNvPr id="30" name="Rectangle 29"/>
          <p:cNvSpPr/>
          <p:nvPr/>
        </p:nvSpPr>
        <p:spPr>
          <a:xfrm>
            <a:off x="3749039" y="2916936"/>
            <a:ext cx="3931920" cy="420624"/>
          </a:xfrm>
          <a:prstGeom prst="rect">
            <a:avLst/>
          </a:prstGeom>
          <a:solidFill>
            <a:srgbClr val="F4F7FA"/>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3840479" y="2916936"/>
            <a:ext cx="3749039" cy="420624"/>
          </a:xfrm>
          <a:prstGeom prst="rect">
            <a:avLst/>
          </a:prstGeom>
          <a:noFill/>
        </p:spPr>
        <p:txBody>
          <a:bodyPr wrap="square" lIns="0" rIns="0" tIns="0" bIns="0" anchor="ctr">
            <a:spAutoFit/>
          </a:bodyPr>
          <a:lstStyle/>
          <a:p>
            <a:r>
              <a:rPr sz="1000" b="0">
                <a:solidFill>
                  <a:srgbClr val="0F172A"/>
                </a:solidFill>
                <a:latin typeface="Segoe UI"/>
              </a:rPr>
              <a:t>Réalisés le 04/10 (9 menaces sur 12 retrouvées ; T-11 archivé)</a:t>
            </a:r>
          </a:p>
        </p:txBody>
      </p:sp>
      <p:sp>
        <p:nvSpPr>
          <p:cNvPr id="32" name="Rectangle 31"/>
          <p:cNvSpPr/>
          <p:nvPr/>
        </p:nvSpPr>
        <p:spPr>
          <a:xfrm>
            <a:off x="7680959" y="2916936"/>
            <a:ext cx="1005840" cy="420624"/>
          </a:xfrm>
          <a:prstGeom prst="rect">
            <a:avLst/>
          </a:prstGeom>
          <a:solidFill>
            <a:srgbClr val="F4F7FA"/>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772399" y="2916936"/>
            <a:ext cx="822960" cy="420624"/>
          </a:xfrm>
          <a:prstGeom prst="rect">
            <a:avLst/>
          </a:prstGeom>
          <a:noFill/>
        </p:spPr>
        <p:txBody>
          <a:bodyPr wrap="square" lIns="0" rIns="0" tIns="0" bIns="0" anchor="ctr">
            <a:spAutoFit/>
          </a:bodyPr>
          <a:lstStyle/>
          <a:p>
            <a:r>
              <a:rPr sz="1000" b="0">
                <a:solidFill>
                  <a:srgbClr val="0F172A"/>
                </a:solidFill>
                <a:latin typeface="Segoe UI"/>
              </a:rPr>
              <a:t>Fait</a:t>
            </a:r>
          </a:p>
        </p:txBody>
      </p:sp>
      <p:sp>
        <p:nvSpPr>
          <p:cNvPr id="34" name="Rectangle 33"/>
          <p:cNvSpPr/>
          <p:nvPr/>
        </p:nvSpPr>
        <p:spPr>
          <a:xfrm>
            <a:off x="457200" y="3337560"/>
            <a:ext cx="3291840" cy="42062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548640" y="3337560"/>
            <a:ext cx="3108960" cy="420624"/>
          </a:xfrm>
          <a:prstGeom prst="rect">
            <a:avLst/>
          </a:prstGeom>
          <a:noFill/>
        </p:spPr>
        <p:txBody>
          <a:bodyPr wrap="square" lIns="0" rIns="0" tIns="0" bIns="0" anchor="ctr">
            <a:spAutoFit/>
          </a:bodyPr>
          <a:lstStyle/>
          <a:p>
            <a:r>
              <a:rPr sz="1000" b="0">
                <a:solidFill>
                  <a:srgbClr val="0F172A"/>
                </a:solidFill>
                <a:latin typeface="Segoe UI Semibold"/>
              </a:rPr>
              <a:t>Pas de supervision continue</a:t>
            </a:r>
          </a:p>
        </p:txBody>
      </p:sp>
      <p:sp>
        <p:nvSpPr>
          <p:cNvPr id="36" name="Rectangle 35"/>
          <p:cNvSpPr/>
          <p:nvPr/>
        </p:nvSpPr>
        <p:spPr>
          <a:xfrm>
            <a:off x="3749039" y="3337560"/>
            <a:ext cx="3931920" cy="42062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3840479" y="3337560"/>
            <a:ext cx="3749039" cy="420624"/>
          </a:xfrm>
          <a:prstGeom prst="rect">
            <a:avLst/>
          </a:prstGeom>
          <a:noFill/>
        </p:spPr>
        <p:txBody>
          <a:bodyPr wrap="square" lIns="0" rIns="0" tIns="0" bIns="0" anchor="ctr">
            <a:spAutoFit/>
          </a:bodyPr>
          <a:lstStyle/>
          <a:p>
            <a:r>
              <a:rPr sz="1000" b="0">
                <a:solidFill>
                  <a:srgbClr val="0F172A"/>
                </a:solidFill>
                <a:latin typeface="Segoe UI"/>
              </a:rPr>
              <a:t>Mise à jour incrémentale ; pas de supervision temps réel</a:t>
            </a:r>
          </a:p>
        </p:txBody>
      </p:sp>
      <p:sp>
        <p:nvSpPr>
          <p:cNvPr id="38" name="Rectangle 37"/>
          <p:cNvSpPr/>
          <p:nvPr/>
        </p:nvSpPr>
        <p:spPr>
          <a:xfrm>
            <a:off x="7680959" y="3337560"/>
            <a:ext cx="1005840" cy="42062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7772399" y="3337560"/>
            <a:ext cx="822960" cy="420624"/>
          </a:xfrm>
          <a:prstGeom prst="rect">
            <a:avLst/>
          </a:prstGeom>
          <a:noFill/>
        </p:spPr>
        <p:txBody>
          <a:bodyPr wrap="square" lIns="0" rIns="0" tIns="0" bIns="0" anchor="ctr">
            <a:spAutoFit/>
          </a:bodyPr>
          <a:lstStyle/>
          <a:p>
            <a:r>
              <a:rPr sz="1000" b="0">
                <a:solidFill>
                  <a:srgbClr val="0F172A"/>
                </a:solidFill>
                <a:latin typeface="Segoe UI"/>
              </a:rPr>
              <a:t>Partiel</a:t>
            </a:r>
          </a:p>
        </p:txBody>
      </p:sp>
      <p:sp>
        <p:nvSpPr>
          <p:cNvPr id="40" name="Rectangle 39"/>
          <p:cNvSpPr/>
          <p:nvPr/>
        </p:nvSpPr>
        <p:spPr>
          <a:xfrm>
            <a:off x="457200" y="3758184"/>
            <a:ext cx="3291840" cy="420624"/>
          </a:xfrm>
          <a:prstGeom prst="rect">
            <a:avLst/>
          </a:prstGeom>
          <a:solidFill>
            <a:srgbClr val="F4F7FA"/>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548640" y="3758184"/>
            <a:ext cx="3108960" cy="420624"/>
          </a:xfrm>
          <a:prstGeom prst="rect">
            <a:avLst/>
          </a:prstGeom>
          <a:noFill/>
        </p:spPr>
        <p:txBody>
          <a:bodyPr wrap="square" lIns="0" rIns="0" tIns="0" bIns="0" anchor="ctr">
            <a:spAutoFit/>
          </a:bodyPr>
          <a:lstStyle/>
          <a:p>
            <a:r>
              <a:rPr sz="1000" b="0">
                <a:solidFill>
                  <a:srgbClr val="0F172A"/>
                </a:solidFill>
                <a:latin typeface="Segoe UI Semibold"/>
              </a:rPr>
              <a:t>Pas de scan réseau actif, pas d'analyse de code</a:t>
            </a:r>
          </a:p>
        </p:txBody>
      </p:sp>
      <p:sp>
        <p:nvSpPr>
          <p:cNvPr id="42" name="Rectangle 41"/>
          <p:cNvSpPr/>
          <p:nvPr/>
        </p:nvSpPr>
        <p:spPr>
          <a:xfrm>
            <a:off x="3749039" y="3758184"/>
            <a:ext cx="3931920" cy="420624"/>
          </a:xfrm>
          <a:prstGeom prst="rect">
            <a:avLst/>
          </a:prstGeom>
          <a:solidFill>
            <a:srgbClr val="F4F7FA"/>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3840479" y="3758184"/>
            <a:ext cx="3749039" cy="420624"/>
          </a:xfrm>
          <a:prstGeom prst="rect">
            <a:avLst/>
          </a:prstGeom>
          <a:noFill/>
        </p:spPr>
        <p:txBody>
          <a:bodyPr wrap="square" lIns="0" rIns="0" tIns="0" bIns="0" anchor="ctr">
            <a:spAutoFit/>
          </a:bodyPr>
          <a:lstStyle/>
          <a:p>
            <a:r>
              <a:rPr sz="1000" b="0">
                <a:solidFill>
                  <a:srgbClr val="0F172A"/>
                </a:solidFill>
                <a:latin typeface="Segoe UI"/>
              </a:rPr>
              <a:t>Inchangé volontairement</a:t>
            </a:r>
          </a:p>
        </p:txBody>
      </p:sp>
      <p:sp>
        <p:nvSpPr>
          <p:cNvPr id="44" name="Rectangle 43"/>
          <p:cNvSpPr/>
          <p:nvPr/>
        </p:nvSpPr>
        <p:spPr>
          <a:xfrm>
            <a:off x="7680959" y="3758184"/>
            <a:ext cx="1005840" cy="420624"/>
          </a:xfrm>
          <a:prstGeom prst="rect">
            <a:avLst/>
          </a:prstGeom>
          <a:solidFill>
            <a:srgbClr val="F4F7FA"/>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7772399" y="3758184"/>
            <a:ext cx="822960" cy="420624"/>
          </a:xfrm>
          <a:prstGeom prst="rect">
            <a:avLst/>
          </a:prstGeom>
          <a:noFill/>
        </p:spPr>
        <p:txBody>
          <a:bodyPr wrap="square" lIns="0" rIns="0" tIns="0" bIns="0" anchor="ctr">
            <a:spAutoFit/>
          </a:bodyPr>
          <a:lstStyle/>
          <a:p>
            <a:r>
              <a:rPr sz="1000" b="0">
                <a:solidFill>
                  <a:srgbClr val="0F172A"/>
                </a:solidFill>
                <a:latin typeface="Segoe UI"/>
              </a:rPr>
              <a:t>Non</a:t>
            </a:r>
          </a:p>
        </p:txBody>
      </p:sp>
      <p:sp>
        <p:nvSpPr>
          <p:cNvPr id="46" name="Rectangle 45"/>
          <p:cNvSpPr/>
          <p:nvPr/>
        </p:nvSpPr>
        <p:spPr>
          <a:xfrm>
            <a:off x="457200" y="4178808"/>
            <a:ext cx="3291840" cy="42062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548640" y="4178808"/>
            <a:ext cx="3108960" cy="420624"/>
          </a:xfrm>
          <a:prstGeom prst="rect">
            <a:avLst/>
          </a:prstGeom>
          <a:noFill/>
        </p:spPr>
        <p:txBody>
          <a:bodyPr wrap="square" lIns="0" rIns="0" tIns="0" bIns="0" anchor="ctr">
            <a:spAutoFit/>
          </a:bodyPr>
          <a:lstStyle/>
          <a:p>
            <a:r>
              <a:rPr sz="1000" b="0">
                <a:solidFill>
                  <a:srgbClr val="0F172A"/>
                </a:solidFill>
                <a:latin typeface="Segoe UI Semibold"/>
              </a:rPr>
              <a:t>Aucune validation automatique</a:t>
            </a:r>
          </a:p>
        </p:txBody>
      </p:sp>
      <p:sp>
        <p:nvSpPr>
          <p:cNvPr id="48" name="Rectangle 47"/>
          <p:cNvSpPr/>
          <p:nvPr/>
        </p:nvSpPr>
        <p:spPr>
          <a:xfrm>
            <a:off x="3749039" y="4178808"/>
            <a:ext cx="3931920" cy="42062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3840479" y="4178808"/>
            <a:ext cx="3749039" cy="420624"/>
          </a:xfrm>
          <a:prstGeom prst="rect">
            <a:avLst/>
          </a:prstGeom>
          <a:noFill/>
        </p:spPr>
        <p:txBody>
          <a:bodyPr wrap="square" lIns="0" rIns="0" tIns="0" bIns="0" anchor="ctr">
            <a:spAutoFit/>
          </a:bodyPr>
          <a:lstStyle/>
          <a:p>
            <a:r>
              <a:rPr sz="1000" b="0">
                <a:solidFill>
                  <a:srgbClr val="0F172A"/>
                </a:solidFill>
                <a:latin typeface="Segoe UI"/>
              </a:rPr>
              <a:t>Inchangé : `valide_par` humain, décisions conservées</a:t>
            </a:r>
          </a:p>
        </p:txBody>
      </p:sp>
      <p:sp>
        <p:nvSpPr>
          <p:cNvPr id="50" name="Rectangle 49"/>
          <p:cNvSpPr/>
          <p:nvPr/>
        </p:nvSpPr>
        <p:spPr>
          <a:xfrm>
            <a:off x="7680959" y="4178808"/>
            <a:ext cx="1005840" cy="42062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7772399" y="4178808"/>
            <a:ext cx="822960" cy="420624"/>
          </a:xfrm>
          <a:prstGeom prst="rect">
            <a:avLst/>
          </a:prstGeom>
          <a:noFill/>
        </p:spPr>
        <p:txBody>
          <a:bodyPr wrap="square" lIns="0" rIns="0" tIns="0" bIns="0" anchor="ctr">
            <a:spAutoFit/>
          </a:bodyPr>
          <a:lstStyle/>
          <a:p>
            <a:r>
              <a:rPr sz="1000" b="0">
                <a:solidFill>
                  <a:srgbClr val="0F172A"/>
                </a:solidFill>
                <a:latin typeface="Segoe UI"/>
              </a:rPr>
              <a:t>Renforcé</a:t>
            </a:r>
          </a:p>
        </p:txBody>
      </p:sp>
      <p:sp>
        <p:nvSpPr>
          <p:cNvPr id="52" name="TextBox 51"/>
          <p:cNvSpPr txBox="1"/>
          <p:nvPr/>
        </p:nvSpPr>
        <p:spPr>
          <a:xfrm>
            <a:off x="457200" y="4800600"/>
            <a:ext cx="3657600" cy="182880"/>
          </a:xfrm>
          <a:prstGeom prst="rect">
            <a:avLst/>
          </a:prstGeom>
          <a:noFill/>
        </p:spPr>
        <p:txBody>
          <a:bodyPr wrap="square" lIns="0" rIns="0" tIns="0" bIns="0" anchor="t">
            <a:spAutoFit/>
          </a:bodyPr>
          <a:lstStyle/>
          <a:p>
            <a:r>
              <a:rPr sz="800" b="0">
                <a:solidFill>
                  <a:srgbClr val="94A3B8"/>
                </a:solidFill>
                <a:latin typeface="Consolas"/>
              </a:rPr>
              <a:t>E21 · Agents IA &amp; analyse de risques</a:t>
            </a:r>
          </a:p>
        </p:txBody>
      </p:sp>
      <p:sp>
        <p:nvSpPr>
          <p:cNvPr id="53" name="TextBox 52"/>
          <p:cNvSpPr txBox="1"/>
          <p:nvPr/>
        </p:nvSpPr>
        <p:spPr>
          <a:xfrm>
            <a:off x="8321040" y="4800600"/>
            <a:ext cx="365760" cy="182880"/>
          </a:xfrm>
          <a:prstGeom prst="rect">
            <a:avLst/>
          </a:prstGeom>
          <a:noFill/>
        </p:spPr>
        <p:txBody>
          <a:bodyPr wrap="square" lIns="0" rIns="0" tIns="0" bIns="0" anchor="t">
            <a:spAutoFit/>
          </a:bodyPr>
          <a:lstStyle/>
          <a:p>
            <a:pPr algn="r"/>
            <a:r>
              <a:rPr sz="800" b="0">
                <a:solidFill>
                  <a:srgbClr val="94A3B8"/>
                </a:solidFill>
                <a:latin typeface="Consolas"/>
              </a:rPr>
              <a:t>11</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457200" y="292608"/>
            <a:ext cx="8229600" cy="228600"/>
          </a:xfrm>
          <a:prstGeom prst="rect">
            <a:avLst/>
          </a:prstGeom>
          <a:noFill/>
        </p:spPr>
        <p:txBody>
          <a:bodyPr wrap="square" lIns="0" rIns="0" tIns="0" bIns="0" anchor="t">
            <a:spAutoFit/>
          </a:bodyPr>
          <a:lstStyle/>
          <a:p>
            <a:r>
              <a:rPr sz="1000" b="0">
                <a:solidFill>
                  <a:srgbClr val="0D9488"/>
                </a:solidFill>
                <a:latin typeface="Consolas"/>
              </a:rPr>
              <a:t>V2 · PERSPECTIVES</a:t>
            </a:r>
          </a:p>
        </p:txBody>
      </p:sp>
      <p:sp>
        <p:nvSpPr>
          <p:cNvPr id="3" name="TextBox 2"/>
          <p:cNvSpPr txBox="1"/>
          <p:nvPr/>
        </p:nvSpPr>
        <p:spPr>
          <a:xfrm>
            <a:off x="457200" y="502920"/>
            <a:ext cx="8229600" cy="548640"/>
          </a:xfrm>
          <a:prstGeom prst="rect">
            <a:avLst/>
          </a:prstGeom>
          <a:noFill/>
        </p:spPr>
        <p:txBody>
          <a:bodyPr wrap="square" lIns="0" rIns="0" tIns="0" bIns="0" anchor="t">
            <a:spAutoFit/>
          </a:bodyPr>
          <a:lstStyle/>
          <a:p>
            <a:r>
              <a:rPr sz="2400" b="0">
                <a:solidFill>
                  <a:srgbClr val="0F172A"/>
                </a:solidFill>
                <a:latin typeface="Segoe UI Semibold"/>
              </a:rPr>
              <a:t>Feuille de route : ce qui est fait, ce qui reste</a:t>
            </a:r>
          </a:p>
        </p:txBody>
      </p:sp>
      <p:sp>
        <p:nvSpPr>
          <p:cNvPr id="4" name="Rounded Rectangle 3"/>
          <p:cNvSpPr/>
          <p:nvPr/>
        </p:nvSpPr>
        <p:spPr>
          <a:xfrm>
            <a:off x="457200" y="1234440"/>
            <a:ext cx="3977639" cy="3429000"/>
          </a:xfrm>
          <a:prstGeom prst="roundRect">
            <a:avLst>
              <a:gd name="adj" fmla="val 6000"/>
            </a:avLst>
          </a:prstGeom>
          <a:solidFill>
            <a:srgbClr val="EAF7EE"/>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1371600"/>
            <a:ext cx="3200400" cy="228600"/>
          </a:xfrm>
          <a:prstGeom prst="rect">
            <a:avLst/>
          </a:prstGeom>
          <a:noFill/>
        </p:spPr>
        <p:txBody>
          <a:bodyPr wrap="square" lIns="0" rIns="0" tIns="0" bIns="0" anchor="t">
            <a:spAutoFit/>
          </a:bodyPr>
          <a:lstStyle/>
          <a:p>
            <a:r>
              <a:rPr sz="1000" b="1">
                <a:solidFill>
                  <a:srgbClr val="16A34A"/>
                </a:solidFill>
                <a:latin typeface="Consolas"/>
              </a:rPr>
              <a:t>RÉALISÉ DEPUIS LA SOUTENANCE</a:t>
            </a:r>
          </a:p>
        </p:txBody>
      </p:sp>
      <p:sp>
        <p:nvSpPr>
          <p:cNvPr id="6" name="Rectangle 5"/>
          <p:cNvSpPr/>
          <p:nvPr/>
        </p:nvSpPr>
        <p:spPr>
          <a:xfrm>
            <a:off x="685800" y="1801368"/>
            <a:ext cx="82296" cy="82296"/>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86968" y="1737360"/>
            <a:ext cx="3410712" cy="566928"/>
          </a:xfrm>
          <a:prstGeom prst="rect">
            <a:avLst/>
          </a:prstGeom>
          <a:noFill/>
        </p:spPr>
        <p:txBody>
          <a:bodyPr wrap="square" lIns="0" rIns="0" tIns="0" bIns="0" anchor="t">
            <a:spAutoFit/>
          </a:bodyPr>
          <a:lstStyle/>
          <a:p>
            <a:r>
              <a:rPr sz="1050" b="0">
                <a:solidFill>
                  <a:srgbClr val="0F172A"/>
                </a:solidFill>
                <a:latin typeface="Segoe UI"/>
              </a:rPr>
              <a:t>Ingestion documentaire et site web</a:t>
            </a:r>
          </a:p>
        </p:txBody>
      </p:sp>
      <p:sp>
        <p:nvSpPr>
          <p:cNvPr id="8" name="Rectangle 7"/>
          <p:cNvSpPr/>
          <p:nvPr/>
        </p:nvSpPr>
        <p:spPr>
          <a:xfrm>
            <a:off x="685800" y="2368296"/>
            <a:ext cx="82296" cy="82296"/>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86968" y="2304288"/>
            <a:ext cx="3410712" cy="566928"/>
          </a:xfrm>
          <a:prstGeom prst="rect">
            <a:avLst/>
          </a:prstGeom>
          <a:noFill/>
        </p:spPr>
        <p:txBody>
          <a:bodyPr wrap="square" lIns="0" rIns="0" tIns="0" bIns="0" anchor="t">
            <a:spAutoFit/>
          </a:bodyPr>
          <a:lstStyle/>
          <a:p>
            <a:r>
              <a:rPr sz="1050" b="0">
                <a:solidFill>
                  <a:srgbClr val="0F172A"/>
                </a:solidFill>
                <a:latin typeface="Segoe UI"/>
              </a:rPr>
              <a:t>Chaîne locale avec preuves vérifiées</a:t>
            </a:r>
          </a:p>
        </p:txBody>
      </p:sp>
      <p:sp>
        <p:nvSpPr>
          <p:cNvPr id="10" name="Rectangle 9"/>
          <p:cNvSpPr/>
          <p:nvPr/>
        </p:nvSpPr>
        <p:spPr>
          <a:xfrm>
            <a:off x="685800" y="2935223"/>
            <a:ext cx="82296" cy="82296"/>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86968" y="2871215"/>
            <a:ext cx="3410712" cy="566928"/>
          </a:xfrm>
          <a:prstGeom prst="rect">
            <a:avLst/>
          </a:prstGeom>
          <a:noFill/>
        </p:spPr>
        <p:txBody>
          <a:bodyPr wrap="square" lIns="0" rIns="0" tIns="0" bIns="0" anchor="t">
            <a:spAutoFit/>
          </a:bodyPr>
          <a:lstStyle/>
          <a:p>
            <a:r>
              <a:rPr sz="1050" b="0">
                <a:solidFill>
                  <a:srgbClr val="0F172A"/>
                </a:solidFill>
                <a:latin typeface="Segoe UI"/>
              </a:rPr>
              <a:t>Validation humaine, décisions conservées</a:t>
            </a:r>
          </a:p>
        </p:txBody>
      </p:sp>
      <p:sp>
        <p:nvSpPr>
          <p:cNvPr id="12" name="Rectangle 11"/>
          <p:cNvSpPr/>
          <p:nvPr/>
        </p:nvSpPr>
        <p:spPr>
          <a:xfrm>
            <a:off x="685800" y="3502151"/>
            <a:ext cx="82296" cy="82296"/>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86968" y="3438144"/>
            <a:ext cx="3410712" cy="566928"/>
          </a:xfrm>
          <a:prstGeom prst="rect">
            <a:avLst/>
          </a:prstGeom>
          <a:noFill/>
        </p:spPr>
        <p:txBody>
          <a:bodyPr wrap="square" lIns="0" rIns="0" tIns="0" bIns="0" anchor="t">
            <a:spAutoFit/>
          </a:bodyPr>
          <a:lstStyle/>
          <a:p>
            <a:r>
              <a:rPr sz="1050" b="0">
                <a:solidFill>
                  <a:srgbClr val="0F172A"/>
                </a:solidFill>
                <a:latin typeface="Segoe UI"/>
              </a:rPr>
              <a:t>Mise à jour sans tout refaire</a:t>
            </a:r>
          </a:p>
        </p:txBody>
      </p:sp>
      <p:sp>
        <p:nvSpPr>
          <p:cNvPr id="14" name="Rectangle 13"/>
          <p:cNvSpPr/>
          <p:nvPr/>
        </p:nvSpPr>
        <p:spPr>
          <a:xfrm>
            <a:off x="685800" y="4069080"/>
            <a:ext cx="82296" cy="82296"/>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86968" y="4005072"/>
            <a:ext cx="3410712" cy="566928"/>
          </a:xfrm>
          <a:prstGeom prst="rect">
            <a:avLst/>
          </a:prstGeom>
          <a:noFill/>
        </p:spPr>
        <p:txBody>
          <a:bodyPr wrap="square" lIns="0" rIns="0" tIns="0" bIns="0" anchor="t">
            <a:spAutoFit/>
          </a:bodyPr>
          <a:lstStyle/>
          <a:p>
            <a:r>
              <a:rPr sz="1050" b="0">
                <a:solidFill>
                  <a:srgbClr val="0F172A"/>
                </a:solidFill>
                <a:latin typeface="Segoe UI"/>
              </a:rPr>
              <a:t>Export du dossier complet avec liens</a:t>
            </a:r>
          </a:p>
        </p:txBody>
      </p:sp>
      <p:sp>
        <p:nvSpPr>
          <p:cNvPr id="16" name="Rounded Rectangle 15"/>
          <p:cNvSpPr/>
          <p:nvPr/>
        </p:nvSpPr>
        <p:spPr>
          <a:xfrm>
            <a:off x="4709160" y="1234440"/>
            <a:ext cx="3977639" cy="3429000"/>
          </a:xfrm>
          <a:prstGeom prst="roundRect">
            <a:avLst>
              <a:gd name="adj" fmla="val 6000"/>
            </a:avLst>
          </a:prstGeom>
          <a:solidFill>
            <a:srgbClr val="F4F7FA"/>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937760" y="1371600"/>
            <a:ext cx="3200400" cy="228600"/>
          </a:xfrm>
          <a:prstGeom prst="rect">
            <a:avLst/>
          </a:prstGeom>
          <a:noFill/>
        </p:spPr>
        <p:txBody>
          <a:bodyPr wrap="square" lIns="0" rIns="0" tIns="0" bIns="0" anchor="t">
            <a:spAutoFit/>
          </a:bodyPr>
          <a:lstStyle/>
          <a:p>
            <a:r>
              <a:rPr sz="1000" b="1">
                <a:solidFill>
                  <a:srgbClr val="DC2626"/>
                </a:solidFill>
                <a:latin typeface="Consolas"/>
              </a:rPr>
              <a:t>À FAIRE</a:t>
            </a:r>
          </a:p>
        </p:txBody>
      </p:sp>
      <p:sp>
        <p:nvSpPr>
          <p:cNvPr id="18" name="Rectangle 17"/>
          <p:cNvSpPr/>
          <p:nvPr/>
        </p:nvSpPr>
        <p:spPr>
          <a:xfrm>
            <a:off x="4937760" y="1801368"/>
            <a:ext cx="82296" cy="82296"/>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138928" y="1737360"/>
            <a:ext cx="3410712" cy="566928"/>
          </a:xfrm>
          <a:prstGeom prst="rect">
            <a:avLst/>
          </a:prstGeom>
          <a:noFill/>
        </p:spPr>
        <p:txBody>
          <a:bodyPr wrap="square" lIns="0" rIns="0" tIns="0" bIns="0" anchor="t">
            <a:spAutoFit/>
          </a:bodyPr>
          <a:lstStyle/>
          <a:p>
            <a:r>
              <a:rPr sz="1050" b="0">
                <a:solidFill>
                  <a:srgbClr val="0F172A"/>
                </a:solidFill>
                <a:latin typeface="Segoe UI"/>
              </a:rPr>
              <a:t>Sécuriser le site (authentification, SSH, Ollama)</a:t>
            </a:r>
          </a:p>
        </p:txBody>
      </p:sp>
      <p:sp>
        <p:nvSpPr>
          <p:cNvPr id="20" name="Rectangle 19"/>
          <p:cNvSpPr/>
          <p:nvPr/>
        </p:nvSpPr>
        <p:spPr>
          <a:xfrm>
            <a:off x="4937760" y="2368296"/>
            <a:ext cx="82296" cy="82296"/>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138928" y="2304288"/>
            <a:ext cx="3410712" cy="566928"/>
          </a:xfrm>
          <a:prstGeom prst="rect">
            <a:avLst/>
          </a:prstGeom>
          <a:noFill/>
        </p:spPr>
        <p:txBody>
          <a:bodyPr wrap="square" lIns="0" rIns="0" tIns="0" bIns="0" anchor="t">
            <a:spAutoFit/>
          </a:bodyPr>
          <a:lstStyle/>
          <a:p>
            <a:r>
              <a:rPr sz="1050" b="0">
                <a:solidFill>
                  <a:srgbClr val="0F172A"/>
                </a:solidFill>
                <a:latin typeface="Segoe UI"/>
              </a:rPr>
              <a:t>Fusionner les doublons d'actifs par le code</a:t>
            </a:r>
          </a:p>
        </p:txBody>
      </p:sp>
      <p:sp>
        <p:nvSpPr>
          <p:cNvPr id="22" name="Rectangle 21"/>
          <p:cNvSpPr/>
          <p:nvPr/>
        </p:nvSpPr>
        <p:spPr>
          <a:xfrm>
            <a:off x="4937760" y="2935223"/>
            <a:ext cx="82296" cy="82296"/>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138928" y="2871215"/>
            <a:ext cx="3410712" cy="566928"/>
          </a:xfrm>
          <a:prstGeom prst="rect">
            <a:avLst/>
          </a:prstGeom>
          <a:noFill/>
        </p:spPr>
        <p:txBody>
          <a:bodyPr wrap="square" lIns="0" rIns="0" tIns="0" bIns="0" anchor="t">
            <a:spAutoFit/>
          </a:bodyPr>
          <a:lstStyle/>
          <a:p>
            <a:r>
              <a:rPr sz="1050" b="0">
                <a:solidFill>
                  <a:srgbClr val="0F172A"/>
                </a:solidFill>
                <a:latin typeface="Segoe UI"/>
              </a:rPr>
              <a:t>Retirer par le code les citations inexistantes</a:t>
            </a:r>
          </a:p>
        </p:txBody>
      </p:sp>
      <p:sp>
        <p:nvSpPr>
          <p:cNvPr id="24" name="Rectangle 23"/>
          <p:cNvSpPr/>
          <p:nvPr/>
        </p:nvSpPr>
        <p:spPr>
          <a:xfrm>
            <a:off x="4937760" y="3502151"/>
            <a:ext cx="82296" cy="82296"/>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138928" y="3438144"/>
            <a:ext cx="3410712" cy="566928"/>
          </a:xfrm>
          <a:prstGeom prst="rect">
            <a:avLst/>
          </a:prstGeom>
          <a:noFill/>
        </p:spPr>
        <p:txBody>
          <a:bodyPr wrap="square" lIns="0" rIns="0" tIns="0" bIns="0" anchor="t">
            <a:spAutoFit/>
          </a:bodyPr>
          <a:lstStyle/>
          <a:p>
            <a:r>
              <a:rPr sz="1050" b="0">
                <a:solidFill>
                  <a:srgbClr val="0F172A"/>
                </a:solidFill>
                <a:latin typeface="Segoe UI"/>
              </a:rPr>
              <a:t>Calibrer les niveaux (trop de « Critique »)</a:t>
            </a:r>
          </a:p>
        </p:txBody>
      </p:sp>
      <p:sp>
        <p:nvSpPr>
          <p:cNvPr id="26" name="Rectangle 25"/>
          <p:cNvSpPr/>
          <p:nvPr/>
        </p:nvSpPr>
        <p:spPr>
          <a:xfrm>
            <a:off x="4937760" y="4069080"/>
            <a:ext cx="82296" cy="82296"/>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138928" y="4005072"/>
            <a:ext cx="3410712" cy="566928"/>
          </a:xfrm>
          <a:prstGeom prst="rect">
            <a:avLst/>
          </a:prstGeom>
          <a:noFill/>
        </p:spPr>
        <p:txBody>
          <a:bodyPr wrap="square" lIns="0" rIns="0" tIns="0" bIns="0" anchor="t">
            <a:spAutoFit/>
          </a:bodyPr>
          <a:lstStyle/>
          <a:p>
            <a:r>
              <a:rPr sz="1050" b="0">
                <a:solidFill>
                  <a:srgbClr val="0F172A"/>
                </a:solidFill>
                <a:latin typeface="Segoe UI"/>
              </a:rPr>
              <a:t>Test d'injection en direct avec le modèle local</a:t>
            </a:r>
          </a:p>
        </p:txBody>
      </p:sp>
      <p:sp>
        <p:nvSpPr>
          <p:cNvPr id="28" name="TextBox 27"/>
          <p:cNvSpPr txBox="1"/>
          <p:nvPr/>
        </p:nvSpPr>
        <p:spPr>
          <a:xfrm>
            <a:off x="457200" y="4800600"/>
            <a:ext cx="3657600" cy="182880"/>
          </a:xfrm>
          <a:prstGeom prst="rect">
            <a:avLst/>
          </a:prstGeom>
          <a:noFill/>
        </p:spPr>
        <p:txBody>
          <a:bodyPr wrap="square" lIns="0" rIns="0" tIns="0" bIns="0" anchor="t">
            <a:spAutoFit/>
          </a:bodyPr>
          <a:lstStyle/>
          <a:p>
            <a:r>
              <a:rPr sz="800" b="0">
                <a:solidFill>
                  <a:srgbClr val="94A3B8"/>
                </a:solidFill>
                <a:latin typeface="Consolas"/>
              </a:rPr>
              <a:t>E21 · Agents IA &amp; analyse de risques</a:t>
            </a:r>
          </a:p>
        </p:txBody>
      </p:sp>
      <p:sp>
        <p:nvSpPr>
          <p:cNvPr id="29" name="TextBox 28"/>
          <p:cNvSpPr txBox="1"/>
          <p:nvPr/>
        </p:nvSpPr>
        <p:spPr>
          <a:xfrm>
            <a:off x="8321040" y="4800600"/>
            <a:ext cx="365760" cy="182880"/>
          </a:xfrm>
          <a:prstGeom prst="rect">
            <a:avLst/>
          </a:prstGeom>
          <a:noFill/>
        </p:spPr>
        <p:txBody>
          <a:bodyPr wrap="square" lIns="0" rIns="0" tIns="0" bIns="0" anchor="t">
            <a:spAutoFit/>
          </a:bodyPr>
          <a:lstStyle/>
          <a:p>
            <a:pPr algn="r"/>
            <a:r>
              <a:rPr sz="800" b="0">
                <a:solidFill>
                  <a:srgbClr val="94A3B8"/>
                </a:solidFill>
                <a:latin typeface="Consolas"/>
              </a:rPr>
              <a:t>28</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0B1220"/>
        </a:solidFill>
        <a:effectLst/>
      </p:bgPr>
    </p:bg>
    <p:spTree>
      <p:nvGrpSpPr>
        <p:cNvPr id="1" name=""/>
        <p:cNvGrpSpPr/>
        <p:nvPr/>
      </p:nvGrpSpPr>
      <p:grpSpPr>
        <a:xfrm>
          <a:off x="0" y="0"/>
          <a:ext cx="0" cy="0"/>
          <a:chOff x="0" y="0"/>
          <a:chExt cx="0" cy="0"/>
        </a:xfrm>
      </p:grpSpPr>
      <p:sp>
        <p:nvSpPr>
          <p:cNvPr id="2" name="Text 0"/>
          <p:cNvSpPr txBox="1"/>
          <p:nvPr/>
        </p:nvSpPr>
        <p:spPr>
          <a:xfrm>
            <a:off x="457200" y="292608"/>
            <a:ext cx="8229600" cy="228600"/>
          </a:xfrm>
          <a:prstGeom prst="rect">
            <a:avLst/>
          </a:prstGeom>
          <a:noFill/>
          <a:ln/>
        </p:spPr>
        <p:txBody>
          <a:bodyPr wrap="square" lIns="0" tIns="0" rIns="0" bIns="0" rtlCol="0" anchor="t"/>
          <a:lstStyle/>
          <a:p>
            <a:pPr marL="0" indent="0">
              <a:buNone/>
            </a:pPr>
            <a:r>
              <a:rPr lang="en-US" sz="1000" kern="0" spc="200" dirty="0">
                <a:solidFill>
                  <a:srgbClr val="2DD4BF"/>
                </a:solidFill>
                <a:latin typeface="Consolas" pitchFamily="34" charset="0"/>
                <a:ea typeface="Consolas" pitchFamily="34" charset="-122"/>
                <a:cs typeface="Consolas" pitchFamily="34" charset="-120"/>
              </a:rPr>
              <a:t>CONCLUSION</a:t>
            </a:r>
            <a:endParaRPr lang="en-US" sz="1000" dirty="0"/>
          </a:p>
        </p:txBody>
      </p:sp>
      <p:sp>
        <p:nvSpPr>
          <p:cNvPr id="3" name="Text 1"/>
          <p:cNvSpPr txBox="1"/>
          <p:nvPr/>
        </p:nvSpPr>
        <p:spPr>
          <a:xfrm>
            <a:off x="457200" y="502920"/>
            <a:ext cx="8229600" cy="548640"/>
          </a:xfrm>
          <a:prstGeom prst="rect">
            <a:avLst/>
          </a:prstGeom>
          <a:noFill/>
          <a:ln/>
        </p:spPr>
        <p:txBody>
          <a:bodyPr wrap="square" lIns="0" tIns="0" rIns="0" bIns="0" rtlCol="0" anchor="ctr"/>
          <a:lstStyle/>
          <a:p>
            <a:pPr marL="0" indent="0">
              <a:buNone/>
            </a:pPr>
            <a:r>
              <a:rPr lang="en-US" sz="2400" dirty="0">
                <a:solidFill>
                  <a:srgbClr val="FFFFFF"/>
                </a:solidFill>
                <a:latin typeface="Segoe UI Semibold" pitchFamily="34" charset="0"/>
                <a:ea typeface="Segoe UI Semibold" pitchFamily="34" charset="-122"/>
                <a:cs typeface="Segoe UI Semibold" pitchFamily="34" charset="-120"/>
              </a:rPr>
              <a:t>Le modèle propose, le code vérifie, l’analyste décide</a:t>
            </a:r>
            <a:endParaRPr lang="en-US" sz="2400" dirty="0"/>
          </a:p>
        </p:txBody>
      </p:sp>
      <p:sp>
        <p:nvSpPr>
          <p:cNvPr id="4" name="Shape 2"/>
          <p:cNvSpPr/>
          <p:nvPr/>
        </p:nvSpPr>
        <p:spPr>
          <a:xfrm>
            <a:off x="457200" y="1371600"/>
            <a:ext cx="2606040" cy="2011680"/>
          </a:xfrm>
          <a:prstGeom prst="roundRect">
            <a:avLst>
              <a:gd name="adj" fmla="val 3636"/>
            </a:avLst>
          </a:prstGeom>
          <a:solidFill>
            <a:srgbClr val="131D31"/>
          </a:solidFill>
          <a:ln w="12700">
            <a:solidFill>
              <a:srgbClr val="131D31"/>
            </a:solidFill>
            <a:prstDash val="solid"/>
          </a:ln>
        </p:spPr>
        <p:txBody>
          <a:bodyPr/>
          <a:lstStyle/>
          <a:p>
            <a:endParaRPr lang="fr-FR"/>
          </a:p>
        </p:txBody>
      </p:sp>
      <p:sp>
        <p:nvSpPr>
          <p:cNvPr id="5" name="Shape 3"/>
          <p:cNvSpPr/>
          <p:nvPr/>
        </p:nvSpPr>
        <p:spPr>
          <a:xfrm>
            <a:off x="685800" y="1600200"/>
            <a:ext cx="502920" cy="502920"/>
          </a:xfrm>
          <a:prstGeom prst="roundRect">
            <a:avLst>
              <a:gd name="adj" fmla="val 18182"/>
            </a:avLst>
          </a:prstGeom>
          <a:solidFill>
            <a:srgbClr val="1C2942"/>
          </a:solidFill>
          <a:ln w="12700">
            <a:solidFill>
              <a:srgbClr val="1C2942"/>
            </a:solidFill>
            <a:prstDash val="solid"/>
          </a:ln>
        </p:spPr>
        <p:txBody>
          <a:bodyPr/>
          <a:lstStyle/>
          <a:p>
            <a:endParaRPr lang="fr-FR"/>
          </a:p>
        </p:txBody>
      </p:sp>
      <p:pic>
        <p:nvPicPr>
          <p:cNvPr id="6" name="Image 0" descr="preencoded.png"/>
          <p:cNvPicPr>
            <a:picLocks noChangeAspect="1"/>
          </p:cNvPicPr>
          <p:nvPr/>
        </p:nvPicPr>
        <p:blipFill>
          <a:blip r:embed="rId3"/>
          <a:stretch>
            <a:fillRect/>
          </a:stretch>
        </p:blipFill>
        <p:spPr>
          <a:xfrm>
            <a:off x="816559" y="1730959"/>
            <a:ext cx="241402" cy="241402"/>
          </a:xfrm>
          <a:prstGeom prst="rect">
            <a:avLst/>
          </a:prstGeom>
        </p:spPr>
      </p:pic>
      <p:sp>
        <p:nvSpPr>
          <p:cNvPr id="7" name="Text 4"/>
          <p:cNvSpPr txBox="1"/>
          <p:nvPr/>
        </p:nvSpPr>
        <p:spPr>
          <a:xfrm>
            <a:off x="685800" y="2240280"/>
            <a:ext cx="2194560" cy="320040"/>
          </a:xfrm>
          <a:prstGeom prst="rect">
            <a:avLst/>
          </a:prstGeom>
          <a:noFill/>
          <a:ln/>
        </p:spPr>
        <p:txBody>
          <a:bodyPr wrap="square" lIns="0" tIns="0" rIns="0" bIns="0" rtlCol="0" anchor="t"/>
          <a:lstStyle/>
          <a:p>
            <a:pPr marL="0" indent="0">
              <a:buNone/>
            </a:pPr>
            <a:r>
              <a:rPr lang="en-US" sz="1600" dirty="0">
                <a:solidFill>
                  <a:srgbClr val="FFFFFF"/>
                </a:solidFill>
                <a:latin typeface="Segoe UI Semibold" pitchFamily="34" charset="0"/>
                <a:ea typeface="Segoe UI Semibold" pitchFamily="34" charset="-122"/>
                <a:cs typeface="Segoe UI Semibold" pitchFamily="34" charset="-120"/>
              </a:rPr>
              <a:t>Fiable par construction</a:t>
            </a:r>
            <a:endParaRPr lang="en-US" sz="1600" dirty="0"/>
          </a:p>
        </p:txBody>
      </p:sp>
      <p:sp>
        <p:nvSpPr>
          <p:cNvPr id="8" name="Text 5"/>
          <p:cNvSpPr txBox="1"/>
          <p:nvPr/>
        </p:nvSpPr>
        <p:spPr>
          <a:xfrm>
            <a:off x="685800" y="2606040"/>
            <a:ext cx="2194560" cy="685800"/>
          </a:xfrm>
          <a:prstGeom prst="rect">
            <a:avLst/>
          </a:prstGeom>
          <a:noFill/>
          <a:ln/>
        </p:spPr>
        <p:txBody>
          <a:bodyPr wrap="square" lIns="0" tIns="0" rIns="0" bIns="0" rtlCol="0" anchor="t"/>
          <a:lstStyle/>
          <a:p>
            <a:pPr marL="0" indent="0">
              <a:buNone/>
            </a:pPr>
            <a:r>
              <a:rPr lang="en-US" sz="1050" dirty="0">
                <a:solidFill>
                  <a:srgbClr val="CBD5E1"/>
                </a:solidFill>
                <a:latin typeface="Segoe UI" pitchFamily="34" charset="0"/>
                <a:ea typeface="Segoe UI" pitchFamily="34" charset="-122"/>
                <a:cs typeface="Segoe UI" pitchFamily="34" charset="-120"/>
              </a:rPr>
              <a:t>Le code fait ce qui doit être exact : niveau, identifiants, sources.</a:t>
            </a:r>
            <a:endParaRPr lang="en-US" sz="1050" dirty="0"/>
          </a:p>
        </p:txBody>
      </p:sp>
      <p:sp>
        <p:nvSpPr>
          <p:cNvPr id="9" name="Shape 6"/>
          <p:cNvSpPr/>
          <p:nvPr/>
        </p:nvSpPr>
        <p:spPr>
          <a:xfrm>
            <a:off x="3246120" y="1371600"/>
            <a:ext cx="2606040" cy="2011680"/>
          </a:xfrm>
          <a:prstGeom prst="roundRect">
            <a:avLst>
              <a:gd name="adj" fmla="val 3636"/>
            </a:avLst>
          </a:prstGeom>
          <a:solidFill>
            <a:srgbClr val="131D31"/>
          </a:solidFill>
          <a:ln w="12700">
            <a:solidFill>
              <a:srgbClr val="131D31"/>
            </a:solidFill>
            <a:prstDash val="solid"/>
          </a:ln>
        </p:spPr>
        <p:txBody>
          <a:bodyPr/>
          <a:lstStyle/>
          <a:p>
            <a:endParaRPr lang="fr-FR"/>
          </a:p>
        </p:txBody>
      </p:sp>
      <p:sp>
        <p:nvSpPr>
          <p:cNvPr id="10" name="Shape 7"/>
          <p:cNvSpPr/>
          <p:nvPr/>
        </p:nvSpPr>
        <p:spPr>
          <a:xfrm>
            <a:off x="3474720" y="1600200"/>
            <a:ext cx="502920" cy="502920"/>
          </a:xfrm>
          <a:prstGeom prst="roundRect">
            <a:avLst>
              <a:gd name="adj" fmla="val 18182"/>
            </a:avLst>
          </a:prstGeom>
          <a:solidFill>
            <a:srgbClr val="1C2942"/>
          </a:solidFill>
          <a:ln w="12700">
            <a:solidFill>
              <a:srgbClr val="1C2942"/>
            </a:solidFill>
            <a:prstDash val="solid"/>
          </a:ln>
        </p:spPr>
        <p:txBody>
          <a:bodyPr/>
          <a:lstStyle/>
          <a:p>
            <a:endParaRPr lang="fr-FR"/>
          </a:p>
        </p:txBody>
      </p:sp>
      <p:pic>
        <p:nvPicPr>
          <p:cNvPr id="11" name="Image 1" descr="preencoded.png"/>
          <p:cNvPicPr>
            <a:picLocks noChangeAspect="1"/>
          </p:cNvPicPr>
          <p:nvPr/>
        </p:nvPicPr>
        <p:blipFill>
          <a:blip r:embed="rId4"/>
          <a:stretch>
            <a:fillRect/>
          </a:stretch>
        </p:blipFill>
        <p:spPr>
          <a:xfrm>
            <a:off x="3605479" y="1730959"/>
            <a:ext cx="241402" cy="241402"/>
          </a:xfrm>
          <a:prstGeom prst="rect">
            <a:avLst/>
          </a:prstGeom>
        </p:spPr>
      </p:pic>
      <p:sp>
        <p:nvSpPr>
          <p:cNvPr id="12" name="Text 8"/>
          <p:cNvSpPr txBox="1"/>
          <p:nvPr/>
        </p:nvSpPr>
        <p:spPr>
          <a:xfrm>
            <a:off x="3474720" y="2240280"/>
            <a:ext cx="2194560" cy="320040"/>
          </a:xfrm>
          <a:prstGeom prst="rect">
            <a:avLst/>
          </a:prstGeom>
          <a:noFill/>
          <a:ln/>
        </p:spPr>
        <p:txBody>
          <a:bodyPr wrap="square" lIns="0" tIns="0" rIns="0" bIns="0" rtlCol="0" anchor="t"/>
          <a:lstStyle/>
          <a:p>
            <a:pPr marL="0" indent="0">
              <a:buNone/>
            </a:pPr>
            <a:r>
              <a:rPr lang="en-US" sz="1600" dirty="0">
                <a:solidFill>
                  <a:srgbClr val="FFFFFF"/>
                </a:solidFill>
                <a:latin typeface="Segoe UI Semibold" pitchFamily="34" charset="0"/>
                <a:ea typeface="Segoe UI Semibold" pitchFamily="34" charset="-122"/>
                <a:cs typeface="Segoe UI Semibold" pitchFamily="34" charset="-120"/>
              </a:rPr>
              <a:t>Traçable à la phrase</a:t>
            </a:r>
            <a:endParaRPr lang="en-US" sz="1600" dirty="0"/>
          </a:p>
        </p:txBody>
      </p:sp>
      <p:sp>
        <p:nvSpPr>
          <p:cNvPr id="13" name="Text 9"/>
          <p:cNvSpPr txBox="1"/>
          <p:nvPr/>
        </p:nvSpPr>
        <p:spPr>
          <a:xfrm>
            <a:off x="3474720" y="2606040"/>
            <a:ext cx="2194560" cy="685800"/>
          </a:xfrm>
          <a:prstGeom prst="rect">
            <a:avLst/>
          </a:prstGeom>
          <a:noFill/>
          <a:ln/>
        </p:spPr>
        <p:txBody>
          <a:bodyPr wrap="square" lIns="0" tIns="0" rIns="0" bIns="0" rtlCol="0" anchor="t"/>
          <a:lstStyle/>
          <a:p>
            <a:pPr marL="0" indent="0">
              <a:buNone/>
            </a:pPr>
            <a:r>
              <a:rPr lang="en-US" sz="1050" dirty="0">
                <a:solidFill>
                  <a:srgbClr val="CBD5E1"/>
                </a:solidFill>
                <a:latin typeface="Segoe UI" pitchFamily="34" charset="0"/>
                <a:ea typeface="Segoe UI" pitchFamily="34" charset="-122"/>
                <a:cs typeface="Segoe UI" pitchFamily="34" charset="-120"/>
              </a:rPr>
              <a:t>Chaque phrase renvoie à un extrait exact d'un document, vérifié.</a:t>
            </a:r>
            <a:endParaRPr lang="en-US" sz="1050" dirty="0"/>
          </a:p>
        </p:txBody>
      </p:sp>
      <p:sp>
        <p:nvSpPr>
          <p:cNvPr id="14" name="Shape 10"/>
          <p:cNvSpPr/>
          <p:nvPr/>
        </p:nvSpPr>
        <p:spPr>
          <a:xfrm>
            <a:off x="6035040" y="1371600"/>
            <a:ext cx="2606040" cy="2011680"/>
          </a:xfrm>
          <a:prstGeom prst="roundRect">
            <a:avLst>
              <a:gd name="adj" fmla="val 3636"/>
            </a:avLst>
          </a:prstGeom>
          <a:solidFill>
            <a:srgbClr val="131D31"/>
          </a:solidFill>
          <a:ln w="12700">
            <a:solidFill>
              <a:srgbClr val="131D31"/>
            </a:solidFill>
            <a:prstDash val="solid"/>
          </a:ln>
        </p:spPr>
        <p:txBody>
          <a:bodyPr/>
          <a:lstStyle/>
          <a:p>
            <a:endParaRPr lang="fr-FR"/>
          </a:p>
        </p:txBody>
      </p:sp>
      <p:sp>
        <p:nvSpPr>
          <p:cNvPr id="15" name="Shape 11"/>
          <p:cNvSpPr/>
          <p:nvPr/>
        </p:nvSpPr>
        <p:spPr>
          <a:xfrm>
            <a:off x="6263640" y="1600200"/>
            <a:ext cx="502920" cy="502920"/>
          </a:xfrm>
          <a:prstGeom prst="roundRect">
            <a:avLst>
              <a:gd name="adj" fmla="val 18182"/>
            </a:avLst>
          </a:prstGeom>
          <a:solidFill>
            <a:srgbClr val="1C2942"/>
          </a:solidFill>
          <a:ln w="12700">
            <a:solidFill>
              <a:srgbClr val="1C2942"/>
            </a:solidFill>
            <a:prstDash val="solid"/>
          </a:ln>
        </p:spPr>
        <p:txBody>
          <a:bodyPr/>
          <a:lstStyle/>
          <a:p>
            <a:endParaRPr lang="fr-FR"/>
          </a:p>
        </p:txBody>
      </p:sp>
      <p:pic>
        <p:nvPicPr>
          <p:cNvPr id="16" name="Image 2" descr="preencoded.png"/>
          <p:cNvPicPr>
            <a:picLocks noChangeAspect="1"/>
          </p:cNvPicPr>
          <p:nvPr/>
        </p:nvPicPr>
        <p:blipFill>
          <a:blip r:embed="rId5"/>
          <a:stretch>
            <a:fillRect/>
          </a:stretch>
        </p:blipFill>
        <p:spPr>
          <a:xfrm>
            <a:off x="6394399" y="1730959"/>
            <a:ext cx="241402" cy="241402"/>
          </a:xfrm>
          <a:prstGeom prst="rect">
            <a:avLst/>
          </a:prstGeom>
        </p:spPr>
      </p:pic>
      <p:sp>
        <p:nvSpPr>
          <p:cNvPr id="17" name="Text 12"/>
          <p:cNvSpPr txBox="1"/>
          <p:nvPr/>
        </p:nvSpPr>
        <p:spPr>
          <a:xfrm>
            <a:off x="6263640" y="2240280"/>
            <a:ext cx="2194560" cy="320040"/>
          </a:xfrm>
          <a:prstGeom prst="rect">
            <a:avLst/>
          </a:prstGeom>
          <a:noFill/>
          <a:ln/>
        </p:spPr>
        <p:txBody>
          <a:bodyPr wrap="square" lIns="0" tIns="0" rIns="0" bIns="0" rtlCol="0" anchor="t"/>
          <a:lstStyle/>
          <a:p>
            <a:pPr marL="0" indent="0">
              <a:buNone/>
            </a:pPr>
            <a:r>
              <a:rPr lang="en-US" sz="1600" dirty="0">
                <a:solidFill>
                  <a:srgbClr val="FFFFFF"/>
                </a:solidFill>
                <a:latin typeface="Segoe UI Semibold" pitchFamily="34" charset="0"/>
                <a:ea typeface="Segoe UI Semibold" pitchFamily="34" charset="-122"/>
                <a:cs typeface="Segoe UI Semibold" pitchFamily="34" charset="-120"/>
              </a:rPr>
              <a:t>Humain décideur</a:t>
            </a:r>
            <a:endParaRPr lang="en-US" sz="1600" dirty="0"/>
          </a:p>
        </p:txBody>
      </p:sp>
      <p:sp>
        <p:nvSpPr>
          <p:cNvPr id="18" name="Text 13"/>
          <p:cNvSpPr txBox="1"/>
          <p:nvPr/>
        </p:nvSpPr>
        <p:spPr>
          <a:xfrm>
            <a:off x="6263640" y="2606040"/>
            <a:ext cx="2194560" cy="685800"/>
          </a:xfrm>
          <a:prstGeom prst="rect">
            <a:avLst/>
          </a:prstGeom>
          <a:noFill/>
          <a:ln/>
        </p:spPr>
        <p:txBody>
          <a:bodyPr wrap="square" lIns="0" tIns="0" rIns="0" bIns="0" rtlCol="0" anchor="t"/>
          <a:lstStyle/>
          <a:p>
            <a:pPr marL="0" indent="0">
              <a:buNone/>
            </a:pPr>
            <a:r>
              <a:rPr lang="en-US" sz="1050" dirty="0">
                <a:solidFill>
                  <a:srgbClr val="CBD5E1"/>
                </a:solidFill>
                <a:latin typeface="Segoe UI" pitchFamily="34" charset="0"/>
                <a:ea typeface="Segoe UI" pitchFamily="34" charset="-122"/>
                <a:cs typeface="Segoe UI" pitchFamily="34" charset="-120"/>
              </a:rPr>
              <a:t>Ses décisions sont conservées quand un document s'ajoute.</a:t>
            </a:r>
            <a:endParaRPr lang="en-US" sz="1050" dirty="0"/>
          </a:p>
        </p:txBody>
      </p:sp>
      <p:sp>
        <p:nvSpPr>
          <p:cNvPr id="19" name="Text 14"/>
          <p:cNvSpPr txBox="1"/>
          <p:nvPr/>
        </p:nvSpPr>
        <p:spPr>
          <a:xfrm>
            <a:off x="457200" y="3703320"/>
            <a:ext cx="8229600" cy="548640"/>
          </a:xfrm>
          <a:prstGeom prst="rect">
            <a:avLst/>
          </a:prstGeom>
          <a:noFill/>
          <a:ln/>
        </p:spPr>
        <p:txBody>
          <a:bodyPr wrap="square" lIns="0" tIns="0" rIns="0" bIns="0" rtlCol="0" anchor="t"/>
          <a:lstStyle/>
          <a:p>
            <a:pPr marL="0" indent="0" algn="ctr">
              <a:buNone/>
            </a:pPr>
            <a:r>
              <a:rPr lang="en-US" sz="1500" i="1" dirty="0">
                <a:solidFill>
                  <a:srgbClr val="2DD4BF"/>
                </a:solidFill>
                <a:latin typeface="Segoe UI Semibold" pitchFamily="34" charset="0"/>
                <a:ea typeface="Segoe UI Semibold" pitchFamily="34" charset="-122"/>
                <a:cs typeface="Segoe UI Semibold" pitchFamily="34" charset="-120"/>
              </a:rPr>
              <a:t>« L'essai réel a trouvé trois défauts que les tests ne voyaient pas : ils sont corrigés. Le reste est écrit. »</a:t>
            </a:r>
            <a:endParaRPr lang="en-US" sz="1500" dirty="0"/>
          </a:p>
        </p:txBody>
      </p:sp>
      <p:sp>
        <p:nvSpPr>
          <p:cNvPr id="20" name="Text 15"/>
          <p:cNvSpPr txBox="1"/>
          <p:nvPr/>
        </p:nvSpPr>
        <p:spPr>
          <a:xfrm>
            <a:off x="8321040" y="4800600"/>
            <a:ext cx="365760" cy="182880"/>
          </a:xfrm>
          <a:prstGeom prst="rect">
            <a:avLst/>
          </a:prstGeom>
          <a:noFill/>
          <a:ln/>
        </p:spPr>
        <p:txBody>
          <a:bodyPr wrap="square" lIns="0" tIns="0" rIns="0" bIns="0" rtlCol="0" anchor="t"/>
          <a:lstStyle/>
          <a:p>
            <a:pPr marL="0" indent="0" algn="r">
              <a:buNone/>
            </a:pPr>
            <a:r>
              <a:rPr lang="en-US" sz="800" dirty="0">
                <a:solidFill>
                  <a:srgbClr val="94A3B8"/>
                </a:solidFill>
                <a:latin typeface="Consolas" pitchFamily="34" charset="0"/>
                <a:ea typeface="Consolas" pitchFamily="34" charset="-122"/>
                <a:cs typeface="Consolas" pitchFamily="34" charset="-120"/>
              </a:rPr>
              <a:t>29</a:t>
            </a:r>
            <a:endParaRPr lang="en-US" sz="800" dirty="0"/>
          </a:p>
        </p:txBody>
      </p:sp>
      <p:sp>
        <p:nvSpPr>
          <p:cNvPr id="21" name="Text 16"/>
          <p:cNvSpPr txBox="1"/>
          <p:nvPr/>
        </p:nvSpPr>
        <p:spPr>
          <a:xfrm>
            <a:off x="457200" y="4800600"/>
            <a:ext cx="3657600" cy="182880"/>
          </a:xfrm>
          <a:prstGeom prst="rect">
            <a:avLst/>
          </a:prstGeom>
          <a:noFill/>
          <a:ln/>
        </p:spPr>
        <p:txBody>
          <a:bodyPr wrap="square" lIns="0" tIns="0" rIns="0" bIns="0" rtlCol="0" anchor="t"/>
          <a:lstStyle/>
          <a:p>
            <a:pPr marL="0" indent="0">
              <a:buNone/>
            </a:pPr>
            <a:r>
              <a:rPr lang="en-US" sz="800" dirty="0">
                <a:solidFill>
                  <a:srgbClr val="94A3B8"/>
                </a:solidFill>
                <a:latin typeface="Consolas" pitchFamily="34" charset="0"/>
                <a:ea typeface="Consolas" pitchFamily="34" charset="-122"/>
                <a:cs typeface="Consolas" pitchFamily="34" charset="-120"/>
              </a:rPr>
              <a:t>E21 · Agents IA &amp; analyse de risques</a:t>
            </a:r>
            <a:endParaRPr lang="en-US" sz="8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0B1220"/>
        </a:solidFill>
        <a:effectLst/>
      </p:bgPr>
    </p:bg>
    <p:spTree>
      <p:nvGrpSpPr>
        <p:cNvPr id="1" name=""/>
        <p:cNvGrpSpPr/>
        <p:nvPr/>
      </p:nvGrpSpPr>
      <p:grpSpPr>
        <a:xfrm>
          <a:off x="0" y="0"/>
          <a:ext cx="0" cy="0"/>
          <a:chOff x="0" y="0"/>
          <a:chExt cx="0" cy="0"/>
        </a:xfrm>
      </p:grpSpPr>
      <p:sp>
        <p:nvSpPr>
          <p:cNvPr id="2" name="Text 0"/>
          <p:cNvSpPr txBox="1"/>
          <p:nvPr/>
        </p:nvSpPr>
        <p:spPr>
          <a:xfrm>
            <a:off x="548640" y="4023360"/>
            <a:ext cx="8046720" cy="274320"/>
          </a:xfrm>
          <a:prstGeom prst="rect">
            <a:avLst/>
          </a:prstGeom>
          <a:noFill/>
          <a:ln/>
        </p:spPr>
        <p:txBody>
          <a:bodyPr wrap="square" lIns="0" tIns="0" rIns="0" bIns="0" rtlCol="0" anchor="t"/>
          <a:lstStyle/>
          <a:p>
            <a:pPr marL="0" indent="0">
              <a:buNone/>
            </a:pPr>
            <a:r>
              <a:rPr lang="en-US" sz="1200" dirty="0">
                <a:solidFill>
                  <a:srgbClr val="FFFFFF"/>
                </a:solidFill>
                <a:latin typeface="Segoe UI Semibold" pitchFamily="34" charset="0"/>
                <a:ea typeface="Segoe UI Semibold" pitchFamily="34" charset="-122"/>
                <a:cs typeface="Segoe UI Semibold" pitchFamily="34" charset="-120"/>
              </a:rPr>
              <a:t>Melvin RAIMBAULT</a:t>
            </a:r>
            <a:endParaRPr lang="en-US" sz="1200" dirty="0"/>
          </a:p>
        </p:txBody>
      </p:sp>
      <p:sp>
        <p:nvSpPr>
          <p:cNvPr id="3" name="Text 1"/>
          <p:cNvSpPr txBox="1"/>
          <p:nvPr/>
        </p:nvSpPr>
        <p:spPr>
          <a:xfrm>
            <a:off x="548640" y="1371600"/>
            <a:ext cx="8046720" cy="274320"/>
          </a:xfrm>
          <a:prstGeom prst="rect">
            <a:avLst/>
          </a:prstGeom>
          <a:noFill/>
          <a:ln/>
        </p:spPr>
        <p:txBody>
          <a:bodyPr wrap="square" lIns="0" tIns="0" rIns="0" bIns="0" rtlCol="0" anchor="t"/>
          <a:lstStyle/>
          <a:p>
            <a:pPr marL="0" indent="0">
              <a:buNone/>
            </a:pPr>
            <a:r>
              <a:rPr lang="en-US" sz="1200" kern="0" spc="300" dirty="0">
                <a:solidFill>
                  <a:srgbClr val="2DD4BF"/>
                </a:solidFill>
                <a:latin typeface="Consolas" pitchFamily="34" charset="0"/>
                <a:ea typeface="Consolas" pitchFamily="34" charset="-122"/>
                <a:cs typeface="Consolas" pitchFamily="34" charset="-120"/>
              </a:rPr>
              <a:t>MERCI</a:t>
            </a:r>
            <a:endParaRPr lang="en-US" sz="1200" dirty="0"/>
          </a:p>
        </p:txBody>
      </p:sp>
      <p:sp>
        <p:nvSpPr>
          <p:cNvPr id="4" name="Text 2"/>
          <p:cNvSpPr txBox="1"/>
          <p:nvPr/>
        </p:nvSpPr>
        <p:spPr>
          <a:xfrm>
            <a:off x="548640" y="1691640"/>
            <a:ext cx="8046720" cy="914400"/>
          </a:xfrm>
          <a:prstGeom prst="rect">
            <a:avLst/>
          </a:prstGeom>
          <a:noFill/>
          <a:ln/>
        </p:spPr>
        <p:txBody>
          <a:bodyPr wrap="square" lIns="0" tIns="0" rIns="0" bIns="0" rtlCol="0" anchor="t"/>
          <a:lstStyle/>
          <a:p>
            <a:pPr marL="0" indent="0">
              <a:buNone/>
            </a:pPr>
            <a:r>
              <a:rPr lang="en-US" sz="4400" dirty="0">
                <a:solidFill>
                  <a:srgbClr val="FFFFFF"/>
                </a:solidFill>
                <a:latin typeface="Segoe UI Semibold" pitchFamily="34" charset="0"/>
                <a:ea typeface="Segoe UI Semibold" pitchFamily="34" charset="-122"/>
                <a:cs typeface="Segoe UI Semibold" pitchFamily="34" charset="-120"/>
              </a:rPr>
              <a:t>Questions ?</a:t>
            </a:r>
            <a:endParaRPr lang="en-US" sz="4400" dirty="0"/>
          </a:p>
        </p:txBody>
      </p:sp>
      <p:pic>
        <p:nvPicPr>
          <p:cNvPr id="5" name="Image 0" descr="preencoded.png"/>
          <p:cNvPicPr>
            <a:picLocks noChangeAspect="1"/>
          </p:cNvPicPr>
          <p:nvPr/>
        </p:nvPicPr>
        <p:blipFill>
          <a:blip r:embed="rId3"/>
          <a:stretch>
            <a:fillRect/>
          </a:stretch>
        </p:blipFill>
        <p:spPr>
          <a:xfrm>
            <a:off x="548640" y="3017520"/>
            <a:ext cx="292608" cy="292608"/>
          </a:xfrm>
          <a:prstGeom prst="rect">
            <a:avLst/>
          </a:prstGeom>
        </p:spPr>
      </p:pic>
      <p:sp>
        <p:nvSpPr>
          <p:cNvPr id="6" name="Text 3"/>
          <p:cNvSpPr txBox="1"/>
          <p:nvPr/>
        </p:nvSpPr>
        <p:spPr>
          <a:xfrm>
            <a:off x="960120" y="3017520"/>
            <a:ext cx="7315200" cy="292608"/>
          </a:xfrm>
          <a:prstGeom prst="rect">
            <a:avLst/>
          </a:prstGeom>
          <a:noFill/>
          <a:ln/>
        </p:spPr>
        <p:txBody>
          <a:bodyPr wrap="square" lIns="0" tIns="0" rIns="0" bIns="0" rtlCol="0" anchor="ctr"/>
          <a:lstStyle/>
          <a:p>
            <a:pPr marL="0" indent="0">
              <a:buNone/>
            </a:pPr>
            <a:r>
              <a:rPr lang="en-US" sz="1300" dirty="0">
                <a:solidFill>
                  <a:srgbClr val="CBD5E1"/>
                </a:solidFill>
                <a:latin typeface="Consolas" pitchFamily="34" charset="0"/>
                <a:ea typeface="Consolas" pitchFamily="34" charset="-122"/>
                <a:cs typeface="Consolas" pitchFamily="34" charset="-120"/>
              </a:rPr>
              <a:t>github.com/MelvinBzh/management_de_la_securite</a:t>
            </a:r>
            <a:endParaRPr lang="en-US" sz="1300" dirty="0"/>
          </a:p>
        </p:txBody>
      </p:sp>
      <p:sp>
        <p:nvSpPr>
          <p:cNvPr id="7" name="Text 4"/>
          <p:cNvSpPr txBox="1"/>
          <p:nvPr/>
        </p:nvSpPr>
        <p:spPr>
          <a:xfrm>
            <a:off x="548640" y="3474720"/>
            <a:ext cx="8046720" cy="274320"/>
          </a:xfrm>
          <a:prstGeom prst="rect">
            <a:avLst/>
          </a:prstGeom>
          <a:noFill/>
          <a:ln/>
        </p:spPr>
        <p:txBody>
          <a:bodyPr wrap="square" lIns="0" tIns="0" rIns="0" bIns="0" rtlCol="0" anchor="t"/>
          <a:lstStyle/>
          <a:p>
            <a:pPr marL="0" indent="0">
              <a:buNone/>
            </a:pPr>
            <a:r>
              <a:rPr lang="en-US" sz="900" dirty="0">
                <a:solidFill>
                  <a:srgbClr val="94A3B8"/>
                </a:solidFill>
                <a:latin typeface="Consolas" pitchFamily="34" charset="0"/>
                <a:ea typeface="Consolas" pitchFamily="34" charset="-122"/>
                <a:cs typeface="Consolas" pitchFamily="34" charset="-120"/>
              </a:rPr>
              <a:t>V1 : tag ecole-2026-09-24  ·  V2 : V2-ameliorations.md, DOSSIER-ECRIT-V2.md, EXPLICATIONS-DU-PROJET.md</a:t>
            </a:r>
            <a:endParaRPr lang="en-US" sz="900" dirty="0"/>
          </a:p>
        </p:txBody>
      </p:sp>
      <p:sp>
        <p:nvSpPr>
          <p:cNvPr id="8" name="TextBox 7"/>
          <p:cNvSpPr txBox="1"/>
          <p:nvPr/>
        </p:nvSpPr>
        <p:spPr>
          <a:xfrm>
            <a:off x="8321040" y="4800600"/>
            <a:ext cx="365760" cy="182880"/>
          </a:xfrm>
          <a:prstGeom prst="rect">
            <a:avLst/>
          </a:prstGeom>
          <a:noFill/>
        </p:spPr>
        <p:txBody>
          <a:bodyPr wrap="square" lIns="0" rIns="0" tIns="0" bIns="0" anchor="t">
            <a:spAutoFit/>
          </a:bodyPr>
          <a:lstStyle/>
          <a:p>
            <a:pPr algn="r"/>
            <a:r>
              <a:rPr sz="800" b="0">
                <a:solidFill>
                  <a:srgbClr val="94A3B8"/>
                </a:solidFill>
                <a:latin typeface="Consolas"/>
              </a:rPr>
              <a:t>31</a:t>
            </a:r>
          </a:p>
        </p:txBody>
      </p:sp>
      <p:sp>
        <p:nvSpPr>
          <p:cNvPr id="9" name="TextBox 8"/>
          <p:cNvSpPr txBox="1"/>
          <p:nvPr/>
        </p:nvSpPr>
        <p:spPr>
          <a:xfrm>
            <a:off x="457200" y="4800600"/>
            <a:ext cx="3657600" cy="182880"/>
          </a:xfrm>
          <a:prstGeom prst="rect">
            <a:avLst/>
          </a:prstGeom>
          <a:noFill/>
        </p:spPr>
        <p:txBody>
          <a:bodyPr wrap="square" lIns="0" rIns="0" tIns="0" bIns="0" anchor="t">
            <a:spAutoFit/>
          </a:bodyPr>
          <a:lstStyle/>
          <a:p>
            <a:r>
              <a:rPr sz="800" b="0">
                <a:solidFill>
                  <a:srgbClr val="94A3B8"/>
                </a:solidFill>
                <a:latin typeface="Consolas"/>
              </a:rPr>
              <a:t>E21 · Agents IA &amp; analyse de risques</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292608"/>
            <a:ext cx="8229600" cy="228600"/>
          </a:xfrm>
          <a:prstGeom prst="rect">
            <a:avLst/>
          </a:prstGeom>
          <a:noFill/>
        </p:spPr>
        <p:txBody>
          <a:bodyPr wrap="square" lIns="0" rIns="0" tIns="0" bIns="0" anchor="t">
            <a:spAutoFit/>
          </a:bodyPr>
          <a:lstStyle/>
          <a:p>
            <a:r>
              <a:rPr sz="1000" b="0">
                <a:solidFill>
                  <a:srgbClr val="0D9488"/>
                </a:solidFill>
                <a:latin typeface="Consolas"/>
              </a:rPr>
              <a:t>00 · CADRE</a:t>
            </a:r>
          </a:p>
        </p:txBody>
      </p:sp>
      <p:sp>
        <p:nvSpPr>
          <p:cNvPr id="3" name="TextBox 2"/>
          <p:cNvSpPr txBox="1"/>
          <p:nvPr/>
        </p:nvSpPr>
        <p:spPr>
          <a:xfrm>
            <a:off x="457200" y="502920"/>
            <a:ext cx="8229600" cy="548640"/>
          </a:xfrm>
          <a:prstGeom prst="rect">
            <a:avLst/>
          </a:prstGeom>
          <a:noFill/>
        </p:spPr>
        <p:txBody>
          <a:bodyPr wrap="square" lIns="0" rIns="0" tIns="0" bIns="0" anchor="t">
            <a:spAutoFit/>
          </a:bodyPr>
          <a:lstStyle/>
          <a:p>
            <a:r>
              <a:rPr sz="2400" b="0">
                <a:solidFill>
                  <a:srgbClr val="0F172A"/>
                </a:solidFill>
                <a:latin typeface="Segoe UI Semibold"/>
              </a:rPr>
              <a:t>Deux productions, une frontière : le 24 septembre</a:t>
            </a:r>
          </a:p>
        </p:txBody>
      </p:sp>
      <p:sp>
        <p:nvSpPr>
          <p:cNvPr id="4" name="Rounded Rectangle 3"/>
          <p:cNvSpPr/>
          <p:nvPr/>
        </p:nvSpPr>
        <p:spPr>
          <a:xfrm>
            <a:off x="457200" y="1234440"/>
            <a:ext cx="3977639" cy="2743200"/>
          </a:xfrm>
          <a:prstGeom prst="roundRect">
            <a:avLst>
              <a:gd name="adj" fmla="val 6000"/>
            </a:avLst>
          </a:prstGeom>
          <a:solidFill>
            <a:srgbClr val="F4F7FA"/>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1371600"/>
            <a:ext cx="3474720" cy="228600"/>
          </a:xfrm>
          <a:prstGeom prst="rect">
            <a:avLst/>
          </a:prstGeom>
          <a:noFill/>
        </p:spPr>
        <p:txBody>
          <a:bodyPr wrap="square" lIns="0" rIns="0" tIns="0" bIns="0" anchor="t">
            <a:spAutoFit/>
          </a:bodyPr>
          <a:lstStyle/>
          <a:p>
            <a:r>
              <a:rPr sz="1000" b="1">
                <a:solidFill>
                  <a:srgbClr val="0D9488"/>
                </a:solidFill>
                <a:latin typeface="Consolas"/>
              </a:rPr>
              <a:t>V1 · ÉCOLE</a:t>
            </a:r>
          </a:p>
        </p:txBody>
      </p:sp>
      <p:sp>
        <p:nvSpPr>
          <p:cNvPr id="6" name="TextBox 5"/>
          <p:cNvSpPr txBox="1"/>
          <p:nvPr/>
        </p:nvSpPr>
        <p:spPr>
          <a:xfrm>
            <a:off x="685800" y="1645920"/>
            <a:ext cx="3474720" cy="274320"/>
          </a:xfrm>
          <a:prstGeom prst="rect">
            <a:avLst/>
          </a:prstGeom>
          <a:noFill/>
        </p:spPr>
        <p:txBody>
          <a:bodyPr wrap="square" lIns="0" rIns="0" tIns="0" bIns="0" anchor="t">
            <a:spAutoFit/>
          </a:bodyPr>
          <a:lstStyle/>
          <a:p>
            <a:r>
              <a:rPr sz="1300" b="0">
                <a:solidFill>
                  <a:srgbClr val="0F172A"/>
                </a:solidFill>
                <a:latin typeface="Segoe UI Semibold"/>
              </a:rPr>
              <a:t>23 → 24 septembre · en groupe</a:t>
            </a:r>
          </a:p>
        </p:txBody>
      </p:sp>
      <p:sp>
        <p:nvSpPr>
          <p:cNvPr id="7" name="Rectangle 6"/>
          <p:cNvSpPr/>
          <p:nvPr/>
        </p:nvSpPr>
        <p:spPr>
          <a:xfrm>
            <a:off x="685800" y="2167127"/>
            <a:ext cx="82296" cy="82296"/>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86968" y="2103120"/>
            <a:ext cx="3273551" cy="411480"/>
          </a:xfrm>
          <a:prstGeom prst="rect">
            <a:avLst/>
          </a:prstGeom>
          <a:noFill/>
        </p:spPr>
        <p:txBody>
          <a:bodyPr wrap="square" lIns="0" rIns="0" tIns="0" bIns="0" anchor="t">
            <a:spAutoFit/>
          </a:bodyPr>
          <a:lstStyle/>
          <a:p>
            <a:r>
              <a:rPr sz="1050" b="0">
                <a:solidFill>
                  <a:srgbClr val="0F172A"/>
                </a:solidFill>
                <a:latin typeface="Segoe UI"/>
              </a:rPr>
              <a:t>Agents opencode pilotés par consignes</a:t>
            </a:r>
          </a:p>
        </p:txBody>
      </p:sp>
      <p:sp>
        <p:nvSpPr>
          <p:cNvPr id="9" name="Rectangle 8"/>
          <p:cNvSpPr/>
          <p:nvPr/>
        </p:nvSpPr>
        <p:spPr>
          <a:xfrm>
            <a:off x="685800" y="2578608"/>
            <a:ext cx="82296" cy="82296"/>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86968" y="2514600"/>
            <a:ext cx="3273551" cy="411480"/>
          </a:xfrm>
          <a:prstGeom prst="rect">
            <a:avLst/>
          </a:prstGeom>
          <a:noFill/>
        </p:spPr>
        <p:txBody>
          <a:bodyPr wrap="square" lIns="0" rIns="0" tIns="0" bIns="0" anchor="t">
            <a:spAutoFit/>
          </a:bodyPr>
          <a:lstStyle/>
          <a:p>
            <a:r>
              <a:rPr sz="1050" b="0">
                <a:solidFill>
                  <a:srgbClr val="0F172A"/>
                </a:solidFill>
                <a:latin typeface="Segoe UI"/>
              </a:rPr>
              <a:t>Cas ShoPix : 14 risques validés</a:t>
            </a:r>
          </a:p>
        </p:txBody>
      </p:sp>
      <p:sp>
        <p:nvSpPr>
          <p:cNvPr id="11" name="Rectangle 10"/>
          <p:cNvSpPr/>
          <p:nvPr/>
        </p:nvSpPr>
        <p:spPr>
          <a:xfrm>
            <a:off x="685800" y="2990087"/>
            <a:ext cx="82296" cy="82296"/>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86968" y="2926079"/>
            <a:ext cx="3273551" cy="411480"/>
          </a:xfrm>
          <a:prstGeom prst="rect">
            <a:avLst/>
          </a:prstGeom>
          <a:noFill/>
        </p:spPr>
        <p:txBody>
          <a:bodyPr wrap="square" lIns="0" rIns="0" tIns="0" bIns="0" anchor="t">
            <a:spAutoFit/>
          </a:bodyPr>
          <a:lstStyle/>
          <a:p>
            <a:r>
              <a:rPr sz="1050" b="0">
                <a:solidFill>
                  <a:srgbClr val="0F172A"/>
                </a:solidFill>
                <a:latin typeface="Segoe UI"/>
              </a:rPr>
              <a:t>Dossier et soutenance déposés</a:t>
            </a:r>
          </a:p>
        </p:txBody>
      </p:sp>
      <p:sp>
        <p:nvSpPr>
          <p:cNvPr id="13" name="Rectangle 12"/>
          <p:cNvSpPr/>
          <p:nvPr/>
        </p:nvSpPr>
        <p:spPr>
          <a:xfrm>
            <a:off x="685800" y="3401568"/>
            <a:ext cx="82296" cy="82296"/>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86968" y="3337560"/>
            <a:ext cx="3273551" cy="411480"/>
          </a:xfrm>
          <a:prstGeom prst="rect">
            <a:avLst/>
          </a:prstGeom>
          <a:noFill/>
        </p:spPr>
        <p:txBody>
          <a:bodyPr wrap="square" lIns="0" rIns="0" tIns="0" bIns="0" anchor="t">
            <a:spAutoFit/>
          </a:bodyPr>
          <a:lstStyle/>
          <a:p>
            <a:r>
              <a:rPr sz="1050" b="0">
                <a:solidFill>
                  <a:srgbClr val="0F172A"/>
                </a:solidFill>
                <a:latin typeface="Segoe UI"/>
              </a:rPr>
              <a:t>640 lignes de Python (le script du PPT)</a:t>
            </a:r>
          </a:p>
        </p:txBody>
      </p:sp>
      <p:sp>
        <p:nvSpPr>
          <p:cNvPr id="15" name="Rounded Rectangle 14"/>
          <p:cNvSpPr/>
          <p:nvPr/>
        </p:nvSpPr>
        <p:spPr>
          <a:xfrm>
            <a:off x="4709160" y="1234440"/>
            <a:ext cx="3977639" cy="2743200"/>
          </a:xfrm>
          <a:prstGeom prst="roundRect">
            <a:avLst>
              <a:gd name="adj" fmla="val 6000"/>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937760" y="1371600"/>
            <a:ext cx="3474720" cy="228600"/>
          </a:xfrm>
          <a:prstGeom prst="rect">
            <a:avLst/>
          </a:prstGeom>
          <a:noFill/>
        </p:spPr>
        <p:txBody>
          <a:bodyPr wrap="square" lIns="0" rIns="0" tIns="0" bIns="0" anchor="t">
            <a:spAutoFit/>
          </a:bodyPr>
          <a:lstStyle/>
          <a:p>
            <a:r>
              <a:rPr sz="1000" b="1">
                <a:solidFill>
                  <a:srgbClr val="2DD4BF"/>
                </a:solidFill>
                <a:latin typeface="Consolas"/>
              </a:rPr>
              <a:t>V2 · HORS COURS</a:t>
            </a:r>
          </a:p>
        </p:txBody>
      </p:sp>
      <p:sp>
        <p:nvSpPr>
          <p:cNvPr id="17" name="TextBox 16"/>
          <p:cNvSpPr txBox="1"/>
          <p:nvPr/>
        </p:nvSpPr>
        <p:spPr>
          <a:xfrm>
            <a:off x="4937760" y="1645920"/>
            <a:ext cx="3474720" cy="274320"/>
          </a:xfrm>
          <a:prstGeom prst="rect">
            <a:avLst/>
          </a:prstGeom>
          <a:noFill/>
        </p:spPr>
        <p:txBody>
          <a:bodyPr wrap="square" lIns="0" rIns="0" tIns="0" bIns="0" anchor="t">
            <a:spAutoFit/>
          </a:bodyPr>
          <a:lstStyle/>
          <a:p>
            <a:r>
              <a:rPr sz="1300" b="0">
                <a:solidFill>
                  <a:srgbClr val="FFFFFF"/>
                </a:solidFill>
                <a:latin typeface="Segoe UI Semibold"/>
              </a:rPr>
              <a:t>4 → 12 octobre · seul</a:t>
            </a:r>
          </a:p>
        </p:txBody>
      </p:sp>
      <p:sp>
        <p:nvSpPr>
          <p:cNvPr id="18" name="Rectangle 17"/>
          <p:cNvSpPr/>
          <p:nvPr/>
        </p:nvSpPr>
        <p:spPr>
          <a:xfrm>
            <a:off x="4937760" y="2167127"/>
            <a:ext cx="82296" cy="82296"/>
          </a:xfrm>
          <a:prstGeom prst="rect">
            <a:avLst/>
          </a:prstGeom>
          <a:solidFill>
            <a:srgbClr val="2DD4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138928" y="2103120"/>
            <a:ext cx="3273551" cy="411480"/>
          </a:xfrm>
          <a:prstGeom prst="rect">
            <a:avLst/>
          </a:prstGeom>
          <a:noFill/>
        </p:spPr>
        <p:txBody>
          <a:bodyPr wrap="square" lIns="0" rIns="0" tIns="0" bIns="0" anchor="t">
            <a:spAutoFit/>
          </a:bodyPr>
          <a:lstStyle/>
          <a:p>
            <a:r>
              <a:rPr sz="1050" b="0">
                <a:solidFill>
                  <a:srgbClr val="FFFFFF"/>
                </a:solidFill>
                <a:latin typeface="Segoe UI"/>
              </a:rPr>
              <a:t>Ingestion, site web, pilote, connaissance</a:t>
            </a:r>
          </a:p>
        </p:txBody>
      </p:sp>
      <p:sp>
        <p:nvSpPr>
          <p:cNvPr id="20" name="Rectangle 19"/>
          <p:cNvSpPr/>
          <p:nvPr/>
        </p:nvSpPr>
        <p:spPr>
          <a:xfrm>
            <a:off x="4937760" y="2578608"/>
            <a:ext cx="82296" cy="82296"/>
          </a:xfrm>
          <a:prstGeom prst="rect">
            <a:avLst/>
          </a:prstGeom>
          <a:solidFill>
            <a:srgbClr val="2DD4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138928" y="2514600"/>
            <a:ext cx="3273551" cy="411480"/>
          </a:xfrm>
          <a:prstGeom prst="rect">
            <a:avLst/>
          </a:prstGeom>
          <a:noFill/>
        </p:spPr>
        <p:txBody>
          <a:bodyPr wrap="square" lIns="0" rIns="0" tIns="0" bIns="0" anchor="t">
            <a:spAutoFit/>
          </a:bodyPr>
          <a:lstStyle/>
          <a:p>
            <a:r>
              <a:rPr sz="1050" b="0">
                <a:solidFill>
                  <a:srgbClr val="FFFFFF"/>
                </a:solidFill>
                <a:latin typeface="Segoe UI"/>
              </a:rPr>
              <a:t>Chaîne 100 % locale, preuves vérifiées</a:t>
            </a:r>
          </a:p>
        </p:txBody>
      </p:sp>
      <p:sp>
        <p:nvSpPr>
          <p:cNvPr id="22" name="Rectangle 21"/>
          <p:cNvSpPr/>
          <p:nvPr/>
        </p:nvSpPr>
        <p:spPr>
          <a:xfrm>
            <a:off x="4937760" y="2990087"/>
            <a:ext cx="82296" cy="82296"/>
          </a:xfrm>
          <a:prstGeom prst="rect">
            <a:avLst/>
          </a:prstGeom>
          <a:solidFill>
            <a:srgbClr val="2DD4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138928" y="2926079"/>
            <a:ext cx="3273551" cy="411480"/>
          </a:xfrm>
          <a:prstGeom prst="rect">
            <a:avLst/>
          </a:prstGeom>
          <a:noFill/>
        </p:spPr>
        <p:txBody>
          <a:bodyPr wrap="square" lIns="0" rIns="0" tIns="0" bIns="0" anchor="t">
            <a:spAutoFit/>
          </a:bodyPr>
          <a:lstStyle/>
          <a:p>
            <a:r>
              <a:rPr sz="1050" b="0">
                <a:solidFill>
                  <a:srgbClr val="FFFFFF"/>
                </a:solidFill>
                <a:latin typeface="Segoe UI"/>
              </a:rPr>
              <a:t>Validation, exports, mise à jour</a:t>
            </a:r>
          </a:p>
        </p:txBody>
      </p:sp>
      <p:sp>
        <p:nvSpPr>
          <p:cNvPr id="24" name="Rectangle 23"/>
          <p:cNvSpPr/>
          <p:nvPr/>
        </p:nvSpPr>
        <p:spPr>
          <a:xfrm>
            <a:off x="4937760" y="3401568"/>
            <a:ext cx="82296" cy="82296"/>
          </a:xfrm>
          <a:prstGeom prst="rect">
            <a:avLst/>
          </a:prstGeom>
          <a:solidFill>
            <a:srgbClr val="2DD4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138928" y="3337560"/>
            <a:ext cx="3273551" cy="411480"/>
          </a:xfrm>
          <a:prstGeom prst="rect">
            <a:avLst/>
          </a:prstGeom>
          <a:noFill/>
        </p:spPr>
        <p:txBody>
          <a:bodyPr wrap="square" lIns="0" rIns="0" tIns="0" bIns="0" anchor="t">
            <a:spAutoFit/>
          </a:bodyPr>
          <a:lstStyle/>
          <a:p>
            <a:r>
              <a:rPr sz="1050" b="0">
                <a:solidFill>
                  <a:srgbClr val="FFFFFF"/>
                </a:solidFill>
                <a:latin typeface="Segoe UI"/>
              </a:rPr>
              <a:t>≈ 22 500 lignes de Python, 35 fichiers de tests</a:t>
            </a:r>
          </a:p>
        </p:txBody>
      </p:sp>
      <p:sp>
        <p:nvSpPr>
          <p:cNvPr id="26" name="Rounded Rectangle 25"/>
          <p:cNvSpPr/>
          <p:nvPr/>
        </p:nvSpPr>
        <p:spPr>
          <a:xfrm>
            <a:off x="457200" y="4114800"/>
            <a:ext cx="8229600" cy="502920"/>
          </a:xfrm>
          <a:prstGeom prst="roundRect">
            <a:avLst>
              <a:gd name="adj" fmla="val 6000"/>
            </a:avLst>
          </a:prstGeom>
          <a:solidFill>
            <a:srgbClr val="EAF1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85800" y="4114800"/>
            <a:ext cx="7772400" cy="502920"/>
          </a:xfrm>
          <a:prstGeom prst="rect">
            <a:avLst/>
          </a:prstGeom>
          <a:noFill/>
        </p:spPr>
        <p:txBody>
          <a:bodyPr wrap="square" lIns="0" rIns="0" tIns="0" bIns="0" anchor="ctr">
            <a:spAutoFit/>
          </a:bodyPr>
          <a:lstStyle/>
          <a:p>
            <a:r>
              <a:rPr sz="1050" b="0">
                <a:solidFill>
                  <a:srgbClr val="0F172A"/>
                </a:solidFill>
                <a:latin typeface="Segoe UI"/>
              </a:rPr>
              <a:t>Référence immuable : tag Git ecole-2026-09-24 (commit b7f3155). 144 commits depuis, 184 fichiers, + 35 000 lignes.</a:t>
            </a:r>
          </a:p>
        </p:txBody>
      </p:sp>
      <p:sp>
        <p:nvSpPr>
          <p:cNvPr id="28" name="TextBox 27"/>
          <p:cNvSpPr txBox="1"/>
          <p:nvPr/>
        </p:nvSpPr>
        <p:spPr>
          <a:xfrm>
            <a:off x="8321040" y="4800600"/>
            <a:ext cx="365760" cy="182880"/>
          </a:xfrm>
          <a:prstGeom prst="rect">
            <a:avLst/>
          </a:prstGeom>
          <a:noFill/>
        </p:spPr>
        <p:txBody>
          <a:bodyPr wrap="square" lIns="0" rIns="0" tIns="0" bIns="0" anchor="t">
            <a:spAutoFit/>
          </a:bodyPr>
          <a:lstStyle/>
          <a:p>
            <a:pPr algn="r"/>
            <a:r>
              <a:rPr sz="800" b="0">
                <a:solidFill>
                  <a:srgbClr val="94A3B8"/>
                </a:solidFill>
                <a:latin typeface="Consolas"/>
              </a:rPr>
              <a:t>3</a:t>
            </a:r>
          </a:p>
        </p:txBody>
      </p:sp>
      <p:sp>
        <p:nvSpPr>
          <p:cNvPr id="29" name="TextBox 28"/>
          <p:cNvSpPr txBox="1"/>
          <p:nvPr/>
        </p:nvSpPr>
        <p:spPr>
          <a:xfrm>
            <a:off x="457200" y="4800600"/>
            <a:ext cx="3657600" cy="182880"/>
          </a:xfrm>
          <a:prstGeom prst="rect">
            <a:avLst/>
          </a:prstGeom>
          <a:noFill/>
        </p:spPr>
        <p:txBody>
          <a:bodyPr wrap="square" lIns="0" rIns="0" tIns="0" bIns="0" anchor="t">
            <a:spAutoFit/>
          </a:bodyPr>
          <a:lstStyle/>
          <a:p>
            <a:r>
              <a:rPr sz="800" b="0">
                <a:solidFill>
                  <a:srgbClr val="94A3B8"/>
                </a:solidFill>
                <a:latin typeface="Consolas"/>
              </a:rPr>
              <a:t>E21 · Agents IA &amp; analyse de risques</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292608"/>
            <a:ext cx="8229600" cy="228600"/>
          </a:xfrm>
          <a:prstGeom prst="rect">
            <a:avLst/>
          </a:prstGeom>
          <a:noFill/>
        </p:spPr>
        <p:txBody>
          <a:bodyPr wrap="square" lIns="0" rIns="0" tIns="0" bIns="0" anchor="t">
            <a:spAutoFit/>
          </a:bodyPr>
          <a:lstStyle/>
          <a:p>
            <a:r>
              <a:rPr sz="1000" b="0">
                <a:solidFill>
                  <a:srgbClr val="0D9488"/>
                </a:solidFill>
                <a:latin typeface="Consolas"/>
              </a:rPr>
              <a:t>V2 · IDÉE CENTRALE</a:t>
            </a:r>
          </a:p>
        </p:txBody>
      </p:sp>
      <p:sp>
        <p:nvSpPr>
          <p:cNvPr id="3" name="TextBox 2"/>
          <p:cNvSpPr txBox="1"/>
          <p:nvPr/>
        </p:nvSpPr>
        <p:spPr>
          <a:xfrm>
            <a:off x="457200" y="502920"/>
            <a:ext cx="8229600" cy="548640"/>
          </a:xfrm>
          <a:prstGeom prst="rect">
            <a:avLst/>
          </a:prstGeom>
          <a:noFill/>
        </p:spPr>
        <p:txBody>
          <a:bodyPr wrap="square" lIns="0" rIns="0" tIns="0" bIns="0" anchor="t">
            <a:spAutoFit/>
          </a:bodyPr>
          <a:lstStyle/>
          <a:p>
            <a:r>
              <a:rPr sz="2400" b="0">
                <a:solidFill>
                  <a:srgbClr val="0F172A"/>
                </a:solidFill>
                <a:latin typeface="Segoe UI Semibold"/>
              </a:rPr>
              <a:t>Le déplacement : de la consigne au code</a:t>
            </a:r>
          </a:p>
        </p:txBody>
      </p:sp>
      <p:sp>
        <p:nvSpPr>
          <p:cNvPr id="4" name="Rectangle 3"/>
          <p:cNvSpPr/>
          <p:nvPr/>
        </p:nvSpPr>
        <p:spPr>
          <a:xfrm>
            <a:off x="457200" y="1234440"/>
            <a:ext cx="2651760" cy="53035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234440"/>
            <a:ext cx="2468879" cy="530352"/>
          </a:xfrm>
          <a:prstGeom prst="rect">
            <a:avLst/>
          </a:prstGeom>
          <a:noFill/>
        </p:spPr>
        <p:txBody>
          <a:bodyPr wrap="square" lIns="0" rIns="0" tIns="0" bIns="0" anchor="ctr">
            <a:spAutoFit/>
          </a:bodyPr>
          <a:lstStyle/>
          <a:p>
            <a:r>
              <a:rPr sz="1050" b="0">
                <a:solidFill>
                  <a:srgbClr val="FFFFFF"/>
                </a:solidFill>
                <a:latin typeface="Segoe UI Semibold"/>
              </a:rPr>
              <a:t>Question</a:t>
            </a:r>
          </a:p>
        </p:txBody>
      </p:sp>
      <p:sp>
        <p:nvSpPr>
          <p:cNvPr id="6" name="Rectangle 5"/>
          <p:cNvSpPr/>
          <p:nvPr/>
        </p:nvSpPr>
        <p:spPr>
          <a:xfrm>
            <a:off x="3108960" y="1234440"/>
            <a:ext cx="2468880" cy="53035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200400" y="1234440"/>
            <a:ext cx="2286000" cy="530352"/>
          </a:xfrm>
          <a:prstGeom prst="rect">
            <a:avLst/>
          </a:prstGeom>
          <a:noFill/>
        </p:spPr>
        <p:txBody>
          <a:bodyPr wrap="square" lIns="0" rIns="0" tIns="0" bIns="0" anchor="ctr">
            <a:spAutoFit/>
          </a:bodyPr>
          <a:lstStyle/>
          <a:p>
            <a:r>
              <a:rPr sz="1050" b="0">
                <a:solidFill>
                  <a:srgbClr val="FFFFFF"/>
                </a:solidFill>
                <a:latin typeface="Segoe UI Semibold"/>
              </a:rPr>
              <a:t>V1 : la consigne</a:t>
            </a:r>
          </a:p>
        </p:txBody>
      </p:sp>
      <p:sp>
        <p:nvSpPr>
          <p:cNvPr id="8" name="Rectangle 7"/>
          <p:cNvSpPr/>
          <p:nvPr/>
        </p:nvSpPr>
        <p:spPr>
          <a:xfrm>
            <a:off x="5577840" y="1234440"/>
            <a:ext cx="3108960" cy="53035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669279" y="1234440"/>
            <a:ext cx="2926079" cy="530352"/>
          </a:xfrm>
          <a:prstGeom prst="rect">
            <a:avLst/>
          </a:prstGeom>
          <a:noFill/>
        </p:spPr>
        <p:txBody>
          <a:bodyPr wrap="square" lIns="0" rIns="0" tIns="0" bIns="0" anchor="ctr">
            <a:spAutoFit/>
          </a:bodyPr>
          <a:lstStyle/>
          <a:p>
            <a:r>
              <a:rPr sz="1050" b="0">
                <a:solidFill>
                  <a:srgbClr val="FFFFFF"/>
                </a:solidFill>
                <a:latin typeface="Segoe UI Semibold"/>
              </a:rPr>
              <a:t>V2 : le code</a:t>
            </a:r>
          </a:p>
        </p:txBody>
      </p:sp>
      <p:sp>
        <p:nvSpPr>
          <p:cNvPr id="10" name="Rectangle 9"/>
          <p:cNvSpPr/>
          <p:nvPr/>
        </p:nvSpPr>
        <p:spPr>
          <a:xfrm>
            <a:off x="457200" y="1764792"/>
            <a:ext cx="2651760" cy="53035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764792"/>
            <a:ext cx="2468879" cy="530352"/>
          </a:xfrm>
          <a:prstGeom prst="rect">
            <a:avLst/>
          </a:prstGeom>
          <a:noFill/>
        </p:spPr>
        <p:txBody>
          <a:bodyPr wrap="square" lIns="0" rIns="0" tIns="0" bIns="0" anchor="ctr">
            <a:spAutoFit/>
          </a:bodyPr>
          <a:lstStyle/>
          <a:p>
            <a:r>
              <a:rPr sz="1050" b="0">
                <a:solidFill>
                  <a:srgbClr val="0F172A"/>
                </a:solidFill>
                <a:latin typeface="Segoe UI Semibold"/>
              </a:rPr>
              <a:t>Qui calcule le niveau de risque ?</a:t>
            </a:r>
          </a:p>
        </p:txBody>
      </p:sp>
      <p:sp>
        <p:nvSpPr>
          <p:cNvPr id="12" name="Rectangle 11"/>
          <p:cNvSpPr/>
          <p:nvPr/>
        </p:nvSpPr>
        <p:spPr>
          <a:xfrm>
            <a:off x="3108960" y="1764792"/>
            <a:ext cx="2468880" cy="53035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200400" y="1764792"/>
            <a:ext cx="2286000" cy="530352"/>
          </a:xfrm>
          <a:prstGeom prst="rect">
            <a:avLst/>
          </a:prstGeom>
          <a:noFill/>
        </p:spPr>
        <p:txBody>
          <a:bodyPr wrap="square" lIns="0" rIns="0" tIns="0" bIns="0" anchor="ctr">
            <a:spAutoFit/>
          </a:bodyPr>
          <a:lstStyle/>
          <a:p>
            <a:r>
              <a:rPr sz="1050" b="0">
                <a:solidFill>
                  <a:srgbClr val="0F172A"/>
                </a:solidFill>
                <a:latin typeface="Segoe UI"/>
              </a:rPr>
              <a:t>Le modèle, puis un agent contrôle</a:t>
            </a:r>
          </a:p>
        </p:txBody>
      </p:sp>
      <p:sp>
        <p:nvSpPr>
          <p:cNvPr id="14" name="Rectangle 13"/>
          <p:cNvSpPr/>
          <p:nvPr/>
        </p:nvSpPr>
        <p:spPr>
          <a:xfrm>
            <a:off x="5577840" y="1764792"/>
            <a:ext cx="3108960" cy="53035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669279" y="1764792"/>
            <a:ext cx="2926079" cy="530352"/>
          </a:xfrm>
          <a:prstGeom prst="rect">
            <a:avLst/>
          </a:prstGeom>
          <a:noFill/>
        </p:spPr>
        <p:txBody>
          <a:bodyPr wrap="square" lIns="0" rIns="0" tIns="0" bIns="0" anchor="ctr">
            <a:spAutoFit/>
          </a:bodyPr>
          <a:lstStyle/>
          <a:p>
            <a:r>
              <a:rPr sz="1050" b="0">
                <a:solidFill>
                  <a:srgbClr val="0F172A"/>
                </a:solidFill>
                <a:latin typeface="Segoe UI"/>
              </a:rPr>
              <a:t>Le programme (matrice) ; le modèle ne donne que le jugement</a:t>
            </a:r>
          </a:p>
        </p:txBody>
      </p:sp>
      <p:sp>
        <p:nvSpPr>
          <p:cNvPr id="16" name="Rectangle 15"/>
          <p:cNvSpPr/>
          <p:nvPr/>
        </p:nvSpPr>
        <p:spPr>
          <a:xfrm>
            <a:off x="457200" y="2295144"/>
            <a:ext cx="2651760" cy="530352"/>
          </a:xfrm>
          <a:prstGeom prst="rect">
            <a:avLst/>
          </a:prstGeom>
          <a:solidFill>
            <a:srgbClr val="F4F7FA"/>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48640" y="2295144"/>
            <a:ext cx="2468879" cy="530352"/>
          </a:xfrm>
          <a:prstGeom prst="rect">
            <a:avLst/>
          </a:prstGeom>
          <a:noFill/>
        </p:spPr>
        <p:txBody>
          <a:bodyPr wrap="square" lIns="0" rIns="0" tIns="0" bIns="0" anchor="ctr">
            <a:spAutoFit/>
          </a:bodyPr>
          <a:lstStyle/>
          <a:p>
            <a:r>
              <a:rPr sz="1050" b="0">
                <a:solidFill>
                  <a:srgbClr val="0F172A"/>
                </a:solidFill>
                <a:latin typeface="Segoe UI Semibold"/>
              </a:rPr>
              <a:t>Qui pose les identifiants ?</a:t>
            </a:r>
          </a:p>
        </p:txBody>
      </p:sp>
      <p:sp>
        <p:nvSpPr>
          <p:cNvPr id="18" name="Rectangle 17"/>
          <p:cNvSpPr/>
          <p:nvPr/>
        </p:nvSpPr>
        <p:spPr>
          <a:xfrm>
            <a:off x="3108960" y="2295144"/>
            <a:ext cx="2468880" cy="530352"/>
          </a:xfrm>
          <a:prstGeom prst="rect">
            <a:avLst/>
          </a:prstGeom>
          <a:solidFill>
            <a:srgbClr val="F4F7FA"/>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200400" y="2295144"/>
            <a:ext cx="2286000" cy="530352"/>
          </a:xfrm>
          <a:prstGeom prst="rect">
            <a:avLst/>
          </a:prstGeom>
          <a:noFill/>
        </p:spPr>
        <p:txBody>
          <a:bodyPr wrap="square" lIns="0" rIns="0" tIns="0" bIns="0" anchor="ctr">
            <a:spAutoFit/>
          </a:bodyPr>
          <a:lstStyle/>
          <a:p>
            <a:r>
              <a:rPr sz="1050" b="0">
                <a:solidFill>
                  <a:srgbClr val="0F172A"/>
                </a:solidFill>
                <a:latin typeface="Segoe UI"/>
              </a:rPr>
              <a:t>Le modèle</a:t>
            </a:r>
          </a:p>
        </p:txBody>
      </p:sp>
      <p:sp>
        <p:nvSpPr>
          <p:cNvPr id="20" name="Rectangle 19"/>
          <p:cNvSpPr/>
          <p:nvPr/>
        </p:nvSpPr>
        <p:spPr>
          <a:xfrm>
            <a:off x="5577840" y="2295144"/>
            <a:ext cx="3108960" cy="530352"/>
          </a:xfrm>
          <a:prstGeom prst="rect">
            <a:avLst/>
          </a:prstGeom>
          <a:solidFill>
            <a:srgbClr val="F4F7FA"/>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669279" y="2295144"/>
            <a:ext cx="2926079" cy="530352"/>
          </a:xfrm>
          <a:prstGeom prst="rect">
            <a:avLst/>
          </a:prstGeom>
          <a:noFill/>
        </p:spPr>
        <p:txBody>
          <a:bodyPr wrap="square" lIns="0" rIns="0" tIns="0" bIns="0" anchor="ctr">
            <a:spAutoFit/>
          </a:bodyPr>
          <a:lstStyle/>
          <a:p>
            <a:r>
              <a:rPr sz="1050" b="0">
                <a:solidFill>
                  <a:srgbClr val="0F172A"/>
                </a:solidFill>
                <a:latin typeface="Segoe UI"/>
              </a:rPr>
              <a:t>Le programme (jamais réutilisés)</a:t>
            </a:r>
          </a:p>
        </p:txBody>
      </p:sp>
      <p:sp>
        <p:nvSpPr>
          <p:cNvPr id="22" name="Rectangle 21"/>
          <p:cNvSpPr/>
          <p:nvPr/>
        </p:nvSpPr>
        <p:spPr>
          <a:xfrm>
            <a:off x="457200" y="2825496"/>
            <a:ext cx="2651760" cy="53035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48640" y="2825496"/>
            <a:ext cx="2468879" cy="530352"/>
          </a:xfrm>
          <a:prstGeom prst="rect">
            <a:avLst/>
          </a:prstGeom>
          <a:noFill/>
        </p:spPr>
        <p:txBody>
          <a:bodyPr wrap="square" lIns="0" rIns="0" tIns="0" bIns="0" anchor="ctr">
            <a:spAutoFit/>
          </a:bodyPr>
          <a:lstStyle/>
          <a:p>
            <a:r>
              <a:rPr sz="1050" b="0">
                <a:solidFill>
                  <a:srgbClr val="0F172A"/>
                </a:solidFill>
                <a:latin typeface="Segoe UI Semibold"/>
              </a:rPr>
              <a:t>D'où vient une affirmation ?</a:t>
            </a:r>
          </a:p>
        </p:txBody>
      </p:sp>
      <p:sp>
        <p:nvSpPr>
          <p:cNvPr id="24" name="Rectangle 23"/>
          <p:cNvSpPr/>
          <p:nvPr/>
        </p:nvSpPr>
        <p:spPr>
          <a:xfrm>
            <a:off x="3108960" y="2825496"/>
            <a:ext cx="2468880" cy="53035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200400" y="2825496"/>
            <a:ext cx="2286000" cy="530352"/>
          </a:xfrm>
          <a:prstGeom prst="rect">
            <a:avLst/>
          </a:prstGeom>
          <a:noFill/>
        </p:spPr>
        <p:txBody>
          <a:bodyPr wrap="square" lIns="0" rIns="0" tIns="0" bIns="0" anchor="ctr">
            <a:spAutoFit/>
          </a:bodyPr>
          <a:lstStyle/>
          <a:p>
            <a:r>
              <a:rPr sz="1050" b="0">
                <a:solidFill>
                  <a:srgbClr val="0F172A"/>
                </a:solidFill>
                <a:latin typeface="Segoe UI"/>
              </a:rPr>
              <a:t>Des référentiels cités</a:t>
            </a:r>
          </a:p>
        </p:txBody>
      </p:sp>
      <p:sp>
        <p:nvSpPr>
          <p:cNvPr id="26" name="Rectangle 25"/>
          <p:cNvSpPr/>
          <p:nvPr/>
        </p:nvSpPr>
        <p:spPr>
          <a:xfrm>
            <a:off x="5577840" y="2825496"/>
            <a:ext cx="3108960" cy="53035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669279" y="2825496"/>
            <a:ext cx="2926079" cy="530352"/>
          </a:xfrm>
          <a:prstGeom prst="rect">
            <a:avLst/>
          </a:prstGeom>
          <a:noFill/>
        </p:spPr>
        <p:txBody>
          <a:bodyPr wrap="square" lIns="0" rIns="0" tIns="0" bIns="0" anchor="ctr">
            <a:spAutoFit/>
          </a:bodyPr>
          <a:lstStyle/>
          <a:p>
            <a:r>
              <a:rPr sz="1050" b="0">
                <a:solidFill>
                  <a:srgbClr val="0F172A"/>
                </a:solidFill>
                <a:latin typeface="Segoe UI"/>
              </a:rPr>
              <a:t>De l'extrait exact d'un document `[E12]`, vérifié</a:t>
            </a:r>
          </a:p>
        </p:txBody>
      </p:sp>
      <p:sp>
        <p:nvSpPr>
          <p:cNvPr id="28" name="Rectangle 27"/>
          <p:cNvSpPr/>
          <p:nvPr/>
        </p:nvSpPr>
        <p:spPr>
          <a:xfrm>
            <a:off x="457200" y="3355848"/>
            <a:ext cx="2651760" cy="530352"/>
          </a:xfrm>
          <a:prstGeom prst="rect">
            <a:avLst/>
          </a:prstGeom>
          <a:solidFill>
            <a:srgbClr val="F4F7FA"/>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48640" y="3355848"/>
            <a:ext cx="2468879" cy="530352"/>
          </a:xfrm>
          <a:prstGeom prst="rect">
            <a:avLst/>
          </a:prstGeom>
          <a:noFill/>
        </p:spPr>
        <p:txBody>
          <a:bodyPr wrap="square" lIns="0" rIns="0" tIns="0" bIns="0" anchor="ctr">
            <a:spAutoFit/>
          </a:bodyPr>
          <a:lstStyle/>
          <a:p>
            <a:r>
              <a:rPr sz="1050" b="0">
                <a:solidFill>
                  <a:srgbClr val="0F172A"/>
                </a:solidFill>
                <a:latin typeface="Segoe UI Semibold"/>
              </a:rPr>
              <a:t>Une source inventée ?</a:t>
            </a:r>
          </a:p>
        </p:txBody>
      </p:sp>
      <p:sp>
        <p:nvSpPr>
          <p:cNvPr id="30" name="Rectangle 29"/>
          <p:cNvSpPr/>
          <p:nvPr/>
        </p:nvSpPr>
        <p:spPr>
          <a:xfrm>
            <a:off x="3108960" y="3355848"/>
            <a:ext cx="2468880" cy="530352"/>
          </a:xfrm>
          <a:prstGeom prst="rect">
            <a:avLst/>
          </a:prstGeom>
          <a:solidFill>
            <a:srgbClr val="F4F7FA"/>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3200400" y="3355848"/>
            <a:ext cx="2286000" cy="530352"/>
          </a:xfrm>
          <a:prstGeom prst="rect">
            <a:avLst/>
          </a:prstGeom>
          <a:noFill/>
        </p:spPr>
        <p:txBody>
          <a:bodyPr wrap="square" lIns="0" rIns="0" tIns="0" bIns="0" anchor="ctr">
            <a:spAutoFit/>
          </a:bodyPr>
          <a:lstStyle/>
          <a:p>
            <a:r>
              <a:rPr sz="1050" b="0">
                <a:solidFill>
                  <a:srgbClr val="0F172A"/>
                </a:solidFill>
                <a:latin typeface="Segoe UI"/>
              </a:rPr>
              <a:t>Un agent de contrôle la signale</a:t>
            </a:r>
          </a:p>
        </p:txBody>
      </p:sp>
      <p:sp>
        <p:nvSpPr>
          <p:cNvPr id="32" name="Rectangle 31"/>
          <p:cNvSpPr/>
          <p:nvPr/>
        </p:nvSpPr>
        <p:spPr>
          <a:xfrm>
            <a:off x="5577840" y="3355848"/>
            <a:ext cx="3108960" cy="530352"/>
          </a:xfrm>
          <a:prstGeom prst="rect">
            <a:avLst/>
          </a:prstGeom>
          <a:solidFill>
            <a:srgbClr val="F4F7FA"/>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5669279" y="3355848"/>
            <a:ext cx="2926079" cy="530352"/>
          </a:xfrm>
          <a:prstGeom prst="rect">
            <a:avLst/>
          </a:prstGeom>
          <a:noFill/>
        </p:spPr>
        <p:txBody>
          <a:bodyPr wrap="square" lIns="0" rIns="0" tIns="0" bIns="0" anchor="ctr">
            <a:spAutoFit/>
          </a:bodyPr>
          <a:lstStyle/>
          <a:p>
            <a:r>
              <a:rPr sz="1050" b="0">
                <a:solidFill>
                  <a:srgbClr val="0F172A"/>
                </a:solidFill>
                <a:latin typeface="Segoe UI"/>
              </a:rPr>
              <a:t>Le programme la retire avant la relecture</a:t>
            </a:r>
          </a:p>
        </p:txBody>
      </p:sp>
      <p:sp>
        <p:nvSpPr>
          <p:cNvPr id="34" name="Rectangle 33"/>
          <p:cNvSpPr/>
          <p:nvPr/>
        </p:nvSpPr>
        <p:spPr>
          <a:xfrm>
            <a:off x="457200" y="3886200"/>
            <a:ext cx="2651760" cy="53035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548640" y="3886200"/>
            <a:ext cx="2468879" cy="530352"/>
          </a:xfrm>
          <a:prstGeom prst="rect">
            <a:avLst/>
          </a:prstGeom>
          <a:noFill/>
        </p:spPr>
        <p:txBody>
          <a:bodyPr wrap="square" lIns="0" rIns="0" tIns="0" bIns="0" anchor="ctr">
            <a:spAutoFit/>
          </a:bodyPr>
          <a:lstStyle/>
          <a:p>
            <a:r>
              <a:rPr sz="1050" b="0">
                <a:solidFill>
                  <a:srgbClr val="0F172A"/>
                </a:solidFill>
                <a:latin typeface="Segoe UI Semibold"/>
              </a:rPr>
              <a:t>Qui assemble le registre ?</a:t>
            </a:r>
          </a:p>
        </p:txBody>
      </p:sp>
      <p:sp>
        <p:nvSpPr>
          <p:cNvPr id="36" name="Rectangle 35"/>
          <p:cNvSpPr/>
          <p:nvPr/>
        </p:nvSpPr>
        <p:spPr>
          <a:xfrm>
            <a:off x="3108960" y="3886200"/>
            <a:ext cx="2468880" cy="53035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3200400" y="3886200"/>
            <a:ext cx="2286000" cy="530352"/>
          </a:xfrm>
          <a:prstGeom prst="rect">
            <a:avLst/>
          </a:prstGeom>
          <a:noFill/>
        </p:spPr>
        <p:txBody>
          <a:bodyPr wrap="square" lIns="0" rIns="0" tIns="0" bIns="0" anchor="ctr">
            <a:spAutoFit/>
          </a:bodyPr>
          <a:lstStyle/>
          <a:p>
            <a:r>
              <a:rPr sz="1050" b="0">
                <a:solidFill>
                  <a:srgbClr val="0F172A"/>
                </a:solidFill>
                <a:latin typeface="Segoe UI"/>
              </a:rPr>
              <a:t>Un agent le relit à la main</a:t>
            </a:r>
          </a:p>
        </p:txBody>
      </p:sp>
      <p:sp>
        <p:nvSpPr>
          <p:cNvPr id="38" name="Rectangle 37"/>
          <p:cNvSpPr/>
          <p:nvPr/>
        </p:nvSpPr>
        <p:spPr>
          <a:xfrm>
            <a:off x="5577840" y="3886200"/>
            <a:ext cx="3108960" cy="53035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5669279" y="3886200"/>
            <a:ext cx="2926079" cy="530352"/>
          </a:xfrm>
          <a:prstGeom prst="rect">
            <a:avLst/>
          </a:prstGeom>
          <a:noFill/>
        </p:spPr>
        <p:txBody>
          <a:bodyPr wrap="square" lIns="0" rIns="0" tIns="0" bIns="0" anchor="ctr">
            <a:spAutoFit/>
          </a:bodyPr>
          <a:lstStyle/>
          <a:p>
            <a:r>
              <a:rPr sz="1050" b="0">
                <a:solidFill>
                  <a:srgbClr val="0F172A"/>
                </a:solidFill>
                <a:latin typeface="Segoe UI"/>
              </a:rPr>
              <a:t>Le programme, ligne à ligne (2 min au lieu de 30)</a:t>
            </a:r>
          </a:p>
        </p:txBody>
      </p:sp>
      <p:sp>
        <p:nvSpPr>
          <p:cNvPr id="40" name="TextBox 39"/>
          <p:cNvSpPr txBox="1"/>
          <p:nvPr/>
        </p:nvSpPr>
        <p:spPr>
          <a:xfrm>
            <a:off x="457200" y="4526280"/>
            <a:ext cx="8229600" cy="274320"/>
          </a:xfrm>
          <a:prstGeom prst="rect">
            <a:avLst/>
          </a:prstGeom>
          <a:noFill/>
        </p:spPr>
        <p:txBody>
          <a:bodyPr wrap="square" lIns="0" rIns="0" tIns="0" bIns="0" anchor="t">
            <a:spAutoFit/>
          </a:bodyPr>
          <a:lstStyle/>
          <a:p>
            <a:r>
              <a:rPr sz="1100" b="0">
                <a:solidFill>
                  <a:srgbClr val="475569"/>
                </a:solidFill>
                <a:latin typeface="Segoe UI"/>
              </a:rPr>
              <a:t>Le modèle garde ce qu'il fait bien : lire, extraire, rédiger, juger un point.</a:t>
            </a:r>
          </a:p>
        </p:txBody>
      </p:sp>
      <p:sp>
        <p:nvSpPr>
          <p:cNvPr id="41" name="TextBox 40"/>
          <p:cNvSpPr txBox="1"/>
          <p:nvPr/>
        </p:nvSpPr>
        <p:spPr>
          <a:xfrm>
            <a:off x="457200" y="4800600"/>
            <a:ext cx="3657600" cy="182880"/>
          </a:xfrm>
          <a:prstGeom prst="rect">
            <a:avLst/>
          </a:prstGeom>
          <a:noFill/>
        </p:spPr>
        <p:txBody>
          <a:bodyPr wrap="square" lIns="0" rIns="0" tIns="0" bIns="0" anchor="t">
            <a:spAutoFit/>
          </a:bodyPr>
          <a:lstStyle/>
          <a:p>
            <a:r>
              <a:rPr sz="800" b="0">
                <a:solidFill>
                  <a:srgbClr val="94A3B8"/>
                </a:solidFill>
                <a:latin typeface="Consolas"/>
              </a:rPr>
              <a:t>E21 · Agents IA &amp; analyse de risques</a:t>
            </a:r>
          </a:p>
        </p:txBody>
      </p:sp>
      <p:sp>
        <p:nvSpPr>
          <p:cNvPr id="42" name="TextBox 41"/>
          <p:cNvSpPr txBox="1"/>
          <p:nvPr/>
        </p:nvSpPr>
        <p:spPr>
          <a:xfrm>
            <a:off x="8321040" y="4800600"/>
            <a:ext cx="365760" cy="182880"/>
          </a:xfrm>
          <a:prstGeom prst="rect">
            <a:avLst/>
          </a:prstGeom>
          <a:noFill/>
        </p:spPr>
        <p:txBody>
          <a:bodyPr wrap="square" lIns="0" rIns="0" tIns="0" bIns="0" anchor="t">
            <a:spAutoFit/>
          </a:bodyPr>
          <a:lstStyle/>
          <a:p>
            <a:pPr algn="r"/>
            <a:r>
              <a:rPr sz="800" b="0">
                <a:solidFill>
                  <a:srgbClr val="94A3B8"/>
                </a:solidFill>
                <a:latin typeface="Consolas"/>
              </a:rPr>
              <a:t>12</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292608"/>
            <a:ext cx="8229600" cy="228600"/>
          </a:xfrm>
          <a:prstGeom prst="rect">
            <a:avLst/>
          </a:prstGeom>
          <a:noFill/>
        </p:spPr>
        <p:txBody>
          <a:bodyPr wrap="square" lIns="0" rIns="0" tIns="0" bIns="0" anchor="t">
            <a:spAutoFit/>
          </a:bodyPr>
          <a:lstStyle/>
          <a:p>
            <a:r>
              <a:rPr sz="1000" b="0">
                <a:solidFill>
                  <a:srgbClr val="0D9488"/>
                </a:solidFill>
                <a:latin typeface="Consolas"/>
              </a:rPr>
              <a:t>V2 · ARCHITECTURE</a:t>
            </a:r>
          </a:p>
        </p:txBody>
      </p:sp>
      <p:sp>
        <p:nvSpPr>
          <p:cNvPr id="3" name="TextBox 2"/>
          <p:cNvSpPr txBox="1"/>
          <p:nvPr/>
        </p:nvSpPr>
        <p:spPr>
          <a:xfrm>
            <a:off x="457200" y="502920"/>
            <a:ext cx="8229600" cy="548640"/>
          </a:xfrm>
          <a:prstGeom prst="rect">
            <a:avLst/>
          </a:prstGeom>
          <a:noFill/>
        </p:spPr>
        <p:txBody>
          <a:bodyPr wrap="square" lIns="0" rIns="0" tIns="0" bIns="0" anchor="t">
            <a:spAutoFit/>
          </a:bodyPr>
          <a:lstStyle/>
          <a:p>
            <a:r>
              <a:rPr sz="2400" b="0">
                <a:solidFill>
                  <a:srgbClr val="0F172A"/>
                </a:solidFill>
                <a:latin typeface="Segoe UI Semibold"/>
              </a:rPr>
              <a:t>Quatre blocs, des modèles locaux</a:t>
            </a:r>
          </a:p>
        </p:txBody>
      </p:sp>
      <p:pic>
        <p:nvPicPr>
          <p:cNvPr id="4" name="Picture 3" descr="d1-architecture.png"/>
          <p:cNvPicPr>
            <a:picLocks noChangeAspect="1"/>
          </p:cNvPicPr>
          <p:nvPr/>
        </p:nvPicPr>
        <p:blipFill>
          <a:blip r:embed="rId2"/>
          <a:stretch>
            <a:fillRect/>
          </a:stretch>
        </p:blipFill>
        <p:spPr>
          <a:xfrm>
            <a:off x="502920" y="1188720"/>
            <a:ext cx="2441551" cy="3520440"/>
          </a:xfrm>
          <a:prstGeom prst="rect">
            <a:avLst/>
          </a:prstGeom>
        </p:spPr>
      </p:pic>
      <p:sp>
        <p:nvSpPr>
          <p:cNvPr id="5" name="Rectangle 4"/>
          <p:cNvSpPr/>
          <p:nvPr/>
        </p:nvSpPr>
        <p:spPr>
          <a:xfrm>
            <a:off x="3566160" y="1389888"/>
            <a:ext cx="82296" cy="82296"/>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767328" y="1325880"/>
            <a:ext cx="4919472" cy="566928"/>
          </a:xfrm>
          <a:prstGeom prst="rect">
            <a:avLst/>
          </a:prstGeom>
          <a:noFill/>
        </p:spPr>
        <p:txBody>
          <a:bodyPr wrap="square" lIns="0" rIns="0" tIns="0" bIns="0" anchor="t">
            <a:spAutoFit/>
          </a:bodyPr>
          <a:lstStyle/>
          <a:p>
            <a:r>
              <a:rPr sz="1100" b="0">
                <a:solidFill>
                  <a:srgbClr val="0F172A"/>
                </a:solidFill>
                <a:latin typeface="Segoe UI"/>
              </a:rPr>
              <a:t>Site Streamlit : documents, lancer, résultats, validation</a:t>
            </a:r>
          </a:p>
        </p:txBody>
      </p:sp>
      <p:sp>
        <p:nvSpPr>
          <p:cNvPr id="7" name="Rectangle 6"/>
          <p:cNvSpPr/>
          <p:nvPr/>
        </p:nvSpPr>
        <p:spPr>
          <a:xfrm>
            <a:off x="3566160" y="1956815"/>
            <a:ext cx="82296" cy="82296"/>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767328" y="1892807"/>
            <a:ext cx="4919472" cy="566928"/>
          </a:xfrm>
          <a:prstGeom prst="rect">
            <a:avLst/>
          </a:prstGeom>
          <a:noFill/>
        </p:spPr>
        <p:txBody>
          <a:bodyPr wrap="square" lIns="0" rIns="0" tIns="0" bIns="0" anchor="t">
            <a:spAutoFit/>
          </a:bodyPr>
          <a:lstStyle/>
          <a:p>
            <a:r>
              <a:rPr sz="1100" b="0">
                <a:solidFill>
                  <a:srgbClr val="0F172A"/>
                </a:solidFill>
                <a:latin typeface="Segoe UI"/>
              </a:rPr>
              <a:t>Dossier de connaissance : faits à extrait exact, contradictions, couverture</a:t>
            </a:r>
          </a:p>
        </p:txBody>
      </p:sp>
      <p:sp>
        <p:nvSpPr>
          <p:cNvPr id="9" name="Rectangle 8"/>
          <p:cNvSpPr/>
          <p:nvPr/>
        </p:nvSpPr>
        <p:spPr>
          <a:xfrm>
            <a:off x="3566160" y="2523744"/>
            <a:ext cx="82296" cy="82296"/>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767328" y="2459736"/>
            <a:ext cx="4919472" cy="566928"/>
          </a:xfrm>
          <a:prstGeom prst="rect">
            <a:avLst/>
          </a:prstGeom>
          <a:noFill/>
        </p:spPr>
        <p:txBody>
          <a:bodyPr wrap="square" lIns="0" rIns="0" tIns="0" bIns="0" anchor="t">
            <a:spAutoFit/>
          </a:bodyPr>
          <a:lstStyle/>
          <a:p>
            <a:r>
              <a:rPr sz="1100" b="0">
                <a:solidFill>
                  <a:srgbClr val="0F172A"/>
                </a:solidFill>
                <a:latin typeface="Segoe UI"/>
              </a:rPr>
              <a:t>Pilote déterministe : ordre des étapes, reprises, contrôles</a:t>
            </a:r>
          </a:p>
        </p:txBody>
      </p:sp>
      <p:sp>
        <p:nvSpPr>
          <p:cNvPr id="11" name="Rectangle 10"/>
          <p:cNvSpPr/>
          <p:nvPr/>
        </p:nvSpPr>
        <p:spPr>
          <a:xfrm>
            <a:off x="3566160" y="3090671"/>
            <a:ext cx="82296" cy="82296"/>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767328" y="3026663"/>
            <a:ext cx="4919472" cy="566928"/>
          </a:xfrm>
          <a:prstGeom prst="rect">
            <a:avLst/>
          </a:prstGeom>
          <a:noFill/>
        </p:spPr>
        <p:txBody>
          <a:bodyPr wrap="square" lIns="0" rIns="0" tIns="0" bIns="0" anchor="t">
            <a:spAutoFit/>
          </a:bodyPr>
          <a:lstStyle/>
          <a:p>
            <a:r>
              <a:rPr sz="1100" b="0">
                <a:solidFill>
                  <a:srgbClr val="0F172A"/>
                </a:solidFill>
                <a:latin typeface="Segoe UI"/>
              </a:rPr>
              <a:t>Ollama sur un poste à carte de 12 Go : un modèle par rôle</a:t>
            </a:r>
          </a:p>
        </p:txBody>
      </p:sp>
      <p:sp>
        <p:nvSpPr>
          <p:cNvPr id="13" name="Rectangle 12"/>
          <p:cNvSpPr/>
          <p:nvPr/>
        </p:nvSpPr>
        <p:spPr>
          <a:xfrm>
            <a:off x="3566160" y="3657599"/>
            <a:ext cx="82296" cy="82296"/>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767328" y="3593591"/>
            <a:ext cx="4919472" cy="566928"/>
          </a:xfrm>
          <a:prstGeom prst="rect">
            <a:avLst/>
          </a:prstGeom>
          <a:noFill/>
        </p:spPr>
        <p:txBody>
          <a:bodyPr wrap="square" lIns="0" rIns="0" tIns="0" bIns="0" anchor="t">
            <a:spAutoFit/>
          </a:bodyPr>
          <a:lstStyle/>
          <a:p>
            <a:r>
              <a:rPr sz="1100" b="0">
                <a:solidFill>
                  <a:srgbClr val="0F172A"/>
                </a:solidFill>
                <a:latin typeface="Segoe UI"/>
              </a:rPr>
              <a:t>Registre, synthèse, mise à jour : établis par le code</a:t>
            </a:r>
          </a:p>
        </p:txBody>
      </p:sp>
      <p:sp>
        <p:nvSpPr>
          <p:cNvPr id="15" name="Rounded Rectangle 14"/>
          <p:cNvSpPr/>
          <p:nvPr/>
        </p:nvSpPr>
        <p:spPr>
          <a:xfrm>
            <a:off x="3566160" y="4251960"/>
            <a:ext cx="5120640" cy="457200"/>
          </a:xfrm>
          <a:prstGeom prst="roundRect">
            <a:avLst>
              <a:gd name="adj" fmla="val 6000"/>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749039" y="4251960"/>
            <a:ext cx="4846320" cy="457200"/>
          </a:xfrm>
          <a:prstGeom prst="rect">
            <a:avLst/>
          </a:prstGeom>
          <a:noFill/>
        </p:spPr>
        <p:txBody>
          <a:bodyPr wrap="square" lIns="0" rIns="0" tIns="0" bIns="0" anchor="ctr">
            <a:spAutoFit/>
          </a:bodyPr>
          <a:lstStyle/>
          <a:p>
            <a:r>
              <a:rPr sz="1100" b="0">
                <a:solidFill>
                  <a:srgbClr val="2DD4BF"/>
                </a:solidFill>
                <a:latin typeface="Segoe UI Semibold"/>
              </a:rPr>
              <a:t>Aucune donnée ne quitte le poste.</a:t>
            </a:r>
          </a:p>
        </p:txBody>
      </p:sp>
      <p:sp>
        <p:nvSpPr>
          <p:cNvPr id="17" name="TextBox 16"/>
          <p:cNvSpPr txBox="1"/>
          <p:nvPr/>
        </p:nvSpPr>
        <p:spPr>
          <a:xfrm>
            <a:off x="8321040" y="4800600"/>
            <a:ext cx="365760" cy="182880"/>
          </a:xfrm>
          <a:prstGeom prst="rect">
            <a:avLst/>
          </a:prstGeom>
          <a:noFill/>
        </p:spPr>
        <p:txBody>
          <a:bodyPr wrap="square" lIns="0" rIns="0" tIns="0" bIns="0" anchor="t">
            <a:spAutoFit/>
          </a:bodyPr>
          <a:lstStyle/>
          <a:p>
            <a:pPr algn="r"/>
            <a:r>
              <a:rPr sz="800" b="0">
                <a:solidFill>
                  <a:srgbClr val="94A3B8"/>
                </a:solidFill>
                <a:latin typeface="Consolas"/>
              </a:rPr>
              <a:t>13</a:t>
            </a:r>
          </a:p>
        </p:txBody>
      </p:sp>
      <p:sp>
        <p:nvSpPr>
          <p:cNvPr id="18" name="TextBox 17"/>
          <p:cNvSpPr txBox="1"/>
          <p:nvPr/>
        </p:nvSpPr>
        <p:spPr>
          <a:xfrm>
            <a:off x="457200" y="4800600"/>
            <a:ext cx="3657600" cy="182880"/>
          </a:xfrm>
          <a:prstGeom prst="rect">
            <a:avLst/>
          </a:prstGeom>
          <a:noFill/>
        </p:spPr>
        <p:txBody>
          <a:bodyPr wrap="square" lIns="0" rIns="0" tIns="0" bIns="0" anchor="t">
            <a:spAutoFit/>
          </a:bodyPr>
          <a:lstStyle/>
          <a:p>
            <a:r>
              <a:rPr sz="800" b="0">
                <a:solidFill>
                  <a:srgbClr val="94A3B8"/>
                </a:solidFill>
                <a:latin typeface="Consolas"/>
              </a:rPr>
              <a:t>E21 · Agents IA &amp; analyse de risques</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292608"/>
            <a:ext cx="8229600" cy="228600"/>
          </a:xfrm>
          <a:prstGeom prst="rect">
            <a:avLst/>
          </a:prstGeom>
          <a:noFill/>
        </p:spPr>
        <p:txBody>
          <a:bodyPr wrap="square" lIns="0" rIns="0" tIns="0" bIns="0" anchor="t">
            <a:spAutoFit/>
          </a:bodyPr>
          <a:lstStyle/>
          <a:p>
            <a:r>
              <a:rPr sz="1000" b="0">
                <a:solidFill>
                  <a:srgbClr val="0D9488"/>
                </a:solidFill>
                <a:latin typeface="Consolas"/>
              </a:rPr>
              <a:t>V2 · LA CHAÎNE</a:t>
            </a:r>
          </a:p>
        </p:txBody>
      </p:sp>
      <p:sp>
        <p:nvSpPr>
          <p:cNvPr id="3" name="TextBox 2"/>
          <p:cNvSpPr txBox="1"/>
          <p:nvPr/>
        </p:nvSpPr>
        <p:spPr>
          <a:xfrm>
            <a:off x="457200" y="502920"/>
            <a:ext cx="8229600" cy="548640"/>
          </a:xfrm>
          <a:prstGeom prst="rect">
            <a:avLst/>
          </a:prstGeom>
          <a:noFill/>
        </p:spPr>
        <p:txBody>
          <a:bodyPr wrap="square" lIns="0" rIns="0" tIns="0" bIns="0" anchor="t">
            <a:spAutoFit/>
          </a:bodyPr>
          <a:lstStyle/>
          <a:p>
            <a:r>
              <a:rPr sz="2400" b="0">
                <a:solidFill>
                  <a:srgbClr val="0F172A"/>
                </a:solidFill>
                <a:latin typeface="Segoe UI Semibold"/>
              </a:rPr>
              <a:t>Sept étapes : ce que fait le modèle, ce que fait le code</a:t>
            </a:r>
          </a:p>
        </p:txBody>
      </p:sp>
      <p:pic>
        <p:nvPicPr>
          <p:cNvPr id="4" name="Picture 3" descr="d2-chaine.png"/>
          <p:cNvPicPr>
            <a:picLocks noChangeAspect="1"/>
          </p:cNvPicPr>
          <p:nvPr/>
        </p:nvPicPr>
        <p:blipFill>
          <a:blip r:embed="rId2"/>
          <a:stretch>
            <a:fillRect/>
          </a:stretch>
        </p:blipFill>
        <p:spPr>
          <a:xfrm>
            <a:off x="822960" y="1188720"/>
            <a:ext cx="7498079" cy="3467272"/>
          </a:xfrm>
          <a:prstGeom prst="rect">
            <a:avLst/>
          </a:prstGeom>
        </p:spPr>
      </p:pic>
      <p:sp>
        <p:nvSpPr>
          <p:cNvPr id="5" name="TextBox 4"/>
          <p:cNvSpPr txBox="1"/>
          <p:nvPr/>
        </p:nvSpPr>
        <p:spPr>
          <a:xfrm>
            <a:off x="457200" y="4800600"/>
            <a:ext cx="3657600" cy="182880"/>
          </a:xfrm>
          <a:prstGeom prst="rect">
            <a:avLst/>
          </a:prstGeom>
          <a:noFill/>
        </p:spPr>
        <p:txBody>
          <a:bodyPr wrap="square" lIns="0" rIns="0" tIns="0" bIns="0" anchor="t">
            <a:spAutoFit/>
          </a:bodyPr>
          <a:lstStyle/>
          <a:p>
            <a:r>
              <a:rPr sz="800" b="0">
                <a:solidFill>
                  <a:srgbClr val="94A3B8"/>
                </a:solidFill>
                <a:latin typeface="Consolas"/>
              </a:rPr>
              <a:t>E21 · Agents IA &amp; analyse de risques</a:t>
            </a:r>
          </a:p>
        </p:txBody>
      </p:sp>
      <p:sp>
        <p:nvSpPr>
          <p:cNvPr id="6" name="TextBox 5"/>
          <p:cNvSpPr txBox="1"/>
          <p:nvPr/>
        </p:nvSpPr>
        <p:spPr>
          <a:xfrm>
            <a:off x="8321040" y="4800600"/>
            <a:ext cx="365760" cy="182880"/>
          </a:xfrm>
          <a:prstGeom prst="rect">
            <a:avLst/>
          </a:prstGeom>
          <a:noFill/>
        </p:spPr>
        <p:txBody>
          <a:bodyPr wrap="square" lIns="0" rIns="0" tIns="0" bIns="0" anchor="t">
            <a:spAutoFit/>
          </a:bodyPr>
          <a:lstStyle/>
          <a:p>
            <a:pPr algn="r"/>
            <a:r>
              <a:rPr sz="800" b="0">
                <a:solidFill>
                  <a:srgbClr val="94A3B8"/>
                </a:solidFill>
                <a:latin typeface="Consolas"/>
              </a:rPr>
              <a:t>14</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292608"/>
            <a:ext cx="8229600" cy="228600"/>
          </a:xfrm>
          <a:prstGeom prst="rect">
            <a:avLst/>
          </a:prstGeom>
          <a:noFill/>
        </p:spPr>
        <p:txBody>
          <a:bodyPr wrap="square" lIns="0" rIns="0" tIns="0" bIns="0" anchor="t">
            <a:spAutoFit/>
          </a:bodyPr>
          <a:lstStyle/>
          <a:p>
            <a:r>
              <a:rPr sz="1000" b="0">
                <a:solidFill>
                  <a:srgbClr val="0D9488"/>
                </a:solidFill>
                <a:latin typeface="Consolas"/>
              </a:rPr>
              <a:t>V2 · DOSSIER DE CONNAISSANCE</a:t>
            </a:r>
          </a:p>
        </p:txBody>
      </p:sp>
      <p:sp>
        <p:nvSpPr>
          <p:cNvPr id="3" name="TextBox 2"/>
          <p:cNvSpPr txBox="1"/>
          <p:nvPr/>
        </p:nvSpPr>
        <p:spPr>
          <a:xfrm>
            <a:off x="457200" y="502920"/>
            <a:ext cx="8229600" cy="548640"/>
          </a:xfrm>
          <a:prstGeom prst="rect">
            <a:avLst/>
          </a:prstGeom>
          <a:noFill/>
        </p:spPr>
        <p:txBody>
          <a:bodyPr wrap="square" lIns="0" rIns="0" tIns="0" bIns="0" anchor="t">
            <a:spAutoFit/>
          </a:bodyPr>
          <a:lstStyle/>
          <a:p>
            <a:r>
              <a:rPr sz="2400" b="0">
                <a:solidFill>
                  <a:srgbClr val="0F172A"/>
                </a:solidFill>
                <a:latin typeface="Segoe UI Semibold"/>
              </a:rPr>
              <a:t>Lire les documents avant d'analyser</a:t>
            </a:r>
          </a:p>
        </p:txBody>
      </p:sp>
      <p:sp>
        <p:nvSpPr>
          <p:cNvPr id="4" name="Rounded Rectangle 3"/>
          <p:cNvSpPr/>
          <p:nvPr/>
        </p:nvSpPr>
        <p:spPr>
          <a:xfrm>
            <a:off x="457200" y="1280160"/>
            <a:ext cx="1920240" cy="1737360"/>
          </a:xfrm>
          <a:prstGeom prst="roundRect">
            <a:avLst>
              <a:gd name="adj" fmla="val 6000"/>
            </a:avLst>
          </a:prstGeom>
          <a:solidFill>
            <a:srgbClr val="F4F7FA"/>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444751"/>
            <a:ext cx="1554480" cy="548640"/>
          </a:xfrm>
          <a:prstGeom prst="rect">
            <a:avLst/>
          </a:prstGeom>
          <a:noFill/>
        </p:spPr>
        <p:txBody>
          <a:bodyPr wrap="square" lIns="0" rIns="0" tIns="0" bIns="0" anchor="t">
            <a:spAutoFit/>
          </a:bodyPr>
          <a:lstStyle/>
          <a:p>
            <a:r>
              <a:rPr sz="2600" b="0">
                <a:solidFill>
                  <a:srgbClr val="0D9488"/>
                </a:solidFill>
                <a:latin typeface="Segoe UI Semibold"/>
              </a:rPr>
              <a:t>97 %</a:t>
            </a:r>
          </a:p>
        </p:txBody>
      </p:sp>
      <p:sp>
        <p:nvSpPr>
          <p:cNvPr id="6" name="TextBox 5"/>
          <p:cNvSpPr txBox="1"/>
          <p:nvPr/>
        </p:nvSpPr>
        <p:spPr>
          <a:xfrm>
            <a:off x="640080" y="2057400"/>
            <a:ext cx="1554480" cy="868680"/>
          </a:xfrm>
          <a:prstGeom prst="rect">
            <a:avLst/>
          </a:prstGeom>
          <a:noFill/>
        </p:spPr>
        <p:txBody>
          <a:bodyPr wrap="square" lIns="0" rIns="0" tIns="0" bIns="0" anchor="t">
            <a:spAutoFit/>
          </a:bodyPr>
          <a:lstStyle/>
          <a:p>
            <a:r>
              <a:rPr sz="1050" b="0">
                <a:solidFill>
                  <a:srgbClr val="475569"/>
                </a:solidFill>
                <a:latin typeface="Segoe UI"/>
              </a:rPr>
              <a:t>des faits extraits sont des citations exactes (435 sur 447)</a:t>
            </a:r>
          </a:p>
        </p:txBody>
      </p:sp>
      <p:sp>
        <p:nvSpPr>
          <p:cNvPr id="7" name="Rounded Rectangle 6"/>
          <p:cNvSpPr/>
          <p:nvPr/>
        </p:nvSpPr>
        <p:spPr>
          <a:xfrm>
            <a:off x="2542032" y="1280160"/>
            <a:ext cx="1920240" cy="1737360"/>
          </a:xfrm>
          <a:prstGeom prst="roundRect">
            <a:avLst>
              <a:gd name="adj" fmla="val 6000"/>
            </a:avLst>
          </a:prstGeom>
          <a:solidFill>
            <a:srgbClr val="F4F7FA"/>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724912" y="1444751"/>
            <a:ext cx="1554480" cy="548640"/>
          </a:xfrm>
          <a:prstGeom prst="rect">
            <a:avLst/>
          </a:prstGeom>
          <a:noFill/>
        </p:spPr>
        <p:txBody>
          <a:bodyPr wrap="square" lIns="0" rIns="0" tIns="0" bIns="0" anchor="t">
            <a:spAutoFit/>
          </a:bodyPr>
          <a:lstStyle/>
          <a:p>
            <a:r>
              <a:rPr sz="2600" b="0">
                <a:solidFill>
                  <a:srgbClr val="0D9488"/>
                </a:solidFill>
                <a:latin typeface="Segoe UI Semibold"/>
              </a:rPr>
              <a:t>86 %</a:t>
            </a:r>
          </a:p>
        </p:txBody>
      </p:sp>
      <p:sp>
        <p:nvSpPr>
          <p:cNvPr id="9" name="TextBox 8"/>
          <p:cNvSpPr txBox="1"/>
          <p:nvPr/>
        </p:nvSpPr>
        <p:spPr>
          <a:xfrm>
            <a:off x="2724912" y="2057400"/>
            <a:ext cx="1554480" cy="868680"/>
          </a:xfrm>
          <a:prstGeom prst="rect">
            <a:avLst/>
          </a:prstGeom>
          <a:noFill/>
        </p:spPr>
        <p:txBody>
          <a:bodyPr wrap="square" lIns="0" rIns="0" tIns="0" bIns="0" anchor="t">
            <a:spAutoFit/>
          </a:bodyPr>
          <a:lstStyle/>
          <a:p>
            <a:r>
              <a:rPr sz="1050" b="0">
                <a:solidFill>
                  <a:srgbClr val="475569"/>
                </a:solidFill>
                <a:latin typeface="Segoe UI"/>
              </a:rPr>
              <a:t>des relations vérifiées (372 sur 430)</a:t>
            </a:r>
          </a:p>
        </p:txBody>
      </p:sp>
      <p:sp>
        <p:nvSpPr>
          <p:cNvPr id="10" name="Rounded Rectangle 9"/>
          <p:cNvSpPr/>
          <p:nvPr/>
        </p:nvSpPr>
        <p:spPr>
          <a:xfrm>
            <a:off x="4626864" y="1280160"/>
            <a:ext cx="1920240" cy="1737360"/>
          </a:xfrm>
          <a:prstGeom prst="roundRect">
            <a:avLst>
              <a:gd name="adj" fmla="val 6000"/>
            </a:avLst>
          </a:prstGeom>
          <a:solidFill>
            <a:srgbClr val="F4F7FA"/>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809744" y="1444751"/>
            <a:ext cx="1554480" cy="548640"/>
          </a:xfrm>
          <a:prstGeom prst="rect">
            <a:avLst/>
          </a:prstGeom>
          <a:noFill/>
        </p:spPr>
        <p:txBody>
          <a:bodyPr wrap="square" lIns="0" rIns="0" tIns="0" bIns="0" anchor="t">
            <a:spAutoFit/>
          </a:bodyPr>
          <a:lstStyle/>
          <a:p>
            <a:r>
              <a:rPr sz="2600" b="0">
                <a:solidFill>
                  <a:srgbClr val="0D9488"/>
                </a:solidFill>
                <a:latin typeface="Segoe UI Semibold"/>
              </a:rPr>
              <a:t>96 %</a:t>
            </a:r>
          </a:p>
        </p:txBody>
      </p:sp>
      <p:sp>
        <p:nvSpPr>
          <p:cNvPr id="12" name="TextBox 11"/>
          <p:cNvSpPr txBox="1"/>
          <p:nvPr/>
        </p:nvSpPr>
        <p:spPr>
          <a:xfrm>
            <a:off x="4809744" y="2057400"/>
            <a:ext cx="1554480" cy="868680"/>
          </a:xfrm>
          <a:prstGeom prst="rect">
            <a:avLst/>
          </a:prstGeom>
          <a:noFill/>
        </p:spPr>
        <p:txBody>
          <a:bodyPr wrap="square" lIns="0" rIns="0" tIns="0" bIns="0" anchor="t">
            <a:spAutoFit/>
          </a:bodyPr>
          <a:lstStyle/>
          <a:p>
            <a:r>
              <a:rPr sz="1050" b="0">
                <a:solidFill>
                  <a:srgbClr val="475569"/>
                </a:solidFill>
                <a:latin typeface="Segoe UI"/>
              </a:rPr>
              <a:t>des questions retrouvent le bon passage parmi les 8 premiers</a:t>
            </a:r>
          </a:p>
        </p:txBody>
      </p:sp>
      <p:sp>
        <p:nvSpPr>
          <p:cNvPr id="13" name="Rounded Rectangle 12"/>
          <p:cNvSpPr/>
          <p:nvPr/>
        </p:nvSpPr>
        <p:spPr>
          <a:xfrm>
            <a:off x="6711696" y="1280160"/>
            <a:ext cx="1920240" cy="1737360"/>
          </a:xfrm>
          <a:prstGeom prst="roundRect">
            <a:avLst>
              <a:gd name="adj" fmla="val 6000"/>
            </a:avLst>
          </a:prstGeom>
          <a:solidFill>
            <a:srgbClr val="F4F7FA"/>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94576" y="1444751"/>
            <a:ext cx="1554480" cy="548640"/>
          </a:xfrm>
          <a:prstGeom prst="rect">
            <a:avLst/>
          </a:prstGeom>
          <a:noFill/>
        </p:spPr>
        <p:txBody>
          <a:bodyPr wrap="square" lIns="0" rIns="0" tIns="0" bIns="0" anchor="t">
            <a:spAutoFit/>
          </a:bodyPr>
          <a:lstStyle/>
          <a:p>
            <a:r>
              <a:rPr sz="2600" b="0">
                <a:solidFill>
                  <a:srgbClr val="DC2626"/>
                </a:solidFill>
                <a:latin typeface="Segoe UI Semibold"/>
              </a:rPr>
              <a:t>60–70 %</a:t>
            </a:r>
          </a:p>
        </p:txBody>
      </p:sp>
      <p:sp>
        <p:nvSpPr>
          <p:cNvPr id="15" name="TextBox 14"/>
          <p:cNvSpPr txBox="1"/>
          <p:nvPr/>
        </p:nvSpPr>
        <p:spPr>
          <a:xfrm>
            <a:off x="6894576" y="2057400"/>
            <a:ext cx="1554480" cy="868680"/>
          </a:xfrm>
          <a:prstGeom prst="rect">
            <a:avLst/>
          </a:prstGeom>
          <a:noFill/>
        </p:spPr>
        <p:txBody>
          <a:bodyPr wrap="square" lIns="0" rIns="0" tIns="0" bIns="0" anchor="t">
            <a:spAutoFit/>
          </a:bodyPr>
          <a:lstStyle/>
          <a:p>
            <a:r>
              <a:rPr sz="1050" b="0">
                <a:solidFill>
                  <a:srgbClr val="475569"/>
                </a:solidFill>
                <a:latin typeface="Segoe UI"/>
              </a:rPr>
              <a:t>de précision des contradictions : c'est bruyant</a:t>
            </a:r>
          </a:p>
        </p:txBody>
      </p:sp>
      <p:sp>
        <p:nvSpPr>
          <p:cNvPr id="16" name="Rounded Rectangle 15"/>
          <p:cNvSpPr/>
          <p:nvPr/>
        </p:nvSpPr>
        <p:spPr>
          <a:xfrm>
            <a:off x="457200" y="3246120"/>
            <a:ext cx="8229600" cy="1280160"/>
          </a:xfrm>
          <a:prstGeom prst="roundRect">
            <a:avLst>
              <a:gd name="adj" fmla="val 6000"/>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85800" y="3383280"/>
            <a:ext cx="7772400" cy="228600"/>
          </a:xfrm>
          <a:prstGeom prst="rect">
            <a:avLst/>
          </a:prstGeom>
          <a:noFill/>
        </p:spPr>
        <p:txBody>
          <a:bodyPr wrap="square" lIns="0" rIns="0" tIns="0" bIns="0" anchor="t">
            <a:spAutoFit/>
          </a:bodyPr>
          <a:lstStyle/>
          <a:p>
            <a:r>
              <a:rPr sz="1000" b="1">
                <a:solidFill>
                  <a:srgbClr val="2DD4BF"/>
                </a:solidFill>
                <a:latin typeface="Consolas"/>
              </a:rPr>
              <a:t>CE QUE CONTIENT LE DOSSIER</a:t>
            </a:r>
          </a:p>
        </p:txBody>
      </p:sp>
      <p:sp>
        <p:nvSpPr>
          <p:cNvPr id="18" name="TextBox 17"/>
          <p:cNvSpPr txBox="1"/>
          <p:nvPr/>
        </p:nvSpPr>
        <p:spPr>
          <a:xfrm>
            <a:off x="685800" y="3657600"/>
            <a:ext cx="7772400" cy="822960"/>
          </a:xfrm>
          <a:prstGeom prst="rect">
            <a:avLst/>
          </a:prstGeom>
          <a:noFill/>
        </p:spPr>
        <p:txBody>
          <a:bodyPr wrap="square" lIns="0" rIns="0" tIns="0" bIns="0" anchor="t">
            <a:spAutoFit/>
          </a:bodyPr>
          <a:lstStyle/>
          <a:p>
            <a:r>
              <a:rPr sz="1150" b="0">
                <a:solidFill>
                  <a:srgbClr val="FFFFFF"/>
                </a:solidFill>
                <a:latin typeface="Segoe UI"/>
              </a:rPr>
              <a:t>Faits à extrait exact · relations typées · contradictions croisées entre documents · couverture « connu / partiel / inconnu » · carte d'identité de chaque document (type, fiabilité, date) · passages d'origine.</a:t>
            </a:r>
          </a:p>
        </p:txBody>
      </p:sp>
      <p:sp>
        <p:nvSpPr>
          <p:cNvPr id="19" name="TextBox 18"/>
          <p:cNvSpPr txBox="1"/>
          <p:nvPr/>
        </p:nvSpPr>
        <p:spPr>
          <a:xfrm>
            <a:off x="457200" y="4800600"/>
            <a:ext cx="3657600" cy="182880"/>
          </a:xfrm>
          <a:prstGeom prst="rect">
            <a:avLst/>
          </a:prstGeom>
          <a:noFill/>
        </p:spPr>
        <p:txBody>
          <a:bodyPr wrap="square" lIns="0" rIns="0" tIns="0" bIns="0" anchor="t">
            <a:spAutoFit/>
          </a:bodyPr>
          <a:lstStyle/>
          <a:p>
            <a:r>
              <a:rPr sz="800" b="0">
                <a:solidFill>
                  <a:srgbClr val="94A3B8"/>
                </a:solidFill>
                <a:latin typeface="Consolas"/>
              </a:rPr>
              <a:t>E21 · Agents IA &amp; analyse de risques</a:t>
            </a:r>
          </a:p>
        </p:txBody>
      </p:sp>
      <p:sp>
        <p:nvSpPr>
          <p:cNvPr id="20" name="TextBox 19"/>
          <p:cNvSpPr txBox="1"/>
          <p:nvPr/>
        </p:nvSpPr>
        <p:spPr>
          <a:xfrm>
            <a:off x="8321040" y="4800600"/>
            <a:ext cx="365760" cy="182880"/>
          </a:xfrm>
          <a:prstGeom prst="rect">
            <a:avLst/>
          </a:prstGeom>
          <a:noFill/>
        </p:spPr>
        <p:txBody>
          <a:bodyPr wrap="square" lIns="0" rIns="0" tIns="0" bIns="0" anchor="t">
            <a:spAutoFit/>
          </a:bodyPr>
          <a:lstStyle/>
          <a:p>
            <a:pPr algn="r"/>
            <a:r>
              <a:rPr sz="800" b="0">
                <a:solidFill>
                  <a:srgbClr val="94A3B8"/>
                </a:solidFill>
                <a:latin typeface="Consolas"/>
              </a:rPr>
              <a:t>15</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292608"/>
            <a:ext cx="8229600" cy="228600"/>
          </a:xfrm>
          <a:prstGeom prst="rect">
            <a:avLst/>
          </a:prstGeom>
          <a:noFill/>
        </p:spPr>
        <p:txBody>
          <a:bodyPr wrap="square" lIns="0" rIns="0" tIns="0" bIns="0" anchor="t">
            <a:spAutoFit/>
          </a:bodyPr>
          <a:lstStyle/>
          <a:p>
            <a:r>
              <a:rPr sz="1000" b="0">
                <a:solidFill>
                  <a:srgbClr val="0D9488"/>
                </a:solidFill>
                <a:latin typeface="Consolas"/>
              </a:rPr>
              <a:t>V2 · LA PREUVE</a:t>
            </a:r>
          </a:p>
        </p:txBody>
      </p:sp>
      <p:sp>
        <p:nvSpPr>
          <p:cNvPr id="3" name="TextBox 2"/>
          <p:cNvSpPr txBox="1"/>
          <p:nvPr/>
        </p:nvSpPr>
        <p:spPr>
          <a:xfrm>
            <a:off x="457200" y="502920"/>
            <a:ext cx="8229600" cy="548640"/>
          </a:xfrm>
          <a:prstGeom prst="rect">
            <a:avLst/>
          </a:prstGeom>
          <a:noFill/>
        </p:spPr>
        <p:txBody>
          <a:bodyPr wrap="square" lIns="0" rIns="0" tIns="0" bIns="0" anchor="t">
            <a:spAutoFit/>
          </a:bodyPr>
          <a:lstStyle/>
          <a:p>
            <a:r>
              <a:rPr sz="2400" b="0">
                <a:solidFill>
                  <a:srgbClr val="0F172A"/>
                </a:solidFill>
                <a:latin typeface="Segoe UI Semibold"/>
              </a:rPr>
              <a:t>Une preuve pour chaque phrase</a:t>
            </a:r>
          </a:p>
        </p:txBody>
      </p:sp>
      <p:pic>
        <p:nvPicPr>
          <p:cNvPr id="4" name="Picture 3" descr="d3-tracabilite.png"/>
          <p:cNvPicPr>
            <a:picLocks noChangeAspect="1"/>
          </p:cNvPicPr>
          <p:nvPr/>
        </p:nvPicPr>
        <p:blipFill>
          <a:blip r:embed="rId2"/>
          <a:stretch>
            <a:fillRect/>
          </a:stretch>
        </p:blipFill>
        <p:spPr>
          <a:xfrm>
            <a:off x="1298448" y="1188720"/>
            <a:ext cx="6552372" cy="2743200"/>
          </a:xfrm>
          <a:prstGeom prst="rect">
            <a:avLst/>
          </a:prstGeom>
        </p:spPr>
      </p:pic>
      <p:sp>
        <p:nvSpPr>
          <p:cNvPr id="5" name="Rounded Rectangle 4"/>
          <p:cNvSpPr/>
          <p:nvPr/>
        </p:nvSpPr>
        <p:spPr>
          <a:xfrm>
            <a:off x="457200" y="4069080"/>
            <a:ext cx="8229600" cy="594360"/>
          </a:xfrm>
          <a:prstGeom prst="roundRect">
            <a:avLst>
              <a:gd name="adj" fmla="val 6000"/>
            </a:avLst>
          </a:prstGeom>
          <a:solidFill>
            <a:srgbClr val="F4F7FA"/>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85800" y="4069080"/>
            <a:ext cx="7772400" cy="594360"/>
          </a:xfrm>
          <a:prstGeom prst="rect">
            <a:avLst/>
          </a:prstGeom>
          <a:noFill/>
        </p:spPr>
        <p:txBody>
          <a:bodyPr wrap="square" lIns="0" rIns="0" tIns="0" bIns="0" anchor="ctr">
            <a:spAutoFit/>
          </a:bodyPr>
          <a:lstStyle/>
          <a:p>
            <a:r>
              <a:rPr sz="1050" b="0">
                <a:solidFill>
                  <a:srgbClr val="0F172A"/>
                </a:solidFill>
                <a:latin typeface="Segoe UI"/>
              </a:rPr>
              <a:t>[E12] renvoie à l'extrait exact. Le code vérifie qu'il existe dans le document. Une citation inexistante est signalée (125 lignes sur SanteTech) : le système le dit, il ne le cache pas.</a:t>
            </a:r>
          </a:p>
        </p:txBody>
      </p:sp>
      <p:sp>
        <p:nvSpPr>
          <p:cNvPr id="7" name="TextBox 6"/>
          <p:cNvSpPr txBox="1"/>
          <p:nvPr/>
        </p:nvSpPr>
        <p:spPr>
          <a:xfrm>
            <a:off x="457200" y="4800600"/>
            <a:ext cx="3657600" cy="182880"/>
          </a:xfrm>
          <a:prstGeom prst="rect">
            <a:avLst/>
          </a:prstGeom>
          <a:noFill/>
        </p:spPr>
        <p:txBody>
          <a:bodyPr wrap="square" lIns="0" rIns="0" tIns="0" bIns="0" anchor="t">
            <a:spAutoFit/>
          </a:bodyPr>
          <a:lstStyle/>
          <a:p>
            <a:r>
              <a:rPr sz="800" b="0">
                <a:solidFill>
                  <a:srgbClr val="94A3B8"/>
                </a:solidFill>
                <a:latin typeface="Consolas"/>
              </a:rPr>
              <a:t>E21 · Agents IA &amp; analyse de risques</a:t>
            </a:r>
          </a:p>
        </p:txBody>
      </p:sp>
      <p:sp>
        <p:nvSpPr>
          <p:cNvPr id="8" name="TextBox 7"/>
          <p:cNvSpPr txBox="1"/>
          <p:nvPr/>
        </p:nvSpPr>
        <p:spPr>
          <a:xfrm>
            <a:off x="8321040" y="4800600"/>
            <a:ext cx="365760" cy="182880"/>
          </a:xfrm>
          <a:prstGeom prst="rect">
            <a:avLst/>
          </a:prstGeom>
          <a:noFill/>
        </p:spPr>
        <p:txBody>
          <a:bodyPr wrap="square" lIns="0" rIns="0" tIns="0" bIns="0" anchor="t">
            <a:spAutoFit/>
          </a:bodyPr>
          <a:lstStyle/>
          <a:p>
            <a:pPr algn="r"/>
            <a:r>
              <a:rPr sz="800" b="0">
                <a:solidFill>
                  <a:srgbClr val="94A3B8"/>
                </a:solidFill>
                <a:latin typeface="Consolas"/>
              </a:rPr>
              <a:t>16</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292608"/>
            <a:ext cx="8229600" cy="228600"/>
          </a:xfrm>
          <a:prstGeom prst="rect">
            <a:avLst/>
          </a:prstGeom>
          <a:noFill/>
        </p:spPr>
        <p:txBody>
          <a:bodyPr wrap="square" lIns="0" rIns="0" tIns="0" bIns="0" anchor="t">
            <a:spAutoFit/>
          </a:bodyPr>
          <a:lstStyle/>
          <a:p>
            <a:r>
              <a:rPr sz="1000" b="0">
                <a:solidFill>
                  <a:srgbClr val="0D9488"/>
                </a:solidFill>
                <a:latin typeface="Consolas"/>
              </a:rPr>
              <a:t>V2 · MODÈLES</a:t>
            </a:r>
          </a:p>
        </p:txBody>
      </p:sp>
      <p:sp>
        <p:nvSpPr>
          <p:cNvPr id="3" name="TextBox 2"/>
          <p:cNvSpPr txBox="1"/>
          <p:nvPr/>
        </p:nvSpPr>
        <p:spPr>
          <a:xfrm>
            <a:off x="457200" y="502920"/>
            <a:ext cx="8229600" cy="548640"/>
          </a:xfrm>
          <a:prstGeom prst="rect">
            <a:avLst/>
          </a:prstGeom>
          <a:noFill/>
        </p:spPr>
        <p:txBody>
          <a:bodyPr wrap="square" lIns="0" rIns="0" tIns="0" bIns="0" anchor="t">
            <a:spAutoFit/>
          </a:bodyPr>
          <a:lstStyle/>
          <a:p>
            <a:r>
              <a:rPr sz="2400" b="0">
                <a:solidFill>
                  <a:srgbClr val="0F172A"/>
                </a:solidFill>
                <a:latin typeface="Segoe UI Semibold"/>
              </a:rPr>
              <a:t>Chaîne locale : un modèle par rôle</a:t>
            </a:r>
          </a:p>
        </p:txBody>
      </p:sp>
      <p:sp>
        <p:nvSpPr>
          <p:cNvPr id="4" name="Rectangle 3"/>
          <p:cNvSpPr/>
          <p:nvPr/>
        </p:nvSpPr>
        <p:spPr>
          <a:xfrm>
            <a:off x="457200" y="1234440"/>
            <a:ext cx="1920240" cy="45720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234440"/>
            <a:ext cx="1737360" cy="457200"/>
          </a:xfrm>
          <a:prstGeom prst="rect">
            <a:avLst/>
          </a:prstGeom>
          <a:noFill/>
        </p:spPr>
        <p:txBody>
          <a:bodyPr wrap="square" lIns="0" rIns="0" tIns="0" bIns="0" anchor="ctr">
            <a:spAutoFit/>
          </a:bodyPr>
          <a:lstStyle/>
          <a:p>
            <a:r>
              <a:rPr sz="1050" b="0">
                <a:solidFill>
                  <a:srgbClr val="FFFFFF"/>
                </a:solidFill>
                <a:latin typeface="Segoe UI Semibold"/>
              </a:rPr>
              <a:t>Rôle</a:t>
            </a:r>
          </a:p>
        </p:txBody>
      </p:sp>
      <p:sp>
        <p:nvSpPr>
          <p:cNvPr id="6" name="Rectangle 5"/>
          <p:cNvSpPr/>
          <p:nvPr/>
        </p:nvSpPr>
        <p:spPr>
          <a:xfrm>
            <a:off x="2377440" y="1234440"/>
            <a:ext cx="1737360" cy="45720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468880" y="1234440"/>
            <a:ext cx="1554480" cy="457200"/>
          </a:xfrm>
          <a:prstGeom prst="rect">
            <a:avLst/>
          </a:prstGeom>
          <a:noFill/>
        </p:spPr>
        <p:txBody>
          <a:bodyPr wrap="square" lIns="0" rIns="0" tIns="0" bIns="0" anchor="ctr">
            <a:spAutoFit/>
          </a:bodyPr>
          <a:lstStyle/>
          <a:p>
            <a:r>
              <a:rPr sz="1050" b="0">
                <a:solidFill>
                  <a:srgbClr val="FFFFFF"/>
                </a:solidFill>
                <a:latin typeface="Segoe UI Semibold"/>
              </a:rPr>
              <a:t>Modèle</a:t>
            </a:r>
          </a:p>
        </p:txBody>
      </p:sp>
      <p:sp>
        <p:nvSpPr>
          <p:cNvPr id="8" name="Rectangle 7"/>
          <p:cNvSpPr/>
          <p:nvPr/>
        </p:nvSpPr>
        <p:spPr>
          <a:xfrm>
            <a:off x="4114800" y="1234440"/>
            <a:ext cx="2468880" cy="45720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206240" y="1234440"/>
            <a:ext cx="2286000" cy="457200"/>
          </a:xfrm>
          <a:prstGeom prst="rect">
            <a:avLst/>
          </a:prstGeom>
          <a:noFill/>
        </p:spPr>
        <p:txBody>
          <a:bodyPr wrap="square" lIns="0" rIns="0" tIns="0" bIns="0" anchor="ctr">
            <a:spAutoFit/>
          </a:bodyPr>
          <a:lstStyle/>
          <a:p>
            <a:r>
              <a:rPr sz="1050" b="0">
                <a:solidFill>
                  <a:srgbClr val="FFFFFF"/>
                </a:solidFill>
                <a:latin typeface="Segoe UI Semibold"/>
              </a:rPr>
              <a:t>Mesure</a:t>
            </a:r>
          </a:p>
        </p:txBody>
      </p:sp>
      <p:sp>
        <p:nvSpPr>
          <p:cNvPr id="10" name="Rectangle 9"/>
          <p:cNvSpPr/>
          <p:nvPr/>
        </p:nvSpPr>
        <p:spPr>
          <a:xfrm>
            <a:off x="457200" y="1691640"/>
            <a:ext cx="1920240" cy="45720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691640"/>
            <a:ext cx="1737360" cy="457200"/>
          </a:xfrm>
          <a:prstGeom prst="rect">
            <a:avLst/>
          </a:prstGeom>
          <a:noFill/>
        </p:spPr>
        <p:txBody>
          <a:bodyPr wrap="square" lIns="0" rIns="0" tIns="0" bIns="0" anchor="ctr">
            <a:spAutoFit/>
          </a:bodyPr>
          <a:lstStyle/>
          <a:p>
            <a:r>
              <a:rPr sz="1050" b="0">
                <a:solidFill>
                  <a:srgbClr val="0F172A"/>
                </a:solidFill>
                <a:latin typeface="Segoe UI Semibold"/>
              </a:rPr>
              <a:t>Rédaction, extraction</a:t>
            </a:r>
          </a:p>
        </p:txBody>
      </p:sp>
      <p:sp>
        <p:nvSpPr>
          <p:cNvPr id="12" name="Rectangle 11"/>
          <p:cNvSpPr/>
          <p:nvPr/>
        </p:nvSpPr>
        <p:spPr>
          <a:xfrm>
            <a:off x="2377440" y="1691640"/>
            <a:ext cx="1737360" cy="45720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468880" y="1691640"/>
            <a:ext cx="1554480" cy="457200"/>
          </a:xfrm>
          <a:prstGeom prst="rect">
            <a:avLst/>
          </a:prstGeom>
          <a:noFill/>
        </p:spPr>
        <p:txBody>
          <a:bodyPr wrap="square" lIns="0" rIns="0" tIns="0" bIns="0" anchor="ctr">
            <a:spAutoFit/>
          </a:bodyPr>
          <a:lstStyle/>
          <a:p>
            <a:r>
              <a:rPr sz="1050" b="0">
                <a:solidFill>
                  <a:srgbClr val="0F172A"/>
                </a:solidFill>
                <a:latin typeface="Segoe UI"/>
              </a:rPr>
              <a:t>qwen3.5:9b</a:t>
            </a:r>
          </a:p>
        </p:txBody>
      </p:sp>
      <p:sp>
        <p:nvSpPr>
          <p:cNvPr id="14" name="Rectangle 13"/>
          <p:cNvSpPr/>
          <p:nvPr/>
        </p:nvSpPr>
        <p:spPr>
          <a:xfrm>
            <a:off x="4114800" y="1691640"/>
            <a:ext cx="2468880" cy="45720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206240" y="1691640"/>
            <a:ext cx="2286000" cy="457200"/>
          </a:xfrm>
          <a:prstGeom prst="rect">
            <a:avLst/>
          </a:prstGeom>
          <a:noFill/>
        </p:spPr>
        <p:txBody>
          <a:bodyPr wrap="square" lIns="0" rIns="0" tIns="0" bIns="0" anchor="ctr">
            <a:spAutoFit/>
          </a:bodyPr>
          <a:lstStyle/>
          <a:p>
            <a:r>
              <a:rPr sz="1050" b="0">
                <a:solidFill>
                  <a:srgbClr val="0F172A"/>
                </a:solidFill>
                <a:latin typeface="Segoe UI"/>
              </a:rPr>
              <a:t>Appels d'outils 6 sur 6, ≈ 93 jetons / s</a:t>
            </a:r>
          </a:p>
        </p:txBody>
      </p:sp>
      <p:sp>
        <p:nvSpPr>
          <p:cNvPr id="16" name="Rectangle 15"/>
          <p:cNvSpPr/>
          <p:nvPr/>
        </p:nvSpPr>
        <p:spPr>
          <a:xfrm>
            <a:off x="457200" y="2148840"/>
            <a:ext cx="1920240" cy="457200"/>
          </a:xfrm>
          <a:prstGeom prst="rect">
            <a:avLst/>
          </a:prstGeom>
          <a:solidFill>
            <a:srgbClr val="F4F7FA"/>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48640" y="2148840"/>
            <a:ext cx="1737360" cy="457200"/>
          </a:xfrm>
          <a:prstGeom prst="rect">
            <a:avLst/>
          </a:prstGeom>
          <a:noFill/>
        </p:spPr>
        <p:txBody>
          <a:bodyPr wrap="square" lIns="0" rIns="0" tIns="0" bIns="0" anchor="ctr">
            <a:spAutoFit/>
          </a:bodyPr>
          <a:lstStyle/>
          <a:p>
            <a:r>
              <a:rPr sz="1050" b="0">
                <a:solidFill>
                  <a:srgbClr val="0F172A"/>
                </a:solidFill>
                <a:latin typeface="Segoe UI Semibold"/>
              </a:rPr>
              <a:t>Secours</a:t>
            </a:r>
          </a:p>
        </p:txBody>
      </p:sp>
      <p:sp>
        <p:nvSpPr>
          <p:cNvPr id="18" name="Rectangle 17"/>
          <p:cNvSpPr/>
          <p:nvPr/>
        </p:nvSpPr>
        <p:spPr>
          <a:xfrm>
            <a:off x="2377440" y="2148840"/>
            <a:ext cx="1737360" cy="457200"/>
          </a:xfrm>
          <a:prstGeom prst="rect">
            <a:avLst/>
          </a:prstGeom>
          <a:solidFill>
            <a:srgbClr val="F4F7FA"/>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468880" y="2148840"/>
            <a:ext cx="1554480" cy="457200"/>
          </a:xfrm>
          <a:prstGeom prst="rect">
            <a:avLst/>
          </a:prstGeom>
          <a:noFill/>
        </p:spPr>
        <p:txBody>
          <a:bodyPr wrap="square" lIns="0" rIns="0" tIns="0" bIns="0" anchor="ctr">
            <a:spAutoFit/>
          </a:bodyPr>
          <a:lstStyle/>
          <a:p>
            <a:r>
              <a:rPr sz="1050" b="0">
                <a:solidFill>
                  <a:srgbClr val="0F172A"/>
                </a:solidFill>
                <a:latin typeface="Segoe UI"/>
              </a:rPr>
              <a:t>qwen3:8b</a:t>
            </a:r>
          </a:p>
        </p:txBody>
      </p:sp>
      <p:sp>
        <p:nvSpPr>
          <p:cNvPr id="20" name="Rectangle 19"/>
          <p:cNvSpPr/>
          <p:nvPr/>
        </p:nvSpPr>
        <p:spPr>
          <a:xfrm>
            <a:off x="4114800" y="2148840"/>
            <a:ext cx="2468880" cy="457200"/>
          </a:xfrm>
          <a:prstGeom prst="rect">
            <a:avLst/>
          </a:prstGeom>
          <a:solidFill>
            <a:srgbClr val="F4F7FA"/>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206240" y="2148840"/>
            <a:ext cx="2286000" cy="457200"/>
          </a:xfrm>
          <a:prstGeom prst="rect">
            <a:avLst/>
          </a:prstGeom>
          <a:noFill/>
        </p:spPr>
        <p:txBody>
          <a:bodyPr wrap="square" lIns="0" rIns="0" tIns="0" bIns="0" anchor="ctr">
            <a:spAutoFit/>
          </a:bodyPr>
          <a:lstStyle/>
          <a:p>
            <a:r>
              <a:rPr sz="1050" b="0">
                <a:solidFill>
                  <a:srgbClr val="0F172A"/>
                </a:solidFill>
                <a:latin typeface="Segoe UI"/>
              </a:rPr>
              <a:t>Même famille, plus petit</a:t>
            </a:r>
          </a:p>
        </p:txBody>
      </p:sp>
      <p:sp>
        <p:nvSpPr>
          <p:cNvPr id="22" name="Rectangle 21"/>
          <p:cNvSpPr/>
          <p:nvPr/>
        </p:nvSpPr>
        <p:spPr>
          <a:xfrm>
            <a:off x="457200" y="2606040"/>
            <a:ext cx="1920240" cy="45720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48640" y="2606040"/>
            <a:ext cx="1737360" cy="457200"/>
          </a:xfrm>
          <a:prstGeom prst="rect">
            <a:avLst/>
          </a:prstGeom>
          <a:noFill/>
        </p:spPr>
        <p:txBody>
          <a:bodyPr wrap="square" lIns="0" rIns="0" tIns="0" bIns="0" anchor="ctr">
            <a:spAutoFit/>
          </a:bodyPr>
          <a:lstStyle/>
          <a:p>
            <a:r>
              <a:rPr sz="1050" b="0">
                <a:solidFill>
                  <a:srgbClr val="0F172A"/>
                </a:solidFill>
                <a:latin typeface="Segoe UI Semibold"/>
              </a:rPr>
              <a:t>Juge</a:t>
            </a:r>
          </a:p>
        </p:txBody>
      </p:sp>
      <p:sp>
        <p:nvSpPr>
          <p:cNvPr id="24" name="Rectangle 23"/>
          <p:cNvSpPr/>
          <p:nvPr/>
        </p:nvSpPr>
        <p:spPr>
          <a:xfrm>
            <a:off x="2377440" y="2606040"/>
            <a:ext cx="1737360" cy="45720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2468880" y="2606040"/>
            <a:ext cx="1554480" cy="457200"/>
          </a:xfrm>
          <a:prstGeom prst="rect">
            <a:avLst/>
          </a:prstGeom>
          <a:noFill/>
        </p:spPr>
        <p:txBody>
          <a:bodyPr wrap="square" lIns="0" rIns="0" tIns="0" bIns="0" anchor="ctr">
            <a:spAutoFit/>
          </a:bodyPr>
          <a:lstStyle/>
          <a:p>
            <a:r>
              <a:rPr sz="1050" b="0">
                <a:solidFill>
                  <a:srgbClr val="0F172A"/>
                </a:solidFill>
                <a:latin typeface="Segoe UI"/>
              </a:rPr>
              <a:t>gemma4:12b</a:t>
            </a:r>
          </a:p>
        </p:txBody>
      </p:sp>
      <p:sp>
        <p:nvSpPr>
          <p:cNvPr id="26" name="Rectangle 25"/>
          <p:cNvSpPr/>
          <p:nvPr/>
        </p:nvSpPr>
        <p:spPr>
          <a:xfrm>
            <a:off x="4114800" y="2606040"/>
            <a:ext cx="2468880" cy="45720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206240" y="2606040"/>
            <a:ext cx="2286000" cy="457200"/>
          </a:xfrm>
          <a:prstGeom prst="rect">
            <a:avLst/>
          </a:prstGeom>
          <a:noFill/>
        </p:spPr>
        <p:txBody>
          <a:bodyPr wrap="square" lIns="0" rIns="0" tIns="0" bIns="0" anchor="ctr">
            <a:spAutoFit/>
          </a:bodyPr>
          <a:lstStyle/>
          <a:p>
            <a:r>
              <a:rPr sz="1050" b="0">
                <a:solidFill>
                  <a:srgbClr val="0F172A"/>
                </a:solidFill>
                <a:latin typeface="Segoe UI"/>
              </a:rPr>
              <a:t>Famille différente du rédacteur</a:t>
            </a:r>
          </a:p>
        </p:txBody>
      </p:sp>
      <p:sp>
        <p:nvSpPr>
          <p:cNvPr id="28" name="Rectangle 27"/>
          <p:cNvSpPr/>
          <p:nvPr/>
        </p:nvSpPr>
        <p:spPr>
          <a:xfrm>
            <a:off x="457200" y="3063240"/>
            <a:ext cx="1920240" cy="457200"/>
          </a:xfrm>
          <a:prstGeom prst="rect">
            <a:avLst/>
          </a:prstGeom>
          <a:solidFill>
            <a:srgbClr val="F4F7FA"/>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48640" y="3063240"/>
            <a:ext cx="1737360" cy="457200"/>
          </a:xfrm>
          <a:prstGeom prst="rect">
            <a:avLst/>
          </a:prstGeom>
          <a:noFill/>
        </p:spPr>
        <p:txBody>
          <a:bodyPr wrap="square" lIns="0" rIns="0" tIns="0" bIns="0" anchor="ctr">
            <a:spAutoFit/>
          </a:bodyPr>
          <a:lstStyle/>
          <a:p>
            <a:r>
              <a:rPr sz="1050" b="0">
                <a:solidFill>
                  <a:srgbClr val="0F172A"/>
                </a:solidFill>
                <a:latin typeface="Segoe UI Semibold"/>
              </a:rPr>
              <a:t>Vecteurs</a:t>
            </a:r>
          </a:p>
        </p:txBody>
      </p:sp>
      <p:sp>
        <p:nvSpPr>
          <p:cNvPr id="30" name="Rectangle 29"/>
          <p:cNvSpPr/>
          <p:nvPr/>
        </p:nvSpPr>
        <p:spPr>
          <a:xfrm>
            <a:off x="2377440" y="3063240"/>
            <a:ext cx="1737360" cy="457200"/>
          </a:xfrm>
          <a:prstGeom prst="rect">
            <a:avLst/>
          </a:prstGeom>
          <a:solidFill>
            <a:srgbClr val="F4F7FA"/>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2468880" y="3063240"/>
            <a:ext cx="1554480" cy="457200"/>
          </a:xfrm>
          <a:prstGeom prst="rect">
            <a:avLst/>
          </a:prstGeom>
          <a:noFill/>
        </p:spPr>
        <p:txBody>
          <a:bodyPr wrap="square" lIns="0" rIns="0" tIns="0" bIns="0" anchor="ctr">
            <a:spAutoFit/>
          </a:bodyPr>
          <a:lstStyle/>
          <a:p>
            <a:r>
              <a:rPr sz="1050" b="0">
                <a:solidFill>
                  <a:srgbClr val="0F172A"/>
                </a:solidFill>
                <a:latin typeface="Segoe UI"/>
              </a:rPr>
              <a:t>nomic-embed-text</a:t>
            </a:r>
          </a:p>
        </p:txBody>
      </p:sp>
      <p:sp>
        <p:nvSpPr>
          <p:cNvPr id="32" name="Rectangle 31"/>
          <p:cNvSpPr/>
          <p:nvPr/>
        </p:nvSpPr>
        <p:spPr>
          <a:xfrm>
            <a:off x="4114800" y="3063240"/>
            <a:ext cx="2468880" cy="457200"/>
          </a:xfrm>
          <a:prstGeom prst="rect">
            <a:avLst/>
          </a:prstGeom>
          <a:solidFill>
            <a:srgbClr val="F4F7FA"/>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206240" y="3063240"/>
            <a:ext cx="2286000" cy="457200"/>
          </a:xfrm>
          <a:prstGeom prst="rect">
            <a:avLst/>
          </a:prstGeom>
          <a:noFill/>
        </p:spPr>
        <p:txBody>
          <a:bodyPr wrap="square" lIns="0" rIns="0" tIns="0" bIns="0" anchor="ctr">
            <a:spAutoFit/>
          </a:bodyPr>
          <a:lstStyle/>
          <a:p>
            <a:r>
              <a:rPr sz="1050" b="0">
                <a:solidFill>
                  <a:srgbClr val="0F172A"/>
                </a:solidFill>
                <a:latin typeface="Segoe UI"/>
              </a:rPr>
              <a:t>Recherche par mots et par sens</a:t>
            </a:r>
          </a:p>
        </p:txBody>
      </p:sp>
      <p:sp>
        <p:nvSpPr>
          <p:cNvPr id="34" name="Rectangle 33"/>
          <p:cNvSpPr/>
          <p:nvPr/>
        </p:nvSpPr>
        <p:spPr>
          <a:xfrm>
            <a:off x="457200" y="3520440"/>
            <a:ext cx="1920240" cy="45720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548640" y="3520440"/>
            <a:ext cx="1737360" cy="457200"/>
          </a:xfrm>
          <a:prstGeom prst="rect">
            <a:avLst/>
          </a:prstGeom>
          <a:noFill/>
        </p:spPr>
        <p:txBody>
          <a:bodyPr wrap="square" lIns="0" rIns="0" tIns="0" bIns="0" anchor="ctr">
            <a:spAutoFit/>
          </a:bodyPr>
          <a:lstStyle/>
          <a:p>
            <a:r>
              <a:rPr sz="1050" b="0">
                <a:solidFill>
                  <a:srgbClr val="0F172A"/>
                </a:solidFill>
                <a:latin typeface="Segoe UI Semibold"/>
              </a:rPr>
              <a:t>Second avis</a:t>
            </a:r>
          </a:p>
        </p:txBody>
      </p:sp>
      <p:sp>
        <p:nvSpPr>
          <p:cNvPr id="36" name="Rectangle 35"/>
          <p:cNvSpPr/>
          <p:nvPr/>
        </p:nvSpPr>
        <p:spPr>
          <a:xfrm>
            <a:off x="2377440" y="3520440"/>
            <a:ext cx="1737360" cy="45720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2468880" y="3520440"/>
            <a:ext cx="1554480" cy="457200"/>
          </a:xfrm>
          <a:prstGeom prst="rect">
            <a:avLst/>
          </a:prstGeom>
          <a:noFill/>
        </p:spPr>
        <p:txBody>
          <a:bodyPr wrap="square" lIns="0" rIns="0" tIns="0" bIns="0" anchor="ctr">
            <a:spAutoFit/>
          </a:bodyPr>
          <a:lstStyle/>
          <a:p>
            <a:r>
              <a:rPr sz="1050" b="0">
                <a:solidFill>
                  <a:srgbClr val="0F172A"/>
                </a:solidFill>
                <a:latin typeface="Segoe UI"/>
              </a:rPr>
              <a:t>bespoke-minicheck</a:t>
            </a:r>
          </a:p>
        </p:txBody>
      </p:sp>
      <p:sp>
        <p:nvSpPr>
          <p:cNvPr id="38" name="Rectangle 37"/>
          <p:cNvSpPr/>
          <p:nvPr/>
        </p:nvSpPr>
        <p:spPr>
          <a:xfrm>
            <a:off x="4114800" y="3520440"/>
            <a:ext cx="2468880" cy="45720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4206240" y="3520440"/>
            <a:ext cx="2286000" cy="457200"/>
          </a:xfrm>
          <a:prstGeom prst="rect">
            <a:avLst/>
          </a:prstGeom>
          <a:noFill/>
        </p:spPr>
        <p:txBody>
          <a:bodyPr wrap="square" lIns="0" rIns="0" tIns="0" bIns="0" anchor="ctr">
            <a:spAutoFit/>
          </a:bodyPr>
          <a:lstStyle/>
          <a:p>
            <a:r>
              <a:rPr sz="1050" b="0">
                <a:solidFill>
                  <a:srgbClr val="0F172A"/>
                </a:solidFill>
                <a:latin typeface="Segoe UI"/>
              </a:rPr>
              <a:t>Vérification de faits</a:t>
            </a:r>
          </a:p>
        </p:txBody>
      </p:sp>
      <p:sp>
        <p:nvSpPr>
          <p:cNvPr id="40" name="Rounded Rectangle 39"/>
          <p:cNvSpPr/>
          <p:nvPr/>
        </p:nvSpPr>
        <p:spPr>
          <a:xfrm>
            <a:off x="6766560" y="1234440"/>
            <a:ext cx="1920240" cy="2743200"/>
          </a:xfrm>
          <a:prstGeom prst="roundRect">
            <a:avLst>
              <a:gd name="adj" fmla="val 6000"/>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949440" y="1417320"/>
            <a:ext cx="1600200" cy="2468880"/>
          </a:xfrm>
          <a:prstGeom prst="rect">
            <a:avLst/>
          </a:prstGeom>
          <a:noFill/>
        </p:spPr>
        <p:txBody>
          <a:bodyPr wrap="square" lIns="0" rIns="0" tIns="0" bIns="0" anchor="t">
            <a:spAutoFit/>
          </a:bodyPr>
          <a:lstStyle/>
          <a:p>
            <a:r>
              <a:rPr sz="1100" b="0">
                <a:solidFill>
                  <a:srgbClr val="FFFFFF"/>
                </a:solidFill>
                <a:latin typeface="Segoe UI"/>
              </a:rPr>
              <a:t>Une carte de 12 Go</a:t>
            </a:r>
          </a:p>
          <a:p>
            <a:r>
              <a:rPr sz="1100" b="0">
                <a:solidFill>
                  <a:srgbClr val="FFFFFF"/>
                </a:solidFill>
                <a:latin typeface="Segoe UI"/>
              </a:rPr>
              <a:t>un modèle chargé à la fois</a:t>
            </a:r>
          </a:p>
          <a:p>
            <a:r>
              <a:rPr sz="1100" b="0">
                <a:solidFill>
                  <a:srgbClr val="FFFFFF"/>
                </a:solidFill>
                <a:latin typeface="Segoe UI"/>
              </a:rPr>
              <a:t/>
            </a:r>
          </a:p>
          <a:p>
            <a:r>
              <a:rPr sz="1100" b="0">
                <a:solidFill>
                  <a:srgbClr val="FFFFFF"/>
                </a:solidFill>
                <a:latin typeface="Segoe UI"/>
              </a:rPr>
              <a:t>Aucune donnée ne sort du poste</a:t>
            </a:r>
          </a:p>
        </p:txBody>
      </p:sp>
      <p:sp>
        <p:nvSpPr>
          <p:cNvPr id="42" name="Rounded Rectangle 41"/>
          <p:cNvSpPr/>
          <p:nvPr/>
        </p:nvSpPr>
        <p:spPr>
          <a:xfrm>
            <a:off x="457200" y="4114800"/>
            <a:ext cx="8229600" cy="548640"/>
          </a:xfrm>
          <a:prstGeom prst="roundRect">
            <a:avLst>
              <a:gd name="adj" fmla="val 6000"/>
            </a:avLst>
          </a:prstGeom>
          <a:solidFill>
            <a:srgbClr val="F4F7FA"/>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85800" y="4114800"/>
            <a:ext cx="7772400" cy="548640"/>
          </a:xfrm>
          <a:prstGeom prst="rect">
            <a:avLst/>
          </a:prstGeom>
          <a:noFill/>
        </p:spPr>
        <p:txBody>
          <a:bodyPr wrap="square" lIns="0" rIns="0" tIns="0" bIns="0" anchor="ctr">
            <a:spAutoFit/>
          </a:bodyPr>
          <a:lstStyle/>
          <a:p>
            <a:r>
              <a:rPr sz="1000" b="0">
                <a:solidFill>
                  <a:srgbClr val="475569"/>
                </a:solidFill>
                <a:latin typeface="Segoe UI"/>
              </a:rPr>
              <a:t>Écartés après mesure : qwen3:14b (déborde de la carte), granite4 (a décrit un seul document), llama3.1, mistral, qwen3-vl (4 appels d'outils sur 6).</a:t>
            </a:r>
          </a:p>
        </p:txBody>
      </p:sp>
      <p:sp>
        <p:nvSpPr>
          <p:cNvPr id="44" name="TextBox 43"/>
          <p:cNvSpPr txBox="1"/>
          <p:nvPr/>
        </p:nvSpPr>
        <p:spPr>
          <a:xfrm>
            <a:off x="457200" y="4800600"/>
            <a:ext cx="3657600" cy="182880"/>
          </a:xfrm>
          <a:prstGeom prst="rect">
            <a:avLst/>
          </a:prstGeom>
          <a:noFill/>
        </p:spPr>
        <p:txBody>
          <a:bodyPr wrap="square" lIns="0" rIns="0" tIns="0" bIns="0" anchor="t">
            <a:spAutoFit/>
          </a:bodyPr>
          <a:lstStyle/>
          <a:p>
            <a:r>
              <a:rPr sz="800" b="0">
                <a:solidFill>
                  <a:srgbClr val="94A3B8"/>
                </a:solidFill>
                <a:latin typeface="Consolas"/>
              </a:rPr>
              <a:t>E21 · Agents IA &amp; analyse de risques</a:t>
            </a:r>
          </a:p>
        </p:txBody>
      </p:sp>
      <p:sp>
        <p:nvSpPr>
          <p:cNvPr id="45" name="TextBox 44"/>
          <p:cNvSpPr txBox="1"/>
          <p:nvPr/>
        </p:nvSpPr>
        <p:spPr>
          <a:xfrm>
            <a:off x="8321040" y="4800600"/>
            <a:ext cx="365760" cy="182880"/>
          </a:xfrm>
          <a:prstGeom prst="rect">
            <a:avLst/>
          </a:prstGeom>
          <a:noFill/>
        </p:spPr>
        <p:txBody>
          <a:bodyPr wrap="square" lIns="0" rIns="0" tIns="0" bIns="0" anchor="t">
            <a:spAutoFit/>
          </a:bodyPr>
          <a:lstStyle/>
          <a:p>
            <a:pPr algn="r"/>
            <a:r>
              <a:rPr sz="800" b="0">
                <a:solidFill>
                  <a:srgbClr val="94A3B8"/>
                </a:solidFill>
                <a:latin typeface="Consolas"/>
              </a:rPr>
              <a:t>17</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292608"/>
            <a:ext cx="8229600" cy="228600"/>
          </a:xfrm>
          <a:prstGeom prst="rect">
            <a:avLst/>
          </a:prstGeom>
          <a:noFill/>
        </p:spPr>
        <p:txBody>
          <a:bodyPr wrap="square" lIns="0" rIns="0" tIns="0" bIns="0" anchor="t">
            <a:spAutoFit/>
          </a:bodyPr>
          <a:lstStyle/>
          <a:p>
            <a:r>
              <a:rPr sz="1000" b="0">
                <a:solidFill>
                  <a:srgbClr val="0D9488"/>
                </a:solidFill>
                <a:latin typeface="Consolas"/>
              </a:rPr>
              <a:t>V2 · CONTRÔLES PAR LE CODE</a:t>
            </a:r>
          </a:p>
        </p:txBody>
      </p:sp>
      <p:sp>
        <p:nvSpPr>
          <p:cNvPr id="3" name="TextBox 2"/>
          <p:cNvSpPr txBox="1"/>
          <p:nvPr/>
        </p:nvSpPr>
        <p:spPr>
          <a:xfrm>
            <a:off x="457200" y="502920"/>
            <a:ext cx="8229600" cy="548640"/>
          </a:xfrm>
          <a:prstGeom prst="rect">
            <a:avLst/>
          </a:prstGeom>
          <a:noFill/>
        </p:spPr>
        <p:txBody>
          <a:bodyPr wrap="square" lIns="0" rIns="0" tIns="0" bIns="0" anchor="t">
            <a:spAutoFit/>
          </a:bodyPr>
          <a:lstStyle/>
          <a:p>
            <a:r>
              <a:rPr sz="2400" b="0">
                <a:solidFill>
                  <a:srgbClr val="0F172A"/>
                </a:solidFill>
                <a:latin typeface="Segoe UI Semibold"/>
              </a:rPr>
              <a:t>Le code vérifie ce que le modèle propose</a:t>
            </a:r>
          </a:p>
        </p:txBody>
      </p:sp>
      <p:sp>
        <p:nvSpPr>
          <p:cNvPr id="4" name="Rounded Rectangle 3"/>
          <p:cNvSpPr/>
          <p:nvPr/>
        </p:nvSpPr>
        <p:spPr>
          <a:xfrm>
            <a:off x="457200" y="1280160"/>
            <a:ext cx="1920240" cy="1874519"/>
          </a:xfrm>
          <a:prstGeom prst="roundRect">
            <a:avLst>
              <a:gd name="adj" fmla="val 6000"/>
            </a:avLst>
          </a:prstGeom>
          <a:solidFill>
            <a:srgbClr val="F4F7FA"/>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444751"/>
            <a:ext cx="1554480" cy="548640"/>
          </a:xfrm>
          <a:prstGeom prst="rect">
            <a:avLst/>
          </a:prstGeom>
          <a:noFill/>
        </p:spPr>
        <p:txBody>
          <a:bodyPr wrap="square" lIns="0" rIns="0" tIns="0" bIns="0" anchor="t">
            <a:spAutoFit/>
          </a:bodyPr>
          <a:lstStyle/>
          <a:p>
            <a:r>
              <a:rPr sz="2600" b="0">
                <a:solidFill>
                  <a:srgbClr val="0D9488"/>
                </a:solidFill>
                <a:latin typeface="Segoe UI Semibold"/>
              </a:rPr>
              <a:t>15 · 13 · 1</a:t>
            </a:r>
          </a:p>
        </p:txBody>
      </p:sp>
      <p:sp>
        <p:nvSpPr>
          <p:cNvPr id="6" name="TextBox 5"/>
          <p:cNvSpPr txBox="1"/>
          <p:nvPr/>
        </p:nvSpPr>
        <p:spPr>
          <a:xfrm>
            <a:off x="640080" y="2057400"/>
            <a:ext cx="1554480" cy="1005839"/>
          </a:xfrm>
          <a:prstGeom prst="rect">
            <a:avLst/>
          </a:prstGeom>
          <a:noFill/>
        </p:spPr>
        <p:txBody>
          <a:bodyPr wrap="square" lIns="0" rIns="0" tIns="0" bIns="0" anchor="t">
            <a:spAutoFit/>
          </a:bodyPr>
          <a:lstStyle/>
          <a:p>
            <a:r>
              <a:rPr sz="1050" b="0">
                <a:solidFill>
                  <a:srgbClr val="475569"/>
                </a:solidFill>
                <a:latin typeface="Segoe UI"/>
              </a:rPr>
              <a:t>références inventées retirées par le code aux étapes 3, 5 et 7</a:t>
            </a:r>
          </a:p>
        </p:txBody>
      </p:sp>
      <p:sp>
        <p:nvSpPr>
          <p:cNvPr id="7" name="Rounded Rectangle 6"/>
          <p:cNvSpPr/>
          <p:nvPr/>
        </p:nvSpPr>
        <p:spPr>
          <a:xfrm>
            <a:off x="2542032" y="1280160"/>
            <a:ext cx="1920240" cy="1874519"/>
          </a:xfrm>
          <a:prstGeom prst="roundRect">
            <a:avLst>
              <a:gd name="adj" fmla="val 6000"/>
            </a:avLst>
          </a:prstGeom>
          <a:solidFill>
            <a:srgbClr val="F4F7FA"/>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724912" y="1444751"/>
            <a:ext cx="1554480" cy="548640"/>
          </a:xfrm>
          <a:prstGeom prst="rect">
            <a:avLst/>
          </a:prstGeom>
          <a:noFill/>
        </p:spPr>
        <p:txBody>
          <a:bodyPr wrap="square" lIns="0" rIns="0" tIns="0" bIns="0" anchor="t">
            <a:spAutoFit/>
          </a:bodyPr>
          <a:lstStyle/>
          <a:p>
            <a:r>
              <a:rPr sz="2600" b="0">
                <a:solidFill>
                  <a:srgbClr val="0D9488"/>
                </a:solidFill>
                <a:latin typeface="Segoe UI Semibold"/>
              </a:rPr>
              <a:t>0</a:t>
            </a:r>
          </a:p>
        </p:txBody>
      </p:sp>
      <p:sp>
        <p:nvSpPr>
          <p:cNvPr id="9" name="TextBox 8"/>
          <p:cNvSpPr txBox="1"/>
          <p:nvPr/>
        </p:nvSpPr>
        <p:spPr>
          <a:xfrm>
            <a:off x="2724912" y="2057400"/>
            <a:ext cx="1554480" cy="1005839"/>
          </a:xfrm>
          <a:prstGeom prst="rect">
            <a:avLst/>
          </a:prstGeom>
          <a:noFill/>
        </p:spPr>
        <p:txBody>
          <a:bodyPr wrap="square" lIns="0" rIns="0" tIns="0" bIns="0" anchor="t">
            <a:spAutoFit/>
          </a:bodyPr>
          <a:lstStyle/>
          <a:p>
            <a:r>
              <a:rPr sz="1050" b="0">
                <a:solidFill>
                  <a:srgbClr val="475569"/>
                </a:solidFill>
                <a:latin typeface="Segoe UI"/>
              </a:rPr>
              <a:t>niveau de risque écrit par le modèle : il est calculé par la matrice</a:t>
            </a:r>
          </a:p>
        </p:txBody>
      </p:sp>
      <p:sp>
        <p:nvSpPr>
          <p:cNvPr id="10" name="Rounded Rectangle 9"/>
          <p:cNvSpPr/>
          <p:nvPr/>
        </p:nvSpPr>
        <p:spPr>
          <a:xfrm>
            <a:off x="4626864" y="1280160"/>
            <a:ext cx="1920240" cy="1874519"/>
          </a:xfrm>
          <a:prstGeom prst="roundRect">
            <a:avLst>
              <a:gd name="adj" fmla="val 6000"/>
            </a:avLst>
          </a:prstGeom>
          <a:solidFill>
            <a:srgbClr val="F4F7FA"/>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809744" y="1444751"/>
            <a:ext cx="1554480" cy="548640"/>
          </a:xfrm>
          <a:prstGeom prst="rect">
            <a:avLst/>
          </a:prstGeom>
          <a:noFill/>
        </p:spPr>
        <p:txBody>
          <a:bodyPr wrap="square" lIns="0" rIns="0" tIns="0" bIns="0" anchor="t">
            <a:spAutoFit/>
          </a:bodyPr>
          <a:lstStyle/>
          <a:p>
            <a:r>
              <a:rPr sz="2600" b="0">
                <a:solidFill>
                  <a:srgbClr val="0D9488"/>
                </a:solidFill>
                <a:latin typeface="Segoe UI Semibold"/>
              </a:rPr>
              <a:t>151</a:t>
            </a:r>
          </a:p>
        </p:txBody>
      </p:sp>
      <p:sp>
        <p:nvSpPr>
          <p:cNvPr id="12" name="TextBox 11"/>
          <p:cNvSpPr txBox="1"/>
          <p:nvPr/>
        </p:nvSpPr>
        <p:spPr>
          <a:xfrm>
            <a:off x="4809744" y="2057400"/>
            <a:ext cx="1554480" cy="1005839"/>
          </a:xfrm>
          <a:prstGeom prst="rect">
            <a:avLst/>
          </a:prstGeom>
          <a:noFill/>
        </p:spPr>
        <p:txBody>
          <a:bodyPr wrap="square" lIns="0" rIns="0" tIns="0" bIns="0" anchor="t">
            <a:spAutoFit/>
          </a:bodyPr>
          <a:lstStyle/>
          <a:p>
            <a:r>
              <a:rPr sz="1050" b="0">
                <a:solidFill>
                  <a:srgbClr val="475569"/>
                </a:solidFill>
                <a:latin typeface="Segoe UI"/>
              </a:rPr>
              <a:t>lignes du registre, établies par le code (un agent en avait écrit 9)</a:t>
            </a:r>
          </a:p>
        </p:txBody>
      </p:sp>
      <p:sp>
        <p:nvSpPr>
          <p:cNvPr id="13" name="Rounded Rectangle 12"/>
          <p:cNvSpPr/>
          <p:nvPr/>
        </p:nvSpPr>
        <p:spPr>
          <a:xfrm>
            <a:off x="6711696" y="1280160"/>
            <a:ext cx="1920240" cy="1874519"/>
          </a:xfrm>
          <a:prstGeom prst="roundRect">
            <a:avLst>
              <a:gd name="adj" fmla="val 6000"/>
            </a:avLst>
          </a:prstGeom>
          <a:solidFill>
            <a:srgbClr val="F4F7FA"/>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94576" y="1444751"/>
            <a:ext cx="1554480" cy="548640"/>
          </a:xfrm>
          <a:prstGeom prst="rect">
            <a:avLst/>
          </a:prstGeom>
          <a:noFill/>
        </p:spPr>
        <p:txBody>
          <a:bodyPr wrap="square" lIns="0" rIns="0" tIns="0" bIns="0" anchor="t">
            <a:spAutoFit/>
          </a:bodyPr>
          <a:lstStyle/>
          <a:p>
            <a:r>
              <a:rPr sz="2600" b="0">
                <a:solidFill>
                  <a:srgbClr val="0D9488"/>
                </a:solidFill>
                <a:latin typeface="Segoe UI Semibold"/>
              </a:rPr>
              <a:t>2 min</a:t>
            </a:r>
          </a:p>
        </p:txBody>
      </p:sp>
      <p:sp>
        <p:nvSpPr>
          <p:cNvPr id="15" name="TextBox 14"/>
          <p:cNvSpPr txBox="1"/>
          <p:nvPr/>
        </p:nvSpPr>
        <p:spPr>
          <a:xfrm>
            <a:off x="6894576" y="2057400"/>
            <a:ext cx="1554480" cy="1005839"/>
          </a:xfrm>
          <a:prstGeom prst="rect">
            <a:avLst/>
          </a:prstGeom>
          <a:noFill/>
        </p:spPr>
        <p:txBody>
          <a:bodyPr wrap="square" lIns="0" rIns="0" tIns="0" bIns="0" anchor="t">
            <a:spAutoFit/>
          </a:bodyPr>
          <a:lstStyle/>
          <a:p>
            <a:r>
              <a:rPr sz="1050" b="0">
                <a:solidFill>
                  <a:srgbClr val="475569"/>
                </a:solidFill>
                <a:latin typeface="Segoe UI"/>
              </a:rPr>
              <a:t>pour les étapes 6 et 7, au lieu de 30 par un agent</a:t>
            </a:r>
          </a:p>
        </p:txBody>
      </p:sp>
      <p:sp>
        <p:nvSpPr>
          <p:cNvPr id="16" name="Rounded Rectangle 15"/>
          <p:cNvSpPr/>
          <p:nvPr/>
        </p:nvSpPr>
        <p:spPr>
          <a:xfrm>
            <a:off x="457200" y="3383280"/>
            <a:ext cx="8229600" cy="1188720"/>
          </a:xfrm>
          <a:prstGeom prst="roundRect">
            <a:avLst>
              <a:gd name="adj" fmla="val 6000"/>
            </a:avLst>
          </a:prstGeom>
          <a:solidFill>
            <a:srgbClr val="F4F7FA"/>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85800" y="3493008"/>
            <a:ext cx="7772400" cy="228600"/>
          </a:xfrm>
          <a:prstGeom prst="rect">
            <a:avLst/>
          </a:prstGeom>
          <a:noFill/>
        </p:spPr>
        <p:txBody>
          <a:bodyPr wrap="square" lIns="0" rIns="0" tIns="0" bIns="0" anchor="t">
            <a:spAutoFit/>
          </a:bodyPr>
          <a:lstStyle/>
          <a:p>
            <a:r>
              <a:rPr sz="1000" b="1">
                <a:solidFill>
                  <a:srgbClr val="0D9488"/>
                </a:solidFill>
                <a:latin typeface="Consolas"/>
              </a:rPr>
              <a:t>ORDRE DES CONTRÔLES</a:t>
            </a:r>
          </a:p>
        </p:txBody>
      </p:sp>
      <p:sp>
        <p:nvSpPr>
          <p:cNvPr id="18" name="TextBox 17"/>
          <p:cNvSpPr txBox="1"/>
          <p:nvPr/>
        </p:nvSpPr>
        <p:spPr>
          <a:xfrm>
            <a:off x="685800" y="3767328"/>
            <a:ext cx="7772400" cy="731520"/>
          </a:xfrm>
          <a:prstGeom prst="rect">
            <a:avLst/>
          </a:prstGeom>
          <a:noFill/>
        </p:spPr>
        <p:txBody>
          <a:bodyPr wrap="square" lIns="0" rIns="0" tIns="0" bIns="0" anchor="t">
            <a:spAutoFit/>
          </a:bodyPr>
          <a:lstStyle/>
          <a:p>
            <a:r>
              <a:rPr sz="1100" b="0">
                <a:solidFill>
                  <a:srgbClr val="0F172A"/>
                </a:solidFill>
                <a:latin typeface="Segoe UI"/>
              </a:rPr>
              <a:t>1 · le code : identifiants, sources, nombres introuvables, doublons   →   2 · les citations : l'extrait existe-t-il ?   →   3 · le juge d'une autre famille   →   une reprise au plus   →   sinon l'analyste, avec le point précis.</a:t>
            </a:r>
          </a:p>
        </p:txBody>
      </p:sp>
      <p:sp>
        <p:nvSpPr>
          <p:cNvPr id="19" name="TextBox 18"/>
          <p:cNvSpPr txBox="1"/>
          <p:nvPr/>
        </p:nvSpPr>
        <p:spPr>
          <a:xfrm>
            <a:off x="457200" y="4800600"/>
            <a:ext cx="3657600" cy="182880"/>
          </a:xfrm>
          <a:prstGeom prst="rect">
            <a:avLst/>
          </a:prstGeom>
          <a:noFill/>
        </p:spPr>
        <p:txBody>
          <a:bodyPr wrap="square" lIns="0" rIns="0" tIns="0" bIns="0" anchor="t">
            <a:spAutoFit/>
          </a:bodyPr>
          <a:lstStyle/>
          <a:p>
            <a:r>
              <a:rPr sz="800" b="0">
                <a:solidFill>
                  <a:srgbClr val="94A3B8"/>
                </a:solidFill>
                <a:latin typeface="Consolas"/>
              </a:rPr>
              <a:t>E21 · Agents IA &amp; analyse de risques</a:t>
            </a:r>
          </a:p>
        </p:txBody>
      </p:sp>
      <p:sp>
        <p:nvSpPr>
          <p:cNvPr id="20" name="TextBox 19"/>
          <p:cNvSpPr txBox="1"/>
          <p:nvPr/>
        </p:nvSpPr>
        <p:spPr>
          <a:xfrm>
            <a:off x="8321040" y="4800600"/>
            <a:ext cx="365760" cy="182880"/>
          </a:xfrm>
          <a:prstGeom prst="rect">
            <a:avLst/>
          </a:prstGeom>
          <a:noFill/>
        </p:spPr>
        <p:txBody>
          <a:bodyPr wrap="square" lIns="0" rIns="0" tIns="0" bIns="0" anchor="t">
            <a:spAutoFit/>
          </a:bodyPr>
          <a:lstStyle/>
          <a:p>
            <a:pPr algn="r"/>
            <a:r>
              <a:rPr sz="800" b="0">
                <a:solidFill>
                  <a:srgbClr val="94A3B8"/>
                </a:solidFill>
                <a:latin typeface="Consolas"/>
              </a:rPr>
              <a:t>19</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292608"/>
            <a:ext cx="8229600" cy="228600"/>
          </a:xfrm>
          <a:prstGeom prst="rect">
            <a:avLst/>
          </a:prstGeom>
          <a:noFill/>
        </p:spPr>
        <p:txBody>
          <a:bodyPr wrap="square" lIns="0" rIns="0" tIns="0" bIns="0" anchor="t">
            <a:spAutoFit/>
          </a:bodyPr>
          <a:lstStyle/>
          <a:p>
            <a:r>
              <a:rPr sz="1000" b="0">
                <a:solidFill>
                  <a:srgbClr val="0D9488"/>
                </a:solidFill>
                <a:latin typeface="Consolas"/>
              </a:rPr>
              <a:t>V2 · VALIDATION HUMAINE</a:t>
            </a:r>
          </a:p>
        </p:txBody>
      </p:sp>
      <p:sp>
        <p:nvSpPr>
          <p:cNvPr id="3" name="TextBox 2"/>
          <p:cNvSpPr txBox="1"/>
          <p:nvPr/>
        </p:nvSpPr>
        <p:spPr>
          <a:xfrm>
            <a:off x="457200" y="502920"/>
            <a:ext cx="8229600" cy="548640"/>
          </a:xfrm>
          <a:prstGeom prst="rect">
            <a:avLst/>
          </a:prstGeom>
          <a:noFill/>
        </p:spPr>
        <p:txBody>
          <a:bodyPr wrap="square" lIns="0" rIns="0" tIns="0" bIns="0" anchor="t">
            <a:spAutoFit/>
          </a:bodyPr>
          <a:lstStyle/>
          <a:p>
            <a:r>
              <a:rPr sz="2400" b="0">
                <a:solidFill>
                  <a:srgbClr val="0F172A"/>
                </a:solidFill>
                <a:latin typeface="Segoe UI Semibold"/>
              </a:rPr>
              <a:t>Page 4 : décider avec le contexte</a:t>
            </a:r>
          </a:p>
        </p:txBody>
      </p:sp>
      <p:sp>
        <p:nvSpPr>
          <p:cNvPr id="4" name="Rectangle 3"/>
          <p:cNvSpPr/>
          <p:nvPr/>
        </p:nvSpPr>
        <p:spPr>
          <a:xfrm>
            <a:off x="457200" y="1344168"/>
            <a:ext cx="82296" cy="82296"/>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58368" y="1280160"/>
            <a:ext cx="4553712" cy="530352"/>
          </a:xfrm>
          <a:prstGeom prst="rect">
            <a:avLst/>
          </a:prstGeom>
          <a:noFill/>
        </p:spPr>
        <p:txBody>
          <a:bodyPr wrap="square" lIns="0" rIns="0" tIns="0" bIns="0" anchor="t">
            <a:spAutoFit/>
          </a:bodyPr>
          <a:lstStyle/>
          <a:p>
            <a:r>
              <a:rPr sz="1100" b="0">
                <a:solidFill>
                  <a:srgbClr val="0F172A"/>
                </a:solidFill>
                <a:latin typeface="Segoe UI"/>
              </a:rPr>
              <a:t>Risques regroupés par niveau</a:t>
            </a:r>
          </a:p>
        </p:txBody>
      </p:sp>
      <p:sp>
        <p:nvSpPr>
          <p:cNvPr id="6" name="Rectangle 5"/>
          <p:cNvSpPr/>
          <p:nvPr/>
        </p:nvSpPr>
        <p:spPr>
          <a:xfrm>
            <a:off x="457200" y="1874519"/>
            <a:ext cx="82296" cy="82296"/>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1810512"/>
            <a:ext cx="4553712" cy="530352"/>
          </a:xfrm>
          <a:prstGeom prst="rect">
            <a:avLst/>
          </a:prstGeom>
          <a:noFill/>
        </p:spPr>
        <p:txBody>
          <a:bodyPr wrap="square" lIns="0" rIns="0" tIns="0" bIns="0" anchor="t">
            <a:spAutoFit/>
          </a:bodyPr>
          <a:lstStyle/>
          <a:p>
            <a:r>
              <a:rPr sz="1100" b="0">
                <a:solidFill>
                  <a:srgbClr val="0F172A"/>
                </a:solidFill>
                <a:latin typeface="Segoe UI"/>
              </a:rPr>
              <a:t>Contradictions entre documents et questions en premier : elles fixent les faits</a:t>
            </a:r>
          </a:p>
        </p:txBody>
      </p:sp>
      <p:sp>
        <p:nvSpPr>
          <p:cNvPr id="8" name="Rectangle 7"/>
          <p:cNvSpPr/>
          <p:nvPr/>
        </p:nvSpPr>
        <p:spPr>
          <a:xfrm>
            <a:off x="457200" y="2404871"/>
            <a:ext cx="82296" cy="82296"/>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8368" y="2340863"/>
            <a:ext cx="4553712" cy="530352"/>
          </a:xfrm>
          <a:prstGeom prst="rect">
            <a:avLst/>
          </a:prstGeom>
          <a:noFill/>
        </p:spPr>
        <p:txBody>
          <a:bodyPr wrap="square" lIns="0" rIns="0" tIns="0" bIns="0" anchor="t">
            <a:spAutoFit/>
          </a:bodyPr>
          <a:lstStyle/>
          <a:p>
            <a:r>
              <a:rPr sz="1100" b="0">
                <a:solidFill>
                  <a:srgbClr val="0F172A"/>
                </a:solidFill>
                <a:latin typeface="Segoe UI"/>
              </a:rPr>
              <a:t>Pour chaque point : la preuve, le document, la valeur proposée</a:t>
            </a:r>
          </a:p>
        </p:txBody>
      </p:sp>
      <p:sp>
        <p:nvSpPr>
          <p:cNvPr id="10" name="Rectangle 9"/>
          <p:cNvSpPr/>
          <p:nvPr/>
        </p:nvSpPr>
        <p:spPr>
          <a:xfrm>
            <a:off x="457200" y="2935223"/>
            <a:ext cx="82296" cy="82296"/>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8368" y="2871215"/>
            <a:ext cx="4553712" cy="530352"/>
          </a:xfrm>
          <a:prstGeom prst="rect">
            <a:avLst/>
          </a:prstGeom>
          <a:noFill/>
        </p:spPr>
        <p:txBody>
          <a:bodyPr wrap="square" lIns="0" rIns="0" tIns="0" bIns="0" anchor="t">
            <a:spAutoFit/>
          </a:bodyPr>
          <a:lstStyle/>
          <a:p>
            <a:r>
              <a:rPr sz="1100" b="0">
                <a:solidFill>
                  <a:srgbClr val="0F172A"/>
                </a:solidFill>
                <a:latin typeface="Segoe UI"/>
              </a:rPr>
              <a:t>Accepter · modifier · rejeter · garder A ou B · répondre</a:t>
            </a:r>
          </a:p>
        </p:txBody>
      </p:sp>
      <p:sp>
        <p:nvSpPr>
          <p:cNvPr id="12" name="Rectangle 11"/>
          <p:cNvSpPr/>
          <p:nvPr/>
        </p:nvSpPr>
        <p:spPr>
          <a:xfrm>
            <a:off x="457200" y="3465575"/>
            <a:ext cx="82296" cy="82296"/>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8368" y="3401568"/>
            <a:ext cx="4553712" cy="530352"/>
          </a:xfrm>
          <a:prstGeom prst="rect">
            <a:avLst/>
          </a:prstGeom>
          <a:noFill/>
        </p:spPr>
        <p:txBody>
          <a:bodyPr wrap="square" lIns="0" rIns="0" tIns="0" bIns="0" anchor="t">
            <a:spAutoFit/>
          </a:bodyPr>
          <a:lstStyle/>
          <a:p>
            <a:r>
              <a:rPr sz="1100" b="0">
                <a:solidFill>
                  <a:srgbClr val="0F172A"/>
                </a:solidFill>
                <a:latin typeface="Segoe UI"/>
              </a:rPr>
              <a:t>Qui, quand, quoi, pourquoi : conservé</a:t>
            </a:r>
          </a:p>
        </p:txBody>
      </p:sp>
      <p:sp>
        <p:nvSpPr>
          <p:cNvPr id="14" name="Rectangle 13"/>
          <p:cNvSpPr/>
          <p:nvPr/>
        </p:nvSpPr>
        <p:spPr>
          <a:xfrm>
            <a:off x="457200" y="3995928"/>
            <a:ext cx="82296" cy="82296"/>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8368" y="3931920"/>
            <a:ext cx="4553712" cy="530352"/>
          </a:xfrm>
          <a:prstGeom prst="rect">
            <a:avLst/>
          </a:prstGeom>
          <a:noFill/>
        </p:spPr>
        <p:txBody>
          <a:bodyPr wrap="square" lIns="0" rIns="0" tIns="0" bIns="0" anchor="t">
            <a:spAutoFit/>
          </a:bodyPr>
          <a:lstStyle/>
          <a:p>
            <a:r>
              <a:rPr sz="1100" b="0">
                <a:solidFill>
                  <a:srgbClr val="0F172A"/>
                </a:solidFill>
                <a:latin typeface="Segoe UI"/>
              </a:rPr>
              <a:t>Décisions conservées quand un document est ajouté</a:t>
            </a:r>
          </a:p>
        </p:txBody>
      </p:sp>
      <p:sp>
        <p:nvSpPr>
          <p:cNvPr id="16" name="Rounded Rectangle 15"/>
          <p:cNvSpPr/>
          <p:nvPr/>
        </p:nvSpPr>
        <p:spPr>
          <a:xfrm>
            <a:off x="5486400" y="1280160"/>
            <a:ext cx="3200400" cy="3108960"/>
          </a:xfrm>
          <a:prstGeom prst="roundRect">
            <a:avLst>
              <a:gd name="adj" fmla="val 6000"/>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715000" y="1463040"/>
            <a:ext cx="2743200" cy="228600"/>
          </a:xfrm>
          <a:prstGeom prst="rect">
            <a:avLst/>
          </a:prstGeom>
          <a:noFill/>
        </p:spPr>
        <p:txBody>
          <a:bodyPr wrap="square" lIns="0" rIns="0" tIns="0" bIns="0" anchor="t">
            <a:spAutoFit/>
          </a:bodyPr>
          <a:lstStyle/>
          <a:p>
            <a:r>
              <a:rPr sz="1000" b="1">
                <a:solidFill>
                  <a:srgbClr val="2DD4BF"/>
                </a:solidFill>
                <a:latin typeface="Consolas"/>
              </a:rPr>
              <a:t>VALIDÉE LE 12/10</a:t>
            </a:r>
          </a:p>
        </p:txBody>
      </p:sp>
      <p:sp>
        <p:nvSpPr>
          <p:cNvPr id="18" name="TextBox 17"/>
          <p:cNvSpPr txBox="1"/>
          <p:nvPr/>
        </p:nvSpPr>
        <p:spPr>
          <a:xfrm>
            <a:off x="5715000" y="1783080"/>
            <a:ext cx="2743200" cy="640080"/>
          </a:xfrm>
          <a:prstGeom prst="rect">
            <a:avLst/>
          </a:prstGeom>
          <a:noFill/>
        </p:spPr>
        <p:txBody>
          <a:bodyPr wrap="square" lIns="0" rIns="0" tIns="0" bIns="0" anchor="t">
            <a:spAutoFit/>
          </a:bodyPr>
          <a:lstStyle/>
          <a:p>
            <a:r>
              <a:rPr sz="1400" b="0">
                <a:solidFill>
                  <a:srgbClr val="FFFFFF"/>
                </a:solidFill>
                <a:latin typeface="Segoe UI Semibold"/>
              </a:rPr>
              <a:t>« Elle permet de valider, rien à redire. »</a:t>
            </a:r>
          </a:p>
        </p:txBody>
      </p:sp>
      <p:sp>
        <p:nvSpPr>
          <p:cNvPr id="19" name="TextBox 18"/>
          <p:cNvSpPr txBox="1"/>
          <p:nvPr/>
        </p:nvSpPr>
        <p:spPr>
          <a:xfrm>
            <a:off x="5715000" y="2743200"/>
            <a:ext cx="2743200" cy="1463040"/>
          </a:xfrm>
          <a:prstGeom prst="rect">
            <a:avLst/>
          </a:prstGeom>
          <a:noFill/>
        </p:spPr>
        <p:txBody>
          <a:bodyPr wrap="square" lIns="0" rIns="0" tIns="0" bIns="0" anchor="t">
            <a:spAutoFit/>
          </a:bodyPr>
          <a:lstStyle/>
          <a:p>
            <a:r>
              <a:rPr sz="1050" b="0">
                <a:solidFill>
                  <a:srgbClr val="CBD5E1"/>
                </a:solidFill>
                <a:latin typeface="Segoe UI"/>
              </a:rPr>
              <a:t>valide_par reste vide tant qu'un humain n'a pas décidé.</a:t>
            </a:r>
          </a:p>
          <a:p>
            <a:r>
              <a:rPr sz="1050" b="0">
                <a:solidFill>
                  <a:srgbClr val="CBD5E1"/>
                </a:solidFill>
                <a:latin typeface="Segoe UI"/>
              </a:rPr>
              <a:t/>
            </a:r>
          </a:p>
          <a:p>
            <a:r>
              <a:rPr sz="1050" b="0">
                <a:solidFill>
                  <a:srgbClr val="CBD5E1"/>
                </a:solidFill>
                <a:latin typeface="Segoe UI"/>
              </a:rPr>
              <a:t>Une ligne modifiée par une mise à jour revient « à confirmer » avec l'ancienne décision visible.</a:t>
            </a:r>
          </a:p>
        </p:txBody>
      </p:sp>
      <p:sp>
        <p:nvSpPr>
          <p:cNvPr id="20" name="TextBox 19"/>
          <p:cNvSpPr txBox="1"/>
          <p:nvPr/>
        </p:nvSpPr>
        <p:spPr>
          <a:xfrm>
            <a:off x="457200" y="4800600"/>
            <a:ext cx="3657600" cy="182880"/>
          </a:xfrm>
          <a:prstGeom prst="rect">
            <a:avLst/>
          </a:prstGeom>
          <a:noFill/>
        </p:spPr>
        <p:txBody>
          <a:bodyPr wrap="square" lIns="0" rIns="0" tIns="0" bIns="0" anchor="t">
            <a:spAutoFit/>
          </a:bodyPr>
          <a:lstStyle/>
          <a:p>
            <a:r>
              <a:rPr sz="800" b="0">
                <a:solidFill>
                  <a:srgbClr val="94A3B8"/>
                </a:solidFill>
                <a:latin typeface="Consolas"/>
              </a:rPr>
              <a:t>E21 · Agents IA &amp; analyse de risques</a:t>
            </a:r>
          </a:p>
        </p:txBody>
      </p:sp>
      <p:sp>
        <p:nvSpPr>
          <p:cNvPr id="21" name="TextBox 20"/>
          <p:cNvSpPr txBox="1"/>
          <p:nvPr/>
        </p:nvSpPr>
        <p:spPr>
          <a:xfrm>
            <a:off x="8321040" y="4800600"/>
            <a:ext cx="365760" cy="182880"/>
          </a:xfrm>
          <a:prstGeom prst="rect">
            <a:avLst/>
          </a:prstGeom>
          <a:noFill/>
        </p:spPr>
        <p:txBody>
          <a:bodyPr wrap="square" lIns="0" rIns="0" tIns="0" bIns="0" anchor="t">
            <a:spAutoFit/>
          </a:bodyPr>
          <a:lstStyle/>
          <a:p>
            <a:pPr algn="r"/>
            <a:r>
              <a:rPr sz="800" b="0">
                <a:solidFill>
                  <a:srgbClr val="94A3B8"/>
                </a:solidFill>
                <a:latin typeface="Consolas"/>
              </a:rPr>
              <a:t>20</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292608"/>
            <a:ext cx="8229600" cy="228600"/>
          </a:xfrm>
          <a:prstGeom prst="rect">
            <a:avLst/>
          </a:prstGeom>
          <a:noFill/>
        </p:spPr>
        <p:txBody>
          <a:bodyPr wrap="square" lIns="0" rIns="0" tIns="0" bIns="0" anchor="t">
            <a:spAutoFit/>
          </a:bodyPr>
          <a:lstStyle/>
          <a:p>
            <a:r>
              <a:rPr sz="1000" b="0">
                <a:solidFill>
                  <a:srgbClr val="0D9488"/>
                </a:solidFill>
                <a:latin typeface="Consolas"/>
              </a:rPr>
              <a:t>V2 · MISE À JOUR</a:t>
            </a:r>
          </a:p>
        </p:txBody>
      </p:sp>
      <p:sp>
        <p:nvSpPr>
          <p:cNvPr id="3" name="TextBox 2"/>
          <p:cNvSpPr txBox="1"/>
          <p:nvPr/>
        </p:nvSpPr>
        <p:spPr>
          <a:xfrm>
            <a:off x="457200" y="502920"/>
            <a:ext cx="8229600" cy="548640"/>
          </a:xfrm>
          <a:prstGeom prst="rect">
            <a:avLst/>
          </a:prstGeom>
          <a:noFill/>
        </p:spPr>
        <p:txBody>
          <a:bodyPr wrap="square" lIns="0" rIns="0" tIns="0" bIns="0" anchor="t">
            <a:spAutoFit/>
          </a:bodyPr>
          <a:lstStyle/>
          <a:p>
            <a:r>
              <a:rPr sz="2400" b="0">
                <a:solidFill>
                  <a:srgbClr val="0F172A"/>
                </a:solidFill>
                <a:latin typeface="Segoe UI Semibold"/>
              </a:rPr>
              <a:t>Ajouter un document sans tout refaire</a:t>
            </a:r>
          </a:p>
        </p:txBody>
      </p:sp>
      <p:pic>
        <p:nvPicPr>
          <p:cNvPr id="4" name="Picture 3" descr="d4-mise-a-jour.png"/>
          <p:cNvPicPr>
            <a:picLocks noChangeAspect="1"/>
          </p:cNvPicPr>
          <p:nvPr/>
        </p:nvPicPr>
        <p:blipFill>
          <a:blip r:embed="rId2"/>
          <a:stretch>
            <a:fillRect/>
          </a:stretch>
        </p:blipFill>
        <p:spPr>
          <a:xfrm>
            <a:off x="502920" y="1188720"/>
            <a:ext cx="2450163" cy="3520440"/>
          </a:xfrm>
          <a:prstGeom prst="rect">
            <a:avLst/>
          </a:prstGeom>
        </p:spPr>
      </p:pic>
      <p:sp>
        <p:nvSpPr>
          <p:cNvPr id="5" name="Rounded Rectangle 4"/>
          <p:cNvSpPr/>
          <p:nvPr/>
        </p:nvSpPr>
        <p:spPr>
          <a:xfrm>
            <a:off x="3566160" y="1280160"/>
            <a:ext cx="5120640" cy="1463040"/>
          </a:xfrm>
          <a:prstGeom prst="roundRect">
            <a:avLst>
              <a:gd name="adj" fmla="val 6000"/>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749039" y="1389888"/>
            <a:ext cx="4754880" cy="228600"/>
          </a:xfrm>
          <a:prstGeom prst="rect">
            <a:avLst/>
          </a:prstGeom>
          <a:noFill/>
        </p:spPr>
        <p:txBody>
          <a:bodyPr wrap="square" lIns="0" rIns="0" tIns="0" bIns="0" anchor="t">
            <a:spAutoFit/>
          </a:bodyPr>
          <a:lstStyle/>
          <a:p>
            <a:r>
              <a:rPr sz="1000" b="1">
                <a:solidFill>
                  <a:srgbClr val="2DD4BF"/>
                </a:solidFill>
                <a:latin typeface="Consolas"/>
              </a:rPr>
              <a:t>ESSAI RÉEL · SANTETECH + 1 DOCUMENT</a:t>
            </a:r>
          </a:p>
        </p:txBody>
      </p:sp>
      <p:sp>
        <p:nvSpPr>
          <p:cNvPr id="7" name="TextBox 6"/>
          <p:cNvSpPr txBox="1"/>
          <p:nvPr/>
        </p:nvSpPr>
        <p:spPr>
          <a:xfrm>
            <a:off x="3749039" y="1691640"/>
            <a:ext cx="4754880" cy="548640"/>
          </a:xfrm>
          <a:prstGeom prst="rect">
            <a:avLst/>
          </a:prstGeom>
          <a:noFill/>
        </p:spPr>
        <p:txBody>
          <a:bodyPr wrap="square" lIns="0" rIns="0" tIns="0" bIns="0" anchor="t">
            <a:spAutoFit/>
          </a:bodyPr>
          <a:lstStyle/>
          <a:p>
            <a:r>
              <a:rPr sz="2800" b="0">
                <a:solidFill>
                  <a:srgbClr val="FFFFFF"/>
                </a:solidFill>
                <a:latin typeface="Segoe UI Semibold"/>
              </a:rPr>
              <a:t>13 minutes</a:t>
            </a:r>
          </a:p>
        </p:txBody>
      </p:sp>
      <p:sp>
        <p:nvSpPr>
          <p:cNvPr id="8" name="TextBox 7"/>
          <p:cNvSpPr txBox="1"/>
          <p:nvPr/>
        </p:nvSpPr>
        <p:spPr>
          <a:xfrm>
            <a:off x="3749039" y="2286000"/>
            <a:ext cx="4754880" cy="457200"/>
          </a:xfrm>
          <a:prstGeom prst="rect">
            <a:avLst/>
          </a:prstGeom>
          <a:noFill/>
        </p:spPr>
        <p:txBody>
          <a:bodyPr wrap="square" lIns="0" rIns="0" tIns="0" bIns="0" anchor="t">
            <a:spAutoFit/>
          </a:bodyPr>
          <a:lstStyle/>
          <a:p>
            <a:r>
              <a:rPr sz="1050" b="0">
                <a:solidFill>
                  <a:srgbClr val="CBD5E1"/>
                </a:solidFill>
                <a:latin typeface="Segoe UI"/>
              </a:rPr>
              <a:t>3 actifs et 9 risques créés ; 39 actifs et 135 risques identiques à l'octet près.</a:t>
            </a:r>
          </a:p>
        </p:txBody>
      </p:sp>
      <p:sp>
        <p:nvSpPr>
          <p:cNvPr id="9" name="Rectangle 8"/>
          <p:cNvSpPr/>
          <p:nvPr/>
        </p:nvSpPr>
        <p:spPr>
          <a:xfrm>
            <a:off x="3566160" y="3035808"/>
            <a:ext cx="82296" cy="82296"/>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767328" y="2971800"/>
            <a:ext cx="4919472" cy="365760"/>
          </a:xfrm>
          <a:prstGeom prst="rect">
            <a:avLst/>
          </a:prstGeom>
          <a:noFill/>
        </p:spPr>
        <p:txBody>
          <a:bodyPr wrap="square" lIns="0" rIns="0" tIns="0" bIns="0" anchor="t">
            <a:spAutoFit/>
          </a:bodyPr>
          <a:lstStyle/>
          <a:p>
            <a:r>
              <a:rPr sz="1050" b="0">
                <a:solidFill>
                  <a:srgbClr val="0F172A"/>
                </a:solidFill>
                <a:latin typeface="Segoe UI"/>
              </a:rPr>
              <a:t>Les numéros de preuve ne changent jamais</a:t>
            </a:r>
          </a:p>
        </p:txBody>
      </p:sp>
      <p:sp>
        <p:nvSpPr>
          <p:cNvPr id="11" name="Rectangle 10"/>
          <p:cNvSpPr/>
          <p:nvPr/>
        </p:nvSpPr>
        <p:spPr>
          <a:xfrm>
            <a:off x="3566160" y="3401568"/>
            <a:ext cx="82296" cy="82296"/>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767328" y="3337560"/>
            <a:ext cx="4919472" cy="365760"/>
          </a:xfrm>
          <a:prstGeom prst="rect">
            <a:avLst/>
          </a:prstGeom>
          <a:noFill/>
        </p:spPr>
        <p:txBody>
          <a:bodyPr wrap="square" lIns="0" rIns="0" tIns="0" bIns="0" anchor="t">
            <a:spAutoFit/>
          </a:bodyPr>
          <a:lstStyle/>
          <a:p>
            <a:r>
              <a:rPr sz="1050" b="0">
                <a:solidFill>
                  <a:srgbClr val="0F172A"/>
                </a:solidFill>
                <a:latin typeface="Segoe UI"/>
              </a:rPr>
              <a:t>Un retrait est seulement proposé, jamais automatique</a:t>
            </a:r>
          </a:p>
        </p:txBody>
      </p:sp>
      <p:sp>
        <p:nvSpPr>
          <p:cNvPr id="13" name="Rectangle 12"/>
          <p:cNvSpPr/>
          <p:nvPr/>
        </p:nvSpPr>
        <p:spPr>
          <a:xfrm>
            <a:off x="3566160" y="3767328"/>
            <a:ext cx="82296" cy="82296"/>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767328" y="3703320"/>
            <a:ext cx="4919472" cy="365760"/>
          </a:xfrm>
          <a:prstGeom prst="rect">
            <a:avLst/>
          </a:prstGeom>
          <a:noFill/>
        </p:spPr>
        <p:txBody>
          <a:bodyPr wrap="square" lIns="0" rIns="0" tIns="0" bIns="0" anchor="t">
            <a:spAutoFit/>
          </a:bodyPr>
          <a:lstStyle/>
          <a:p>
            <a:r>
              <a:rPr sz="1050" b="0">
                <a:solidFill>
                  <a:srgbClr val="0F172A"/>
                </a:solidFill>
                <a:latin typeface="Segoe UI"/>
              </a:rPr>
              <a:t>Une décision sur une ligne modifiée revient « à confirmer »</a:t>
            </a:r>
          </a:p>
        </p:txBody>
      </p:sp>
      <p:sp>
        <p:nvSpPr>
          <p:cNvPr id="15" name="Rectangle 14"/>
          <p:cNvSpPr/>
          <p:nvPr/>
        </p:nvSpPr>
        <p:spPr>
          <a:xfrm>
            <a:off x="3566160" y="4133088"/>
            <a:ext cx="82296" cy="82296"/>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767328" y="4069080"/>
            <a:ext cx="4919472" cy="365760"/>
          </a:xfrm>
          <a:prstGeom prst="rect">
            <a:avLst/>
          </a:prstGeom>
          <a:noFill/>
        </p:spPr>
        <p:txBody>
          <a:bodyPr wrap="square" lIns="0" rIns="0" tIns="0" bIns="0" anchor="t">
            <a:spAutoFit/>
          </a:bodyPr>
          <a:lstStyle/>
          <a:p>
            <a:r>
              <a:rPr sz="1050" b="0">
                <a:solidFill>
                  <a:srgbClr val="0F172A"/>
                </a:solidFill>
                <a:latin typeface="Segoe UI"/>
              </a:rPr>
              <a:t>Coupure : reprise sans doublon</a:t>
            </a:r>
          </a:p>
        </p:txBody>
      </p:sp>
      <p:sp>
        <p:nvSpPr>
          <p:cNvPr id="17" name="TextBox 16"/>
          <p:cNvSpPr txBox="1"/>
          <p:nvPr/>
        </p:nvSpPr>
        <p:spPr>
          <a:xfrm>
            <a:off x="8321040" y="4800600"/>
            <a:ext cx="365760" cy="182880"/>
          </a:xfrm>
          <a:prstGeom prst="rect">
            <a:avLst/>
          </a:prstGeom>
          <a:noFill/>
        </p:spPr>
        <p:txBody>
          <a:bodyPr wrap="square" lIns="0" rIns="0" tIns="0" bIns="0" anchor="t">
            <a:spAutoFit/>
          </a:bodyPr>
          <a:lstStyle/>
          <a:p>
            <a:pPr algn="r"/>
            <a:r>
              <a:rPr sz="800" b="0">
                <a:solidFill>
                  <a:srgbClr val="94A3B8"/>
                </a:solidFill>
                <a:latin typeface="Consolas"/>
              </a:rPr>
              <a:t>21</a:t>
            </a:r>
          </a:p>
        </p:txBody>
      </p:sp>
      <p:sp>
        <p:nvSpPr>
          <p:cNvPr id="18" name="TextBox 17"/>
          <p:cNvSpPr txBox="1"/>
          <p:nvPr/>
        </p:nvSpPr>
        <p:spPr>
          <a:xfrm>
            <a:off x="457200" y="4800600"/>
            <a:ext cx="3657600" cy="182880"/>
          </a:xfrm>
          <a:prstGeom prst="rect">
            <a:avLst/>
          </a:prstGeom>
          <a:noFill/>
        </p:spPr>
        <p:txBody>
          <a:bodyPr wrap="square" lIns="0" rIns="0" tIns="0" bIns="0" anchor="t">
            <a:spAutoFit/>
          </a:bodyPr>
          <a:lstStyle/>
          <a:p>
            <a:r>
              <a:rPr sz="800" b="0">
                <a:solidFill>
                  <a:srgbClr val="94A3B8"/>
                </a:solidFill>
                <a:latin typeface="Consolas"/>
              </a:rPr>
              <a:t>E21 · Agents IA &amp; analyse de risques</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292608"/>
            <a:ext cx="8229600" cy="228600"/>
          </a:xfrm>
          <a:prstGeom prst="rect">
            <a:avLst/>
          </a:prstGeom>
          <a:noFill/>
        </p:spPr>
        <p:txBody>
          <a:bodyPr wrap="square" lIns="0" rIns="0" tIns="0" bIns="0" anchor="t">
            <a:spAutoFit/>
          </a:bodyPr>
          <a:lstStyle/>
          <a:p>
            <a:r>
              <a:rPr sz="1000" b="0">
                <a:solidFill>
                  <a:srgbClr val="0D9488"/>
                </a:solidFill>
                <a:latin typeface="Consolas"/>
              </a:rPr>
              <a:t>V2 · ESSAI RÉEL</a:t>
            </a:r>
          </a:p>
        </p:txBody>
      </p:sp>
      <p:sp>
        <p:nvSpPr>
          <p:cNvPr id="3" name="TextBox 2"/>
          <p:cNvSpPr txBox="1"/>
          <p:nvPr/>
        </p:nvSpPr>
        <p:spPr>
          <a:xfrm>
            <a:off x="457200" y="502920"/>
            <a:ext cx="8229600" cy="548640"/>
          </a:xfrm>
          <a:prstGeom prst="rect">
            <a:avLst/>
          </a:prstGeom>
          <a:noFill/>
        </p:spPr>
        <p:txBody>
          <a:bodyPr wrap="square" lIns="0" rIns="0" tIns="0" bIns="0" anchor="t">
            <a:spAutoFit/>
          </a:bodyPr>
          <a:lstStyle/>
          <a:p>
            <a:r>
              <a:rPr sz="2400" b="0">
                <a:solidFill>
                  <a:srgbClr val="0F172A"/>
                </a:solidFill>
                <a:latin typeface="Segoe UI Semibold"/>
              </a:rPr>
              <a:t>L'essai réel a trouvé ce que les tests n'avaient pas vu</a:t>
            </a:r>
          </a:p>
        </p:txBody>
      </p:sp>
      <p:sp>
        <p:nvSpPr>
          <p:cNvPr id="4" name="Rectangle 3"/>
          <p:cNvSpPr/>
          <p:nvPr/>
        </p:nvSpPr>
        <p:spPr>
          <a:xfrm>
            <a:off x="457200" y="1234440"/>
            <a:ext cx="2651760" cy="658368"/>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234440"/>
            <a:ext cx="2468879" cy="658368"/>
          </a:xfrm>
          <a:prstGeom prst="rect">
            <a:avLst/>
          </a:prstGeom>
          <a:noFill/>
        </p:spPr>
        <p:txBody>
          <a:bodyPr wrap="square" lIns="0" rIns="0" tIns="0" bIns="0" anchor="ctr">
            <a:spAutoFit/>
          </a:bodyPr>
          <a:lstStyle/>
          <a:p>
            <a:r>
              <a:rPr sz="1050" b="0">
                <a:solidFill>
                  <a:srgbClr val="FFFFFF"/>
                </a:solidFill>
                <a:latin typeface="Segoe UI Semibold"/>
              </a:rPr>
              <a:t>Défaut constaté</a:t>
            </a:r>
          </a:p>
        </p:txBody>
      </p:sp>
      <p:sp>
        <p:nvSpPr>
          <p:cNvPr id="6" name="Rectangle 5"/>
          <p:cNvSpPr/>
          <p:nvPr/>
        </p:nvSpPr>
        <p:spPr>
          <a:xfrm>
            <a:off x="3108960" y="1234440"/>
            <a:ext cx="2834640" cy="658368"/>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200400" y="1234440"/>
            <a:ext cx="2651760" cy="658368"/>
          </a:xfrm>
          <a:prstGeom prst="rect">
            <a:avLst/>
          </a:prstGeom>
          <a:noFill/>
        </p:spPr>
        <p:txBody>
          <a:bodyPr wrap="square" lIns="0" rIns="0" tIns="0" bIns="0" anchor="ctr">
            <a:spAutoFit/>
          </a:bodyPr>
          <a:lstStyle/>
          <a:p>
            <a:r>
              <a:rPr sz="1050" b="0">
                <a:solidFill>
                  <a:srgbClr val="FFFFFF"/>
                </a:solidFill>
                <a:latin typeface="Segoe UI Semibold"/>
              </a:rPr>
              <a:t>Cause</a:t>
            </a:r>
          </a:p>
        </p:txBody>
      </p:sp>
      <p:sp>
        <p:nvSpPr>
          <p:cNvPr id="8" name="Rectangle 7"/>
          <p:cNvSpPr/>
          <p:nvPr/>
        </p:nvSpPr>
        <p:spPr>
          <a:xfrm>
            <a:off x="5943600" y="1234440"/>
            <a:ext cx="2743200" cy="658368"/>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035040" y="1234440"/>
            <a:ext cx="2560320" cy="658368"/>
          </a:xfrm>
          <a:prstGeom prst="rect">
            <a:avLst/>
          </a:prstGeom>
          <a:noFill/>
        </p:spPr>
        <p:txBody>
          <a:bodyPr wrap="square" lIns="0" rIns="0" tIns="0" bIns="0" anchor="ctr">
            <a:spAutoFit/>
          </a:bodyPr>
          <a:lstStyle/>
          <a:p>
            <a:r>
              <a:rPr sz="1050" b="0">
                <a:solidFill>
                  <a:srgbClr val="FFFFFF"/>
                </a:solidFill>
                <a:latin typeface="Segoe UI Semibold"/>
              </a:rPr>
              <a:t>Correction</a:t>
            </a:r>
          </a:p>
        </p:txBody>
      </p:sp>
      <p:sp>
        <p:nvSpPr>
          <p:cNvPr id="10" name="Rectangle 9"/>
          <p:cNvSpPr/>
          <p:nvPr/>
        </p:nvSpPr>
        <p:spPr>
          <a:xfrm>
            <a:off x="457200" y="1892808"/>
            <a:ext cx="2651760" cy="65836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892808"/>
            <a:ext cx="2468879" cy="658368"/>
          </a:xfrm>
          <a:prstGeom prst="rect">
            <a:avLst/>
          </a:prstGeom>
          <a:noFill/>
        </p:spPr>
        <p:txBody>
          <a:bodyPr wrap="square" lIns="0" rIns="0" tIns="0" bIns="0" anchor="ctr">
            <a:spAutoFit/>
          </a:bodyPr>
          <a:lstStyle/>
          <a:p>
            <a:r>
              <a:rPr sz="1050" b="0">
                <a:solidFill>
                  <a:srgbClr val="0F172A"/>
                </a:solidFill>
                <a:latin typeface="Segoe UI Semibold"/>
              </a:rPr>
              <a:t>125 lignes proposées « à revoir »</a:t>
            </a:r>
          </a:p>
        </p:txBody>
      </p:sp>
      <p:sp>
        <p:nvSpPr>
          <p:cNvPr id="12" name="Rectangle 11"/>
          <p:cNvSpPr/>
          <p:nvPr/>
        </p:nvSpPr>
        <p:spPr>
          <a:xfrm>
            <a:off x="3108960" y="1892808"/>
            <a:ext cx="2834640" cy="65836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200400" y="1892808"/>
            <a:ext cx="2651760" cy="658368"/>
          </a:xfrm>
          <a:prstGeom prst="rect">
            <a:avLst/>
          </a:prstGeom>
          <a:noFill/>
        </p:spPr>
        <p:txBody>
          <a:bodyPr wrap="square" lIns="0" rIns="0" tIns="0" bIns="0" anchor="ctr">
            <a:spAutoFit/>
          </a:bodyPr>
          <a:lstStyle/>
          <a:p>
            <a:r>
              <a:rPr sz="1050" b="0">
                <a:solidFill>
                  <a:srgbClr val="0F172A"/>
                </a:solidFill>
                <a:latin typeface="Segoe UI"/>
              </a:rPr>
              <a:t>Elles citaient des preuves qui n'ont jamais existé</a:t>
            </a:r>
          </a:p>
        </p:txBody>
      </p:sp>
      <p:sp>
        <p:nvSpPr>
          <p:cNvPr id="14" name="Rectangle 13"/>
          <p:cNvSpPr/>
          <p:nvPr/>
        </p:nvSpPr>
        <p:spPr>
          <a:xfrm>
            <a:off x="5943600" y="1892808"/>
            <a:ext cx="2743200" cy="65836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035040" y="1892808"/>
            <a:ext cx="2560320" cy="658368"/>
          </a:xfrm>
          <a:prstGeom prst="rect">
            <a:avLst/>
          </a:prstGeom>
          <a:noFill/>
        </p:spPr>
        <p:txBody>
          <a:bodyPr wrap="square" lIns="0" rIns="0" tIns="0" bIns="0" anchor="ctr">
            <a:spAutoFit/>
          </a:bodyPr>
          <a:lstStyle/>
          <a:p>
            <a:r>
              <a:rPr sz="1050" b="0">
                <a:solidFill>
                  <a:srgbClr val="0F172A"/>
                </a:solidFill>
                <a:latin typeface="Segoe UI"/>
              </a:rPr>
              <a:t>Groupe à part, jamais coché d'office</a:t>
            </a:r>
          </a:p>
        </p:txBody>
      </p:sp>
      <p:sp>
        <p:nvSpPr>
          <p:cNvPr id="16" name="Rectangle 15"/>
          <p:cNvSpPr/>
          <p:nvPr/>
        </p:nvSpPr>
        <p:spPr>
          <a:xfrm>
            <a:off x="457200" y="2551176"/>
            <a:ext cx="2651760" cy="658368"/>
          </a:xfrm>
          <a:prstGeom prst="rect">
            <a:avLst/>
          </a:prstGeom>
          <a:solidFill>
            <a:srgbClr val="F4F7FA"/>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48640" y="2551176"/>
            <a:ext cx="2468879" cy="658368"/>
          </a:xfrm>
          <a:prstGeom prst="rect">
            <a:avLst/>
          </a:prstGeom>
          <a:noFill/>
        </p:spPr>
        <p:txBody>
          <a:bodyPr wrap="square" lIns="0" rIns="0" tIns="0" bIns="0" anchor="ctr">
            <a:spAutoFit/>
          </a:bodyPr>
          <a:lstStyle/>
          <a:p>
            <a:r>
              <a:rPr sz="1050" b="0">
                <a:solidFill>
                  <a:srgbClr val="0F172A"/>
                </a:solidFill>
                <a:latin typeface="Segoe UI Semibold"/>
              </a:rPr>
              <a:t>9 actifs créés dont du bruit</a:t>
            </a:r>
          </a:p>
        </p:txBody>
      </p:sp>
      <p:sp>
        <p:nvSpPr>
          <p:cNvPr id="18" name="Rectangle 17"/>
          <p:cNvSpPr/>
          <p:nvPr/>
        </p:nvSpPr>
        <p:spPr>
          <a:xfrm>
            <a:off x="3108960" y="2551176"/>
            <a:ext cx="2834640" cy="658368"/>
          </a:xfrm>
          <a:prstGeom prst="rect">
            <a:avLst/>
          </a:prstGeom>
          <a:solidFill>
            <a:srgbClr val="F4F7FA"/>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200400" y="2551176"/>
            <a:ext cx="2651760" cy="658368"/>
          </a:xfrm>
          <a:prstGeom prst="rect">
            <a:avLst/>
          </a:prstGeom>
          <a:noFill/>
        </p:spPr>
        <p:txBody>
          <a:bodyPr wrap="square" lIns="0" rIns="0" tIns="0" bIns="0" anchor="ctr">
            <a:spAutoFit/>
          </a:bodyPr>
          <a:lstStyle/>
          <a:p>
            <a:r>
              <a:rPr sz="1050" b="0">
                <a:solidFill>
                  <a:srgbClr val="0F172A"/>
                </a:solidFill>
                <a:latin typeface="Segoe UI"/>
              </a:rPr>
              <a:t>« salle serveurs », « prestataire externe »…</a:t>
            </a:r>
          </a:p>
        </p:txBody>
      </p:sp>
      <p:sp>
        <p:nvSpPr>
          <p:cNvPr id="20" name="Rectangle 19"/>
          <p:cNvSpPr/>
          <p:nvPr/>
        </p:nvSpPr>
        <p:spPr>
          <a:xfrm>
            <a:off x="5943600" y="2551176"/>
            <a:ext cx="2743200" cy="658368"/>
          </a:xfrm>
          <a:prstGeom prst="rect">
            <a:avLst/>
          </a:prstGeom>
          <a:solidFill>
            <a:srgbClr val="F4F7FA"/>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035040" y="2551176"/>
            <a:ext cx="2560320" cy="658368"/>
          </a:xfrm>
          <a:prstGeom prst="rect">
            <a:avLst/>
          </a:prstGeom>
          <a:noFill/>
        </p:spPr>
        <p:txBody>
          <a:bodyPr wrap="square" lIns="0" rIns="0" tIns="0" bIns="0" anchor="ctr">
            <a:spAutoFit/>
          </a:bodyPr>
          <a:lstStyle/>
          <a:p>
            <a:r>
              <a:rPr sz="1050" b="0">
                <a:solidFill>
                  <a:srgbClr val="0F172A"/>
                </a:solidFill>
                <a:latin typeface="Segoe UI"/>
              </a:rPr>
              <a:t>Termes génériques et noms déjà inventoriés écartés</a:t>
            </a:r>
          </a:p>
        </p:txBody>
      </p:sp>
      <p:sp>
        <p:nvSpPr>
          <p:cNvPr id="22" name="Rectangle 21"/>
          <p:cNvSpPr/>
          <p:nvPr/>
        </p:nvSpPr>
        <p:spPr>
          <a:xfrm>
            <a:off x="457200" y="3209544"/>
            <a:ext cx="2651760" cy="65836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48640" y="3209544"/>
            <a:ext cx="2468879" cy="658368"/>
          </a:xfrm>
          <a:prstGeom prst="rect">
            <a:avLst/>
          </a:prstGeom>
          <a:noFill/>
        </p:spPr>
        <p:txBody>
          <a:bodyPr wrap="square" lIns="0" rIns="0" tIns="0" bIns="0" anchor="ctr">
            <a:spAutoFit/>
          </a:bodyPr>
          <a:lstStyle/>
          <a:p>
            <a:r>
              <a:rPr sz="1050" b="0">
                <a:solidFill>
                  <a:srgbClr val="0F172A"/>
                </a:solidFill>
                <a:latin typeface="Segoe UI Semibold"/>
              </a:rPr>
              <a:t>Description réécrite à 80 %</a:t>
            </a:r>
          </a:p>
        </p:txBody>
      </p:sp>
      <p:sp>
        <p:nvSpPr>
          <p:cNvPr id="24" name="Rectangle 23"/>
          <p:cNvSpPr/>
          <p:nvPr/>
        </p:nvSpPr>
        <p:spPr>
          <a:xfrm>
            <a:off x="3108960" y="3209544"/>
            <a:ext cx="2834640" cy="65836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200400" y="3209544"/>
            <a:ext cx="2651760" cy="658368"/>
          </a:xfrm>
          <a:prstGeom prst="rect">
            <a:avLst/>
          </a:prstGeom>
          <a:noFill/>
        </p:spPr>
        <p:txBody>
          <a:bodyPr wrap="square" lIns="0" rIns="0" tIns="0" bIns="0" anchor="ctr">
            <a:spAutoFit/>
          </a:bodyPr>
          <a:lstStyle/>
          <a:p>
            <a:r>
              <a:rPr sz="1050" b="0">
                <a:solidFill>
                  <a:srgbClr val="0F172A"/>
                </a:solidFill>
                <a:latin typeface="Segoe UI"/>
              </a:rPr>
              <a:t>Le nouveau document n'était pas repris</a:t>
            </a:r>
          </a:p>
        </p:txBody>
      </p:sp>
      <p:sp>
        <p:nvSpPr>
          <p:cNvPr id="26" name="Rectangle 25"/>
          <p:cNvSpPr/>
          <p:nvPr/>
        </p:nvSpPr>
        <p:spPr>
          <a:xfrm>
            <a:off x="5943600" y="3209544"/>
            <a:ext cx="2743200" cy="65836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035040" y="3209544"/>
            <a:ext cx="2560320" cy="658368"/>
          </a:xfrm>
          <a:prstGeom prst="rect">
            <a:avLst/>
          </a:prstGeom>
          <a:noFill/>
        </p:spPr>
        <p:txBody>
          <a:bodyPr wrap="square" lIns="0" rIns="0" tIns="0" bIns="0" anchor="ctr">
            <a:spAutoFit/>
          </a:bodyPr>
          <a:lstStyle/>
          <a:p>
            <a:r>
              <a:rPr sz="1050" b="0">
                <a:solidFill>
                  <a:srgbClr val="0F172A"/>
                </a:solidFill>
                <a:latin typeface="Segoe UI"/>
              </a:rPr>
              <a:t>Description conservée + section « Compléments » par le code</a:t>
            </a:r>
          </a:p>
        </p:txBody>
      </p:sp>
      <p:sp>
        <p:nvSpPr>
          <p:cNvPr id="28" name="Rounded Rectangle 27"/>
          <p:cNvSpPr/>
          <p:nvPr/>
        </p:nvSpPr>
        <p:spPr>
          <a:xfrm>
            <a:off x="457200" y="4023360"/>
            <a:ext cx="3977639" cy="640080"/>
          </a:xfrm>
          <a:prstGeom prst="roundRect">
            <a:avLst>
              <a:gd name="adj" fmla="val 6000"/>
            </a:avLst>
          </a:prstGeom>
          <a:solidFill>
            <a:srgbClr val="FDECE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40080" y="4023360"/>
            <a:ext cx="3657600" cy="640080"/>
          </a:xfrm>
          <a:prstGeom prst="rect">
            <a:avLst/>
          </a:prstGeom>
          <a:noFill/>
        </p:spPr>
        <p:txBody>
          <a:bodyPr wrap="square" lIns="0" rIns="0" tIns="0" bIns="0" anchor="ctr">
            <a:spAutoFit/>
          </a:bodyPr>
          <a:lstStyle/>
          <a:p>
            <a:r>
              <a:rPr sz="1200" b="0">
                <a:solidFill>
                  <a:srgbClr val="DC2626"/>
                </a:solidFill>
                <a:latin typeface="Segoe UI Semibold"/>
              </a:rPr>
              <a:t>Avant : 32 minutes, 134 éléments proposés</a:t>
            </a:r>
          </a:p>
        </p:txBody>
      </p:sp>
      <p:sp>
        <p:nvSpPr>
          <p:cNvPr id="30" name="Rounded Rectangle 29"/>
          <p:cNvSpPr/>
          <p:nvPr/>
        </p:nvSpPr>
        <p:spPr>
          <a:xfrm>
            <a:off x="4709160" y="4023360"/>
            <a:ext cx="3977639" cy="640080"/>
          </a:xfrm>
          <a:prstGeom prst="roundRect">
            <a:avLst>
              <a:gd name="adj" fmla="val 6000"/>
            </a:avLst>
          </a:prstGeom>
          <a:solidFill>
            <a:srgbClr val="EAF7EE"/>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892040" y="4023360"/>
            <a:ext cx="3657600" cy="640080"/>
          </a:xfrm>
          <a:prstGeom prst="rect">
            <a:avLst/>
          </a:prstGeom>
          <a:noFill/>
        </p:spPr>
        <p:txBody>
          <a:bodyPr wrap="square" lIns="0" rIns="0" tIns="0" bIns="0" anchor="ctr">
            <a:spAutoFit/>
          </a:bodyPr>
          <a:lstStyle/>
          <a:p>
            <a:r>
              <a:rPr sz="1200" b="0">
                <a:solidFill>
                  <a:srgbClr val="16A34A"/>
                </a:solidFill>
                <a:latin typeface="Segoe UI Semibold"/>
              </a:rPr>
              <a:t>Après : 13 minutes, 3 éléments retenus</a:t>
            </a:r>
          </a:p>
        </p:txBody>
      </p:sp>
      <p:sp>
        <p:nvSpPr>
          <p:cNvPr id="32" name="TextBox 31"/>
          <p:cNvSpPr txBox="1"/>
          <p:nvPr/>
        </p:nvSpPr>
        <p:spPr>
          <a:xfrm>
            <a:off x="8321040" y="4800600"/>
            <a:ext cx="365760" cy="182880"/>
          </a:xfrm>
          <a:prstGeom prst="rect">
            <a:avLst/>
          </a:prstGeom>
          <a:noFill/>
        </p:spPr>
        <p:txBody>
          <a:bodyPr wrap="square" lIns="0" rIns="0" tIns="0" bIns="0" anchor="t">
            <a:spAutoFit/>
          </a:bodyPr>
          <a:lstStyle/>
          <a:p>
            <a:pPr algn="r"/>
            <a:r>
              <a:rPr sz="800" b="0">
                <a:solidFill>
                  <a:srgbClr val="94A3B8"/>
                </a:solidFill>
                <a:latin typeface="Consolas"/>
              </a:rPr>
              <a:t>22</a:t>
            </a:r>
          </a:p>
        </p:txBody>
      </p:sp>
      <p:sp>
        <p:nvSpPr>
          <p:cNvPr id="33" name="TextBox 32"/>
          <p:cNvSpPr txBox="1"/>
          <p:nvPr/>
        </p:nvSpPr>
        <p:spPr>
          <a:xfrm>
            <a:off x="457200" y="4800600"/>
            <a:ext cx="3657600" cy="182880"/>
          </a:xfrm>
          <a:prstGeom prst="rect">
            <a:avLst/>
          </a:prstGeom>
          <a:noFill/>
        </p:spPr>
        <p:txBody>
          <a:bodyPr wrap="square" lIns="0" rIns="0" tIns="0" bIns="0" anchor="t">
            <a:spAutoFit/>
          </a:bodyPr>
          <a:lstStyle/>
          <a:p>
            <a:r>
              <a:rPr sz="800" b="0">
                <a:solidFill>
                  <a:srgbClr val="94A3B8"/>
                </a:solidFill>
                <a:latin typeface="Consolas"/>
              </a:rPr>
              <a:t>E21 · Agents IA &amp; analyse de risques</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292608"/>
            <a:ext cx="8229600" cy="228600"/>
          </a:xfrm>
          <a:prstGeom prst="rect">
            <a:avLst/>
          </a:prstGeom>
          <a:noFill/>
        </p:spPr>
        <p:txBody>
          <a:bodyPr wrap="square" lIns="0" rIns="0" tIns="0" bIns="0" anchor="t">
            <a:spAutoFit/>
          </a:bodyPr>
          <a:lstStyle/>
          <a:p>
            <a:r>
              <a:rPr sz="1000" b="0">
                <a:solidFill>
                  <a:srgbClr val="0D9488"/>
                </a:solidFill>
                <a:latin typeface="Consolas"/>
              </a:rPr>
              <a:t>V2 · TRAÇABILITÉ LIVRÉE</a:t>
            </a:r>
          </a:p>
        </p:txBody>
      </p:sp>
      <p:sp>
        <p:nvSpPr>
          <p:cNvPr id="3" name="TextBox 2"/>
          <p:cNvSpPr txBox="1"/>
          <p:nvPr/>
        </p:nvSpPr>
        <p:spPr>
          <a:xfrm>
            <a:off x="457200" y="502920"/>
            <a:ext cx="8229600" cy="548640"/>
          </a:xfrm>
          <a:prstGeom prst="rect">
            <a:avLst/>
          </a:prstGeom>
          <a:noFill/>
        </p:spPr>
        <p:txBody>
          <a:bodyPr wrap="square" lIns="0" rIns="0" tIns="0" bIns="0" anchor="t">
            <a:spAutoFit/>
          </a:bodyPr>
          <a:lstStyle/>
          <a:p>
            <a:r>
              <a:rPr sz="2400" b="0">
                <a:solidFill>
                  <a:srgbClr val="0F172A"/>
                </a:solidFill>
                <a:latin typeface="Segoe UI Semibold"/>
              </a:rPr>
              <a:t>Un dossier unique, avec tous les liens</a:t>
            </a:r>
          </a:p>
        </p:txBody>
      </p:sp>
      <p:sp>
        <p:nvSpPr>
          <p:cNvPr id="4" name="Rounded Rectangle 3"/>
          <p:cNvSpPr/>
          <p:nvPr/>
        </p:nvSpPr>
        <p:spPr>
          <a:xfrm>
            <a:off x="457200" y="1280160"/>
            <a:ext cx="2651760" cy="1371600"/>
          </a:xfrm>
          <a:prstGeom prst="roundRect">
            <a:avLst>
              <a:gd name="adj" fmla="val 6000"/>
            </a:avLst>
          </a:prstGeom>
          <a:solidFill>
            <a:srgbClr val="F4F7FA"/>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417320"/>
            <a:ext cx="2286000" cy="320040"/>
          </a:xfrm>
          <a:prstGeom prst="rect">
            <a:avLst/>
          </a:prstGeom>
          <a:noFill/>
        </p:spPr>
        <p:txBody>
          <a:bodyPr wrap="square" lIns="0" rIns="0" tIns="0" bIns="0" anchor="t">
            <a:spAutoFit/>
          </a:bodyPr>
          <a:lstStyle/>
          <a:p>
            <a:r>
              <a:rPr sz="1400" b="0">
                <a:solidFill>
                  <a:srgbClr val="0F172A"/>
                </a:solidFill>
                <a:latin typeface="Segoe UI Semibold"/>
              </a:rPr>
              <a:t>HTML autonome</a:t>
            </a:r>
          </a:p>
        </p:txBody>
      </p:sp>
      <p:sp>
        <p:nvSpPr>
          <p:cNvPr id="6" name="TextBox 5"/>
          <p:cNvSpPr txBox="1"/>
          <p:nvPr/>
        </p:nvSpPr>
        <p:spPr>
          <a:xfrm>
            <a:off x="640080" y="1828800"/>
            <a:ext cx="2286000" cy="822960"/>
          </a:xfrm>
          <a:prstGeom prst="rect">
            <a:avLst/>
          </a:prstGeom>
          <a:noFill/>
        </p:spPr>
        <p:txBody>
          <a:bodyPr wrap="square" lIns="0" rIns="0" tIns="0" bIns="0" anchor="t">
            <a:spAutoFit/>
          </a:bodyPr>
          <a:lstStyle/>
          <a:p>
            <a:r>
              <a:rPr sz="1050" b="0">
                <a:solidFill>
                  <a:srgbClr val="475569"/>
                </a:solidFill>
                <a:latin typeface="Segoe UI"/>
              </a:rPr>
              <a:t>Sommaire, livrables, une fiche par risque, annexe des preuves</a:t>
            </a:r>
          </a:p>
        </p:txBody>
      </p:sp>
      <p:sp>
        <p:nvSpPr>
          <p:cNvPr id="7" name="Rounded Rectangle 6"/>
          <p:cNvSpPr/>
          <p:nvPr/>
        </p:nvSpPr>
        <p:spPr>
          <a:xfrm>
            <a:off x="3246120" y="1280160"/>
            <a:ext cx="2651760" cy="1371600"/>
          </a:xfrm>
          <a:prstGeom prst="roundRect">
            <a:avLst>
              <a:gd name="adj" fmla="val 6000"/>
            </a:avLst>
          </a:prstGeom>
          <a:solidFill>
            <a:srgbClr val="F4F7FA"/>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429000" y="1417320"/>
            <a:ext cx="2286000" cy="320040"/>
          </a:xfrm>
          <a:prstGeom prst="rect">
            <a:avLst/>
          </a:prstGeom>
          <a:noFill/>
        </p:spPr>
        <p:txBody>
          <a:bodyPr wrap="square" lIns="0" rIns="0" tIns="0" bIns="0" anchor="t">
            <a:spAutoFit/>
          </a:bodyPr>
          <a:lstStyle/>
          <a:p>
            <a:r>
              <a:rPr sz="1400" b="0">
                <a:solidFill>
                  <a:srgbClr val="0F172A"/>
                </a:solidFill>
                <a:latin typeface="Segoe UI Semibold"/>
              </a:rPr>
              <a:t>PDF</a:t>
            </a:r>
          </a:p>
        </p:txBody>
      </p:sp>
      <p:sp>
        <p:nvSpPr>
          <p:cNvPr id="9" name="TextBox 8"/>
          <p:cNvSpPr txBox="1"/>
          <p:nvPr/>
        </p:nvSpPr>
        <p:spPr>
          <a:xfrm>
            <a:off x="3429000" y="1828800"/>
            <a:ext cx="2286000" cy="822960"/>
          </a:xfrm>
          <a:prstGeom prst="rect">
            <a:avLst/>
          </a:prstGeom>
          <a:noFill/>
        </p:spPr>
        <p:txBody>
          <a:bodyPr wrap="square" lIns="0" rIns="0" tIns="0" bIns="0" anchor="t">
            <a:spAutoFit/>
          </a:bodyPr>
          <a:lstStyle/>
          <a:p>
            <a:r>
              <a:rPr sz="1050" b="0">
                <a:solidFill>
                  <a:srgbClr val="475569"/>
                </a:solidFill>
                <a:latin typeface="Segoe UI"/>
              </a:rPr>
              <a:t>Le même dossier, mis en page</a:t>
            </a:r>
          </a:p>
        </p:txBody>
      </p:sp>
      <p:sp>
        <p:nvSpPr>
          <p:cNvPr id="10" name="Rounded Rectangle 9"/>
          <p:cNvSpPr/>
          <p:nvPr/>
        </p:nvSpPr>
        <p:spPr>
          <a:xfrm>
            <a:off x="6035040" y="1280160"/>
            <a:ext cx="2651760" cy="1371600"/>
          </a:xfrm>
          <a:prstGeom prst="roundRect">
            <a:avLst>
              <a:gd name="adj" fmla="val 6000"/>
            </a:avLst>
          </a:prstGeom>
          <a:solidFill>
            <a:srgbClr val="F4F7FA"/>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217920" y="1417320"/>
            <a:ext cx="2286000" cy="320040"/>
          </a:xfrm>
          <a:prstGeom prst="rect">
            <a:avLst/>
          </a:prstGeom>
          <a:noFill/>
        </p:spPr>
        <p:txBody>
          <a:bodyPr wrap="square" lIns="0" rIns="0" tIns="0" bIns="0" anchor="t">
            <a:spAutoFit/>
          </a:bodyPr>
          <a:lstStyle/>
          <a:p>
            <a:r>
              <a:rPr sz="1400" b="0">
                <a:solidFill>
                  <a:srgbClr val="0F172A"/>
                </a:solidFill>
                <a:latin typeface="Segoe UI Semibold"/>
              </a:rPr>
              <a:t>ZIP</a:t>
            </a:r>
          </a:p>
        </p:txBody>
      </p:sp>
      <p:sp>
        <p:nvSpPr>
          <p:cNvPr id="12" name="TextBox 11"/>
          <p:cNvSpPr txBox="1"/>
          <p:nvPr/>
        </p:nvSpPr>
        <p:spPr>
          <a:xfrm>
            <a:off x="6217920" y="1828800"/>
            <a:ext cx="2286000" cy="822960"/>
          </a:xfrm>
          <a:prstGeom prst="rect">
            <a:avLst/>
          </a:prstGeom>
          <a:noFill/>
        </p:spPr>
        <p:txBody>
          <a:bodyPr wrap="square" lIns="0" rIns="0" tIns="0" bIns="0" anchor="t">
            <a:spAutoFit/>
          </a:bodyPr>
          <a:lstStyle/>
          <a:p>
            <a:r>
              <a:rPr sz="1050" b="0">
                <a:solidFill>
                  <a:srgbClr val="475569"/>
                </a:solidFill>
                <a:latin typeface="Segoe UI"/>
              </a:rPr>
              <a:t>HTML, PDF, livrables, tableur du registre, graphe de traçabilité</a:t>
            </a:r>
          </a:p>
        </p:txBody>
      </p:sp>
      <p:sp>
        <p:nvSpPr>
          <p:cNvPr id="13" name="Rounded Rectangle 12"/>
          <p:cNvSpPr/>
          <p:nvPr/>
        </p:nvSpPr>
        <p:spPr>
          <a:xfrm>
            <a:off x="457200" y="2926080"/>
            <a:ext cx="8229600" cy="914400"/>
          </a:xfrm>
          <a:prstGeom prst="roundRect">
            <a:avLst>
              <a:gd name="adj" fmla="val 6000"/>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2971800"/>
            <a:ext cx="7772400" cy="822960"/>
          </a:xfrm>
          <a:prstGeom prst="rect">
            <a:avLst/>
          </a:prstGeom>
          <a:noFill/>
        </p:spPr>
        <p:txBody>
          <a:bodyPr wrap="square" lIns="0" rIns="0" tIns="0" bIns="0" anchor="ctr">
            <a:spAutoFit/>
          </a:bodyPr>
          <a:lstStyle/>
          <a:p>
            <a:r>
              <a:rPr sz="1300" b="0">
                <a:solidFill>
                  <a:srgbClr val="FFFFFF"/>
                </a:solidFill>
                <a:latin typeface="Segoe UI Semibold"/>
              </a:rPr>
              <a:t>document  →  preuve [E12]  →  actif  →  menace  →  évaluation  →  traitement  →  décision de l'analyste</a:t>
            </a:r>
          </a:p>
        </p:txBody>
      </p:sp>
      <p:sp>
        <p:nvSpPr>
          <p:cNvPr id="15" name="TextBox 14"/>
          <p:cNvSpPr txBox="1"/>
          <p:nvPr/>
        </p:nvSpPr>
        <p:spPr>
          <a:xfrm>
            <a:off x="457200" y="4069080"/>
            <a:ext cx="8229600" cy="548640"/>
          </a:xfrm>
          <a:prstGeom prst="rect">
            <a:avLst/>
          </a:prstGeom>
          <a:noFill/>
        </p:spPr>
        <p:txBody>
          <a:bodyPr wrap="square" lIns="0" rIns="0" tIns="0" bIns="0" anchor="t">
            <a:spAutoFit/>
          </a:bodyPr>
          <a:lstStyle/>
          <a:p>
            <a:r>
              <a:rPr sz="1050" b="0">
                <a:solidFill>
                  <a:srgbClr val="475569"/>
                </a:solidFill>
                <a:latin typeface="Segoe UI"/>
              </a:rPr>
              <a:t>Chaque identifiant d'un tableau est un lien. Les documents d'origine ne sont jamais inclus : seuls les extraits cités le sont. Le contenu est échappé (aucune balise exécutable).</a:t>
            </a:r>
          </a:p>
        </p:txBody>
      </p:sp>
      <p:sp>
        <p:nvSpPr>
          <p:cNvPr id="16" name="TextBox 15"/>
          <p:cNvSpPr txBox="1"/>
          <p:nvPr/>
        </p:nvSpPr>
        <p:spPr>
          <a:xfrm>
            <a:off x="457200" y="4800600"/>
            <a:ext cx="3657600" cy="182880"/>
          </a:xfrm>
          <a:prstGeom prst="rect">
            <a:avLst/>
          </a:prstGeom>
          <a:noFill/>
        </p:spPr>
        <p:txBody>
          <a:bodyPr wrap="square" lIns="0" rIns="0" tIns="0" bIns="0" anchor="t">
            <a:spAutoFit/>
          </a:bodyPr>
          <a:lstStyle/>
          <a:p>
            <a:r>
              <a:rPr sz="800" b="0">
                <a:solidFill>
                  <a:srgbClr val="94A3B8"/>
                </a:solidFill>
                <a:latin typeface="Consolas"/>
              </a:rPr>
              <a:t>E21 · Agents IA &amp; analyse de risques</a:t>
            </a:r>
          </a:p>
        </p:txBody>
      </p:sp>
      <p:sp>
        <p:nvSpPr>
          <p:cNvPr id="17" name="TextBox 16"/>
          <p:cNvSpPr txBox="1"/>
          <p:nvPr/>
        </p:nvSpPr>
        <p:spPr>
          <a:xfrm>
            <a:off x="8321040" y="4800600"/>
            <a:ext cx="365760" cy="182880"/>
          </a:xfrm>
          <a:prstGeom prst="rect">
            <a:avLst/>
          </a:prstGeom>
          <a:noFill/>
        </p:spPr>
        <p:txBody>
          <a:bodyPr wrap="square" lIns="0" rIns="0" tIns="0" bIns="0" anchor="t">
            <a:spAutoFit/>
          </a:bodyPr>
          <a:lstStyle/>
          <a:p>
            <a:pPr algn="r"/>
            <a:r>
              <a:rPr sz="800" b="0">
                <a:solidFill>
                  <a:srgbClr val="94A3B8"/>
                </a:solidFill>
                <a:latin typeface="Consolas"/>
              </a:rPr>
              <a:t>23</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292608"/>
            <a:ext cx="8229600" cy="228600"/>
          </a:xfrm>
          <a:prstGeom prst="rect">
            <a:avLst/>
          </a:prstGeom>
          <a:noFill/>
        </p:spPr>
        <p:txBody>
          <a:bodyPr wrap="square" lIns="0" rIns="0" tIns="0" bIns="0" anchor="t">
            <a:spAutoFit/>
          </a:bodyPr>
          <a:lstStyle/>
          <a:p>
            <a:r>
              <a:rPr sz="1000" b="0">
                <a:solidFill>
                  <a:srgbClr val="0D9488"/>
                </a:solidFill>
                <a:latin typeface="Consolas"/>
              </a:rPr>
              <a:t>V2 · RÉSULTATS</a:t>
            </a:r>
          </a:p>
        </p:txBody>
      </p:sp>
      <p:sp>
        <p:nvSpPr>
          <p:cNvPr id="3" name="TextBox 2"/>
          <p:cNvSpPr txBox="1"/>
          <p:nvPr/>
        </p:nvSpPr>
        <p:spPr>
          <a:xfrm>
            <a:off x="457200" y="502920"/>
            <a:ext cx="8229600" cy="548640"/>
          </a:xfrm>
          <a:prstGeom prst="rect">
            <a:avLst/>
          </a:prstGeom>
          <a:noFill/>
        </p:spPr>
        <p:txBody>
          <a:bodyPr wrap="square" lIns="0" rIns="0" tIns="0" bIns="0" anchor="t">
            <a:spAutoFit/>
          </a:bodyPr>
          <a:lstStyle/>
          <a:p>
            <a:r>
              <a:rPr sz="2400" b="0">
                <a:solidFill>
                  <a:srgbClr val="0F172A"/>
                </a:solidFill>
                <a:latin typeface="Segoe UI Semibold"/>
              </a:rPr>
              <a:t>Résultats mesurés sur deux projets</a:t>
            </a:r>
          </a:p>
        </p:txBody>
      </p:sp>
      <p:sp>
        <p:nvSpPr>
          <p:cNvPr id="4" name="Rectangle 3"/>
          <p:cNvSpPr/>
          <p:nvPr/>
        </p:nvSpPr>
        <p:spPr>
          <a:xfrm>
            <a:off x="457200" y="1280160"/>
            <a:ext cx="2011680" cy="566928"/>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280160"/>
            <a:ext cx="1828800" cy="566928"/>
          </a:xfrm>
          <a:prstGeom prst="rect">
            <a:avLst/>
          </a:prstGeom>
          <a:noFill/>
        </p:spPr>
        <p:txBody>
          <a:bodyPr wrap="square" lIns="0" rIns="0" tIns="0" bIns="0" anchor="ctr">
            <a:spAutoFit/>
          </a:bodyPr>
          <a:lstStyle/>
          <a:p>
            <a:r>
              <a:rPr sz="1050" b="0">
                <a:solidFill>
                  <a:srgbClr val="FFFFFF"/>
                </a:solidFill>
                <a:latin typeface="Segoe UI Semibold"/>
              </a:rPr>
              <a:t>Projet</a:t>
            </a:r>
          </a:p>
        </p:txBody>
      </p:sp>
      <p:sp>
        <p:nvSpPr>
          <p:cNvPr id="6" name="Rectangle 5"/>
          <p:cNvSpPr/>
          <p:nvPr/>
        </p:nvSpPr>
        <p:spPr>
          <a:xfrm>
            <a:off x="2468880" y="1280160"/>
            <a:ext cx="1554480" cy="566928"/>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560320" y="1280160"/>
            <a:ext cx="1371600" cy="566928"/>
          </a:xfrm>
          <a:prstGeom prst="rect">
            <a:avLst/>
          </a:prstGeom>
          <a:noFill/>
        </p:spPr>
        <p:txBody>
          <a:bodyPr wrap="square" lIns="0" rIns="0" tIns="0" bIns="0" anchor="ctr">
            <a:spAutoFit/>
          </a:bodyPr>
          <a:lstStyle/>
          <a:p>
            <a:r>
              <a:rPr sz="1050" b="0">
                <a:solidFill>
                  <a:srgbClr val="FFFFFF"/>
                </a:solidFill>
                <a:latin typeface="Segoe UI Semibold"/>
              </a:rPr>
              <a:t>Documents</a:t>
            </a:r>
          </a:p>
        </p:txBody>
      </p:sp>
      <p:sp>
        <p:nvSpPr>
          <p:cNvPr id="8" name="Rectangle 7"/>
          <p:cNvSpPr/>
          <p:nvPr/>
        </p:nvSpPr>
        <p:spPr>
          <a:xfrm>
            <a:off x="4023360" y="1280160"/>
            <a:ext cx="822960" cy="566928"/>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114800" y="1280160"/>
            <a:ext cx="640080" cy="566928"/>
          </a:xfrm>
          <a:prstGeom prst="rect">
            <a:avLst/>
          </a:prstGeom>
          <a:noFill/>
        </p:spPr>
        <p:txBody>
          <a:bodyPr wrap="square" lIns="0" rIns="0" tIns="0" bIns="0" anchor="ctr">
            <a:spAutoFit/>
          </a:bodyPr>
          <a:lstStyle/>
          <a:p>
            <a:r>
              <a:rPr sz="1050" b="0">
                <a:solidFill>
                  <a:srgbClr val="FFFFFF"/>
                </a:solidFill>
                <a:latin typeface="Segoe UI Semibold"/>
              </a:rPr>
              <a:t>Actifs</a:t>
            </a:r>
          </a:p>
        </p:txBody>
      </p:sp>
      <p:sp>
        <p:nvSpPr>
          <p:cNvPr id="10" name="Rectangle 9"/>
          <p:cNvSpPr/>
          <p:nvPr/>
        </p:nvSpPr>
        <p:spPr>
          <a:xfrm>
            <a:off x="4846320" y="1280160"/>
            <a:ext cx="822960" cy="566928"/>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937760" y="1280160"/>
            <a:ext cx="640080" cy="566928"/>
          </a:xfrm>
          <a:prstGeom prst="rect">
            <a:avLst/>
          </a:prstGeom>
          <a:noFill/>
        </p:spPr>
        <p:txBody>
          <a:bodyPr wrap="square" lIns="0" rIns="0" tIns="0" bIns="0" anchor="ctr">
            <a:spAutoFit/>
          </a:bodyPr>
          <a:lstStyle/>
          <a:p>
            <a:r>
              <a:rPr sz="1050" b="0">
                <a:solidFill>
                  <a:srgbClr val="FFFFFF"/>
                </a:solidFill>
                <a:latin typeface="Segoe UI Semibold"/>
              </a:rPr>
              <a:t>Risques</a:t>
            </a:r>
          </a:p>
        </p:txBody>
      </p:sp>
      <p:sp>
        <p:nvSpPr>
          <p:cNvPr id="12" name="Rectangle 11"/>
          <p:cNvSpPr/>
          <p:nvPr/>
        </p:nvSpPr>
        <p:spPr>
          <a:xfrm>
            <a:off x="5669280" y="1280160"/>
            <a:ext cx="914400" cy="566928"/>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760720" y="1280160"/>
            <a:ext cx="731520" cy="566928"/>
          </a:xfrm>
          <a:prstGeom prst="rect">
            <a:avLst/>
          </a:prstGeom>
          <a:noFill/>
        </p:spPr>
        <p:txBody>
          <a:bodyPr wrap="square" lIns="0" rIns="0" tIns="0" bIns="0" anchor="ctr">
            <a:spAutoFit/>
          </a:bodyPr>
          <a:lstStyle/>
          <a:p>
            <a:r>
              <a:rPr sz="1050" b="0">
                <a:solidFill>
                  <a:srgbClr val="FFFFFF"/>
                </a:solidFill>
                <a:latin typeface="Segoe UI Semibold"/>
              </a:rPr>
              <a:t>Critique</a:t>
            </a:r>
          </a:p>
        </p:txBody>
      </p:sp>
      <p:sp>
        <p:nvSpPr>
          <p:cNvPr id="14" name="Rectangle 13"/>
          <p:cNvSpPr/>
          <p:nvPr/>
        </p:nvSpPr>
        <p:spPr>
          <a:xfrm>
            <a:off x="6583680" y="1280160"/>
            <a:ext cx="2103120" cy="566928"/>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675120" y="1280160"/>
            <a:ext cx="1920239" cy="566928"/>
          </a:xfrm>
          <a:prstGeom prst="rect">
            <a:avLst/>
          </a:prstGeom>
          <a:noFill/>
        </p:spPr>
        <p:txBody>
          <a:bodyPr wrap="square" lIns="0" rIns="0" tIns="0" bIns="0" anchor="ctr">
            <a:spAutoFit/>
          </a:bodyPr>
          <a:lstStyle/>
          <a:p>
            <a:r>
              <a:rPr sz="1050" b="0">
                <a:solidFill>
                  <a:srgbClr val="FFFFFF"/>
                </a:solidFill>
                <a:latin typeface="Segoe UI Semibold"/>
              </a:rPr>
              <a:t>Remarque</a:t>
            </a:r>
          </a:p>
        </p:txBody>
      </p:sp>
      <p:sp>
        <p:nvSpPr>
          <p:cNvPr id="16" name="Rectangle 15"/>
          <p:cNvSpPr/>
          <p:nvPr/>
        </p:nvSpPr>
        <p:spPr>
          <a:xfrm>
            <a:off x="457200" y="1847088"/>
            <a:ext cx="2011680" cy="56692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48640" y="1847088"/>
            <a:ext cx="1828800" cy="566928"/>
          </a:xfrm>
          <a:prstGeom prst="rect">
            <a:avLst/>
          </a:prstGeom>
          <a:noFill/>
        </p:spPr>
        <p:txBody>
          <a:bodyPr wrap="square" lIns="0" rIns="0" tIns="0" bIns="0" anchor="ctr">
            <a:spAutoFit/>
          </a:bodyPr>
          <a:lstStyle/>
          <a:p>
            <a:r>
              <a:rPr sz="1050" b="0">
                <a:solidFill>
                  <a:srgbClr val="0F172A"/>
                </a:solidFill>
                <a:latin typeface="Segoe UI Semibold"/>
              </a:rPr>
              <a:t>ShoPix (V1)</a:t>
            </a:r>
          </a:p>
        </p:txBody>
      </p:sp>
      <p:sp>
        <p:nvSpPr>
          <p:cNvPr id="18" name="Rectangle 17"/>
          <p:cNvSpPr/>
          <p:nvPr/>
        </p:nvSpPr>
        <p:spPr>
          <a:xfrm>
            <a:off x="2468880" y="1847088"/>
            <a:ext cx="1554480" cy="56692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560320" y="1847088"/>
            <a:ext cx="1371600" cy="566928"/>
          </a:xfrm>
          <a:prstGeom prst="rect">
            <a:avLst/>
          </a:prstGeom>
          <a:noFill/>
        </p:spPr>
        <p:txBody>
          <a:bodyPr wrap="square" lIns="0" rIns="0" tIns="0" bIns="0" anchor="ctr">
            <a:spAutoFit/>
          </a:bodyPr>
          <a:lstStyle/>
          <a:p>
            <a:r>
              <a:rPr sz="1050" b="0">
                <a:solidFill>
                  <a:srgbClr val="0F172A"/>
                </a:solidFill>
                <a:latin typeface="Segoe UI"/>
              </a:rPr>
              <a:t>description écrite</a:t>
            </a:r>
          </a:p>
        </p:txBody>
      </p:sp>
      <p:sp>
        <p:nvSpPr>
          <p:cNvPr id="20" name="Rectangle 19"/>
          <p:cNvSpPr/>
          <p:nvPr/>
        </p:nvSpPr>
        <p:spPr>
          <a:xfrm>
            <a:off x="4023360" y="1847088"/>
            <a:ext cx="822960" cy="56692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114800" y="1847088"/>
            <a:ext cx="640080" cy="566928"/>
          </a:xfrm>
          <a:prstGeom prst="rect">
            <a:avLst/>
          </a:prstGeom>
          <a:noFill/>
        </p:spPr>
        <p:txBody>
          <a:bodyPr wrap="square" lIns="0" rIns="0" tIns="0" bIns="0" anchor="ctr">
            <a:spAutoFit/>
          </a:bodyPr>
          <a:lstStyle/>
          <a:p>
            <a:r>
              <a:rPr sz="1050" b="0">
                <a:solidFill>
                  <a:srgbClr val="0F172A"/>
                </a:solidFill>
                <a:latin typeface="Segoe UI"/>
              </a:rPr>
              <a:t>16</a:t>
            </a:r>
          </a:p>
        </p:txBody>
      </p:sp>
      <p:sp>
        <p:nvSpPr>
          <p:cNvPr id="22" name="Rectangle 21"/>
          <p:cNvSpPr/>
          <p:nvPr/>
        </p:nvSpPr>
        <p:spPr>
          <a:xfrm>
            <a:off x="4846320" y="1847088"/>
            <a:ext cx="822960" cy="56692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937760" y="1847088"/>
            <a:ext cx="640080" cy="566928"/>
          </a:xfrm>
          <a:prstGeom prst="rect">
            <a:avLst/>
          </a:prstGeom>
          <a:noFill/>
        </p:spPr>
        <p:txBody>
          <a:bodyPr wrap="square" lIns="0" rIns="0" tIns="0" bIns="0" anchor="ctr">
            <a:spAutoFit/>
          </a:bodyPr>
          <a:lstStyle/>
          <a:p>
            <a:r>
              <a:rPr sz="1050" b="0">
                <a:solidFill>
                  <a:srgbClr val="0F172A"/>
                </a:solidFill>
                <a:latin typeface="Segoe UI"/>
              </a:rPr>
              <a:t>14</a:t>
            </a:r>
          </a:p>
        </p:txBody>
      </p:sp>
      <p:sp>
        <p:nvSpPr>
          <p:cNvPr id="24" name="Rectangle 23"/>
          <p:cNvSpPr/>
          <p:nvPr/>
        </p:nvSpPr>
        <p:spPr>
          <a:xfrm>
            <a:off x="5669280" y="1847088"/>
            <a:ext cx="914400" cy="56692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760720" y="1847088"/>
            <a:ext cx="731520" cy="566928"/>
          </a:xfrm>
          <a:prstGeom prst="rect">
            <a:avLst/>
          </a:prstGeom>
          <a:noFill/>
        </p:spPr>
        <p:txBody>
          <a:bodyPr wrap="square" lIns="0" rIns="0" tIns="0" bIns="0" anchor="ctr">
            <a:spAutoFit/>
          </a:bodyPr>
          <a:lstStyle/>
          <a:p>
            <a:r>
              <a:rPr sz="1050" b="0">
                <a:solidFill>
                  <a:srgbClr val="0F172A"/>
                </a:solidFill>
                <a:latin typeface="Segoe UI"/>
              </a:rPr>
              <a:t>2</a:t>
            </a:r>
          </a:p>
        </p:txBody>
      </p:sp>
      <p:sp>
        <p:nvSpPr>
          <p:cNvPr id="26" name="Rectangle 25"/>
          <p:cNvSpPr/>
          <p:nvPr/>
        </p:nvSpPr>
        <p:spPr>
          <a:xfrm>
            <a:off x="6583680" y="1847088"/>
            <a:ext cx="2103120" cy="56692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675120" y="1847088"/>
            <a:ext cx="1920239" cy="566928"/>
          </a:xfrm>
          <a:prstGeom prst="rect">
            <a:avLst/>
          </a:prstGeom>
          <a:noFill/>
        </p:spPr>
        <p:txBody>
          <a:bodyPr wrap="square" lIns="0" rIns="0" tIns="0" bIns="0" anchor="ctr">
            <a:spAutoFit/>
          </a:bodyPr>
          <a:lstStyle/>
          <a:p>
            <a:r>
              <a:rPr sz="1050" b="0">
                <a:solidFill>
                  <a:srgbClr val="0F172A"/>
                </a:solidFill>
                <a:latin typeface="Segoe UI"/>
              </a:rPr>
              <a:t>Validés par un humain</a:t>
            </a:r>
          </a:p>
        </p:txBody>
      </p:sp>
      <p:sp>
        <p:nvSpPr>
          <p:cNvPr id="28" name="Rectangle 27"/>
          <p:cNvSpPr/>
          <p:nvPr/>
        </p:nvSpPr>
        <p:spPr>
          <a:xfrm>
            <a:off x="457200" y="2414016"/>
            <a:ext cx="2011680" cy="566928"/>
          </a:xfrm>
          <a:prstGeom prst="rect">
            <a:avLst/>
          </a:prstGeom>
          <a:solidFill>
            <a:srgbClr val="F4F7FA"/>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48640" y="2414016"/>
            <a:ext cx="1828800" cy="566928"/>
          </a:xfrm>
          <a:prstGeom prst="rect">
            <a:avLst/>
          </a:prstGeom>
          <a:noFill/>
        </p:spPr>
        <p:txBody>
          <a:bodyPr wrap="square" lIns="0" rIns="0" tIns="0" bIns="0" anchor="ctr">
            <a:spAutoFit/>
          </a:bodyPr>
          <a:lstStyle/>
          <a:p>
            <a:r>
              <a:rPr sz="1050" b="0">
                <a:solidFill>
                  <a:srgbClr val="0F172A"/>
                </a:solidFill>
                <a:latin typeface="Segoe UI Semibold"/>
              </a:rPr>
              <a:t>Nordval Logistique</a:t>
            </a:r>
          </a:p>
        </p:txBody>
      </p:sp>
      <p:sp>
        <p:nvSpPr>
          <p:cNvPr id="30" name="Rectangle 29"/>
          <p:cNvSpPr/>
          <p:nvPr/>
        </p:nvSpPr>
        <p:spPr>
          <a:xfrm>
            <a:off x="2468880" y="2414016"/>
            <a:ext cx="1554480" cy="566928"/>
          </a:xfrm>
          <a:prstGeom prst="rect">
            <a:avLst/>
          </a:prstGeom>
          <a:solidFill>
            <a:srgbClr val="F4F7FA"/>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2560320" y="2414016"/>
            <a:ext cx="1371600" cy="566928"/>
          </a:xfrm>
          <a:prstGeom prst="rect">
            <a:avLst/>
          </a:prstGeom>
          <a:noFill/>
        </p:spPr>
        <p:txBody>
          <a:bodyPr wrap="square" lIns="0" rIns="0" tIns="0" bIns="0" anchor="ctr">
            <a:spAutoFit/>
          </a:bodyPr>
          <a:lstStyle/>
          <a:p>
            <a:r>
              <a:rPr sz="1050" b="0">
                <a:solidFill>
                  <a:srgbClr val="0F172A"/>
                </a:solidFill>
                <a:latin typeface="Segoe UI"/>
              </a:rPr>
              <a:t>22 (≈ 39 Ko)</a:t>
            </a:r>
          </a:p>
        </p:txBody>
      </p:sp>
      <p:sp>
        <p:nvSpPr>
          <p:cNvPr id="32" name="Rectangle 31"/>
          <p:cNvSpPr/>
          <p:nvPr/>
        </p:nvSpPr>
        <p:spPr>
          <a:xfrm>
            <a:off x="4023360" y="2414016"/>
            <a:ext cx="822960" cy="566928"/>
          </a:xfrm>
          <a:prstGeom prst="rect">
            <a:avLst/>
          </a:prstGeom>
          <a:solidFill>
            <a:srgbClr val="F4F7FA"/>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114800" y="2414016"/>
            <a:ext cx="640080" cy="566928"/>
          </a:xfrm>
          <a:prstGeom prst="rect">
            <a:avLst/>
          </a:prstGeom>
          <a:noFill/>
        </p:spPr>
        <p:txBody>
          <a:bodyPr wrap="square" lIns="0" rIns="0" tIns="0" bIns="0" anchor="ctr">
            <a:spAutoFit/>
          </a:bodyPr>
          <a:lstStyle/>
          <a:p>
            <a:r>
              <a:rPr sz="1050" b="0">
                <a:solidFill>
                  <a:srgbClr val="0F172A"/>
                </a:solidFill>
                <a:latin typeface="Segoe UI"/>
              </a:rPr>
              <a:t>38</a:t>
            </a:r>
          </a:p>
        </p:txBody>
      </p:sp>
      <p:sp>
        <p:nvSpPr>
          <p:cNvPr id="34" name="Rectangle 33"/>
          <p:cNvSpPr/>
          <p:nvPr/>
        </p:nvSpPr>
        <p:spPr>
          <a:xfrm>
            <a:off x="4846320" y="2414016"/>
            <a:ext cx="822960" cy="566928"/>
          </a:xfrm>
          <a:prstGeom prst="rect">
            <a:avLst/>
          </a:prstGeom>
          <a:solidFill>
            <a:srgbClr val="F4F7FA"/>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937760" y="2414016"/>
            <a:ext cx="640080" cy="566928"/>
          </a:xfrm>
          <a:prstGeom prst="rect">
            <a:avLst/>
          </a:prstGeom>
          <a:noFill/>
        </p:spPr>
        <p:txBody>
          <a:bodyPr wrap="square" lIns="0" rIns="0" tIns="0" bIns="0" anchor="ctr">
            <a:spAutoFit/>
          </a:bodyPr>
          <a:lstStyle/>
          <a:p>
            <a:r>
              <a:rPr sz="1050" b="0">
                <a:solidFill>
                  <a:srgbClr val="0F172A"/>
                </a:solidFill>
                <a:latin typeface="Segoe UI"/>
              </a:rPr>
              <a:t>151</a:t>
            </a:r>
          </a:p>
        </p:txBody>
      </p:sp>
      <p:sp>
        <p:nvSpPr>
          <p:cNvPr id="36" name="Rectangle 35"/>
          <p:cNvSpPr/>
          <p:nvPr/>
        </p:nvSpPr>
        <p:spPr>
          <a:xfrm>
            <a:off x="5669280" y="2414016"/>
            <a:ext cx="914400" cy="566928"/>
          </a:xfrm>
          <a:prstGeom prst="rect">
            <a:avLst/>
          </a:prstGeom>
          <a:solidFill>
            <a:srgbClr val="F4F7FA"/>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5760720" y="2414016"/>
            <a:ext cx="731520" cy="566928"/>
          </a:xfrm>
          <a:prstGeom prst="rect">
            <a:avLst/>
          </a:prstGeom>
          <a:noFill/>
        </p:spPr>
        <p:txBody>
          <a:bodyPr wrap="square" lIns="0" rIns="0" tIns="0" bIns="0" anchor="ctr">
            <a:spAutoFit/>
          </a:bodyPr>
          <a:lstStyle/>
          <a:p>
            <a:r>
              <a:rPr sz="1050" b="0">
                <a:solidFill>
                  <a:srgbClr val="0F172A"/>
                </a:solidFill>
                <a:latin typeface="Segoe UI"/>
              </a:rPr>
              <a:t>48 %</a:t>
            </a:r>
          </a:p>
        </p:txBody>
      </p:sp>
      <p:sp>
        <p:nvSpPr>
          <p:cNvPr id="38" name="Rectangle 37"/>
          <p:cNvSpPr/>
          <p:nvPr/>
        </p:nvSpPr>
        <p:spPr>
          <a:xfrm>
            <a:off x="6583680" y="2414016"/>
            <a:ext cx="2103120" cy="566928"/>
          </a:xfrm>
          <a:prstGeom prst="rect">
            <a:avLst/>
          </a:prstGeom>
          <a:solidFill>
            <a:srgbClr val="F4F7FA"/>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675120" y="2414016"/>
            <a:ext cx="1920239" cy="566928"/>
          </a:xfrm>
          <a:prstGeom prst="rect">
            <a:avLst/>
          </a:prstGeom>
          <a:noFill/>
        </p:spPr>
        <p:txBody>
          <a:bodyPr wrap="square" lIns="0" rIns="0" tIns="0" bIns="0" anchor="ctr">
            <a:spAutoFit/>
          </a:bodyPr>
          <a:lstStyle/>
          <a:p>
            <a:r>
              <a:rPr sz="1050" b="0">
                <a:solidFill>
                  <a:srgbClr val="0F172A"/>
                </a:solidFill>
                <a:latin typeface="Segoe UI"/>
              </a:rPr>
              <a:t>≈ 3 h de calcul local</a:t>
            </a:r>
          </a:p>
        </p:txBody>
      </p:sp>
      <p:sp>
        <p:nvSpPr>
          <p:cNvPr id="40" name="Rectangle 39"/>
          <p:cNvSpPr/>
          <p:nvPr/>
        </p:nvSpPr>
        <p:spPr>
          <a:xfrm>
            <a:off x="457200" y="2980944"/>
            <a:ext cx="2011680" cy="56692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548640" y="2980944"/>
            <a:ext cx="1828800" cy="566928"/>
          </a:xfrm>
          <a:prstGeom prst="rect">
            <a:avLst/>
          </a:prstGeom>
          <a:noFill/>
        </p:spPr>
        <p:txBody>
          <a:bodyPr wrap="square" lIns="0" rIns="0" tIns="0" bIns="0" anchor="ctr">
            <a:spAutoFit/>
          </a:bodyPr>
          <a:lstStyle/>
          <a:p>
            <a:r>
              <a:rPr sz="1050" b="0">
                <a:solidFill>
                  <a:srgbClr val="0F172A"/>
                </a:solidFill>
                <a:latin typeface="Segoe UI Semibold"/>
              </a:rPr>
              <a:t>SanteTech</a:t>
            </a:r>
          </a:p>
        </p:txBody>
      </p:sp>
      <p:sp>
        <p:nvSpPr>
          <p:cNvPr id="42" name="Rectangle 41"/>
          <p:cNvSpPr/>
          <p:nvPr/>
        </p:nvSpPr>
        <p:spPr>
          <a:xfrm>
            <a:off x="2468880" y="2980944"/>
            <a:ext cx="1554480" cy="56692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2560320" y="2980944"/>
            <a:ext cx="1371600" cy="566928"/>
          </a:xfrm>
          <a:prstGeom prst="rect">
            <a:avLst/>
          </a:prstGeom>
          <a:noFill/>
        </p:spPr>
        <p:txBody>
          <a:bodyPr wrap="square" lIns="0" rIns="0" tIns="0" bIns="0" anchor="ctr">
            <a:spAutoFit/>
          </a:bodyPr>
          <a:lstStyle/>
          <a:p>
            <a:r>
              <a:rPr sz="1050" b="0">
                <a:solidFill>
                  <a:srgbClr val="0F172A"/>
                </a:solidFill>
                <a:latin typeface="Segoe UI"/>
              </a:rPr>
              <a:t>3 (≈ 33 Ko)</a:t>
            </a:r>
          </a:p>
        </p:txBody>
      </p:sp>
      <p:sp>
        <p:nvSpPr>
          <p:cNvPr id="44" name="Rectangle 43"/>
          <p:cNvSpPr/>
          <p:nvPr/>
        </p:nvSpPr>
        <p:spPr>
          <a:xfrm>
            <a:off x="4023360" y="2980944"/>
            <a:ext cx="822960" cy="56692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4114800" y="2980944"/>
            <a:ext cx="640080" cy="566928"/>
          </a:xfrm>
          <a:prstGeom prst="rect">
            <a:avLst/>
          </a:prstGeom>
          <a:noFill/>
        </p:spPr>
        <p:txBody>
          <a:bodyPr wrap="square" lIns="0" rIns="0" tIns="0" bIns="0" anchor="ctr">
            <a:spAutoFit/>
          </a:bodyPr>
          <a:lstStyle/>
          <a:p>
            <a:r>
              <a:rPr sz="1050" b="0">
                <a:solidFill>
                  <a:srgbClr val="0F172A"/>
                </a:solidFill>
                <a:latin typeface="Segoe UI"/>
              </a:rPr>
              <a:t>39</a:t>
            </a:r>
          </a:p>
        </p:txBody>
      </p:sp>
      <p:sp>
        <p:nvSpPr>
          <p:cNvPr id="46" name="Rectangle 45"/>
          <p:cNvSpPr/>
          <p:nvPr/>
        </p:nvSpPr>
        <p:spPr>
          <a:xfrm>
            <a:off x="4846320" y="2980944"/>
            <a:ext cx="822960" cy="56692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4937760" y="2980944"/>
            <a:ext cx="640080" cy="566928"/>
          </a:xfrm>
          <a:prstGeom prst="rect">
            <a:avLst/>
          </a:prstGeom>
          <a:noFill/>
        </p:spPr>
        <p:txBody>
          <a:bodyPr wrap="square" lIns="0" rIns="0" tIns="0" bIns="0" anchor="ctr">
            <a:spAutoFit/>
          </a:bodyPr>
          <a:lstStyle/>
          <a:p>
            <a:r>
              <a:rPr sz="1050" b="0">
                <a:solidFill>
                  <a:srgbClr val="0F172A"/>
                </a:solidFill>
                <a:latin typeface="Segoe UI"/>
              </a:rPr>
              <a:t>135</a:t>
            </a:r>
          </a:p>
        </p:txBody>
      </p:sp>
      <p:sp>
        <p:nvSpPr>
          <p:cNvPr id="48" name="Rectangle 47"/>
          <p:cNvSpPr/>
          <p:nvPr/>
        </p:nvSpPr>
        <p:spPr>
          <a:xfrm>
            <a:off x="5669280" y="2980944"/>
            <a:ext cx="914400" cy="56692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5760720" y="2980944"/>
            <a:ext cx="731520" cy="566928"/>
          </a:xfrm>
          <a:prstGeom prst="rect">
            <a:avLst/>
          </a:prstGeom>
          <a:noFill/>
        </p:spPr>
        <p:txBody>
          <a:bodyPr wrap="square" lIns="0" rIns="0" tIns="0" bIns="0" anchor="ctr">
            <a:spAutoFit/>
          </a:bodyPr>
          <a:lstStyle/>
          <a:p>
            <a:r>
              <a:rPr sz="1050" b="0">
                <a:solidFill>
                  <a:srgbClr val="0F172A"/>
                </a:solidFill>
                <a:latin typeface="Segoe UI"/>
              </a:rPr>
              <a:t>56 %</a:t>
            </a:r>
          </a:p>
        </p:txBody>
      </p:sp>
      <p:sp>
        <p:nvSpPr>
          <p:cNvPr id="50" name="Rectangle 49"/>
          <p:cNvSpPr/>
          <p:nvPr/>
        </p:nvSpPr>
        <p:spPr>
          <a:xfrm>
            <a:off x="6583680" y="2980944"/>
            <a:ext cx="2103120" cy="56692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6675120" y="2980944"/>
            <a:ext cx="1920239" cy="566928"/>
          </a:xfrm>
          <a:prstGeom prst="rect">
            <a:avLst/>
          </a:prstGeom>
          <a:noFill/>
        </p:spPr>
        <p:txBody>
          <a:bodyPr wrap="square" lIns="0" rIns="0" tIns="0" bIns="0" anchor="ctr">
            <a:spAutoFit/>
          </a:bodyPr>
          <a:lstStyle/>
          <a:p>
            <a:r>
              <a:rPr sz="1050" b="0">
                <a:solidFill>
                  <a:srgbClr val="0F172A"/>
                </a:solidFill>
                <a:latin typeface="Segoe UI"/>
              </a:rPr>
              <a:t>Mise à jour : 13 min</a:t>
            </a:r>
          </a:p>
        </p:txBody>
      </p:sp>
      <p:sp>
        <p:nvSpPr>
          <p:cNvPr id="52" name="TextBox 51"/>
          <p:cNvSpPr txBox="1"/>
          <p:nvPr/>
        </p:nvSpPr>
        <p:spPr>
          <a:xfrm>
            <a:off x="457200" y="3794760"/>
            <a:ext cx="8229600" cy="822960"/>
          </a:xfrm>
          <a:prstGeom prst="rect">
            <a:avLst/>
          </a:prstGeom>
          <a:noFill/>
        </p:spPr>
        <p:txBody>
          <a:bodyPr wrap="square" lIns="0" rIns="0" tIns="0" bIns="0" anchor="t">
            <a:spAutoFit/>
          </a:bodyPr>
          <a:lstStyle/>
          <a:p>
            <a:r>
              <a:rPr sz="1050" b="0">
                <a:solidFill>
                  <a:srgbClr val="475569"/>
                </a:solidFill>
                <a:latin typeface="Segoe UI"/>
              </a:rPr>
              <a:t>Données fictives. Les niveaux sont à relire par l'analyste : la matrice est appliquée à des probabilités et des impacts que le petit modèle juge souvent trop hauts. Sur SanteTech, aucun des 135 risques n'était décidé au moment de la production.</a:t>
            </a:r>
          </a:p>
        </p:txBody>
      </p:sp>
      <p:sp>
        <p:nvSpPr>
          <p:cNvPr id="53" name="TextBox 52"/>
          <p:cNvSpPr txBox="1"/>
          <p:nvPr/>
        </p:nvSpPr>
        <p:spPr>
          <a:xfrm>
            <a:off x="457200" y="4800600"/>
            <a:ext cx="3657600" cy="182880"/>
          </a:xfrm>
          <a:prstGeom prst="rect">
            <a:avLst/>
          </a:prstGeom>
          <a:noFill/>
        </p:spPr>
        <p:txBody>
          <a:bodyPr wrap="square" lIns="0" rIns="0" tIns="0" bIns="0" anchor="t">
            <a:spAutoFit/>
          </a:bodyPr>
          <a:lstStyle/>
          <a:p>
            <a:r>
              <a:rPr sz="800" b="0">
                <a:solidFill>
                  <a:srgbClr val="94A3B8"/>
                </a:solidFill>
                <a:latin typeface="Consolas"/>
              </a:rPr>
              <a:t>E21 · Agents IA &amp; analyse de risques</a:t>
            </a:r>
          </a:p>
        </p:txBody>
      </p:sp>
      <p:sp>
        <p:nvSpPr>
          <p:cNvPr id="54" name="TextBox 53"/>
          <p:cNvSpPr txBox="1"/>
          <p:nvPr/>
        </p:nvSpPr>
        <p:spPr>
          <a:xfrm>
            <a:off x="8321040" y="4800600"/>
            <a:ext cx="365760" cy="182880"/>
          </a:xfrm>
          <a:prstGeom prst="rect">
            <a:avLst/>
          </a:prstGeom>
          <a:noFill/>
        </p:spPr>
        <p:txBody>
          <a:bodyPr wrap="square" lIns="0" rIns="0" tIns="0" bIns="0" anchor="t">
            <a:spAutoFit/>
          </a:bodyPr>
          <a:lstStyle/>
          <a:p>
            <a:pPr algn="r"/>
            <a:r>
              <a:rPr sz="800" b="0">
                <a:solidFill>
                  <a:srgbClr val="94A3B8"/>
                </a:solidFill>
                <a:latin typeface="Consolas"/>
              </a:rPr>
              <a:t>24</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292608"/>
            <a:ext cx="8229600" cy="228600"/>
          </a:xfrm>
          <a:prstGeom prst="rect">
            <a:avLst/>
          </a:prstGeom>
          <a:noFill/>
        </p:spPr>
        <p:txBody>
          <a:bodyPr wrap="square" lIns="0" rIns="0" tIns="0" bIns="0" anchor="t">
            <a:spAutoFit/>
          </a:bodyPr>
          <a:lstStyle/>
          <a:p>
            <a:r>
              <a:rPr sz="1000" b="0">
                <a:solidFill>
                  <a:srgbClr val="0D9488"/>
                </a:solidFill>
                <a:latin typeface="Consolas"/>
              </a:rPr>
              <a:t>V2 · LIMITES</a:t>
            </a:r>
          </a:p>
        </p:txBody>
      </p:sp>
      <p:sp>
        <p:nvSpPr>
          <p:cNvPr id="3" name="TextBox 2"/>
          <p:cNvSpPr txBox="1"/>
          <p:nvPr/>
        </p:nvSpPr>
        <p:spPr>
          <a:xfrm>
            <a:off x="457200" y="502920"/>
            <a:ext cx="8229600" cy="548640"/>
          </a:xfrm>
          <a:prstGeom prst="rect">
            <a:avLst/>
          </a:prstGeom>
          <a:noFill/>
        </p:spPr>
        <p:txBody>
          <a:bodyPr wrap="square" lIns="0" rIns="0" tIns="0" bIns="0" anchor="t">
            <a:spAutoFit/>
          </a:bodyPr>
          <a:lstStyle/>
          <a:p>
            <a:r>
              <a:rPr sz="2400" b="0">
                <a:solidFill>
                  <a:srgbClr val="0F172A"/>
                </a:solidFill>
                <a:latin typeface="Segoe UI Semibold"/>
              </a:rPr>
              <a:t>Ce qui ne marche pas encore</a:t>
            </a:r>
          </a:p>
        </p:txBody>
      </p:sp>
      <p:sp>
        <p:nvSpPr>
          <p:cNvPr id="4" name="Rounded Rectangle 3"/>
          <p:cNvSpPr/>
          <p:nvPr/>
        </p:nvSpPr>
        <p:spPr>
          <a:xfrm>
            <a:off x="457200" y="1280160"/>
            <a:ext cx="2651760" cy="1417320"/>
          </a:xfrm>
          <a:prstGeom prst="roundRect">
            <a:avLst>
              <a:gd name="adj" fmla="val 6000"/>
            </a:avLst>
          </a:prstGeom>
          <a:solidFill>
            <a:srgbClr val="FDECE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444751"/>
            <a:ext cx="2286000" cy="320040"/>
          </a:xfrm>
          <a:prstGeom prst="rect">
            <a:avLst/>
          </a:prstGeom>
          <a:noFill/>
        </p:spPr>
        <p:txBody>
          <a:bodyPr wrap="square" lIns="0" rIns="0" tIns="0" bIns="0" anchor="t">
            <a:spAutoFit/>
          </a:bodyPr>
          <a:lstStyle/>
          <a:p>
            <a:r>
              <a:rPr sz="1300" b="0">
                <a:solidFill>
                  <a:srgbClr val="0F172A"/>
                </a:solidFill>
                <a:latin typeface="Segoe UI Semibold"/>
              </a:rPr>
              <a:t>Trop de « Critique »</a:t>
            </a:r>
          </a:p>
        </p:txBody>
      </p:sp>
      <p:sp>
        <p:nvSpPr>
          <p:cNvPr id="6" name="TextBox 5"/>
          <p:cNvSpPr txBox="1"/>
          <p:nvPr/>
        </p:nvSpPr>
        <p:spPr>
          <a:xfrm>
            <a:off x="640080" y="1874519"/>
            <a:ext cx="2286000" cy="777240"/>
          </a:xfrm>
          <a:prstGeom prst="rect">
            <a:avLst/>
          </a:prstGeom>
          <a:noFill/>
        </p:spPr>
        <p:txBody>
          <a:bodyPr wrap="square" lIns="0" rIns="0" tIns="0" bIns="0" anchor="t">
            <a:spAutoFit/>
          </a:bodyPr>
          <a:lstStyle/>
          <a:p>
            <a:r>
              <a:rPr sz="1050" b="0">
                <a:solidFill>
                  <a:srgbClr val="475569"/>
                </a:solidFill>
                <a:latin typeface="Segoe UI"/>
              </a:rPr>
              <a:t>48 % (Nordval), 56 % (SanteTech)</a:t>
            </a:r>
          </a:p>
        </p:txBody>
      </p:sp>
      <p:sp>
        <p:nvSpPr>
          <p:cNvPr id="7" name="Rounded Rectangle 6"/>
          <p:cNvSpPr/>
          <p:nvPr/>
        </p:nvSpPr>
        <p:spPr>
          <a:xfrm>
            <a:off x="3246120" y="1280160"/>
            <a:ext cx="2651760" cy="1417320"/>
          </a:xfrm>
          <a:prstGeom prst="roundRect">
            <a:avLst>
              <a:gd name="adj" fmla="val 6000"/>
            </a:avLst>
          </a:prstGeom>
          <a:solidFill>
            <a:srgbClr val="FDECE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429000" y="1444751"/>
            <a:ext cx="2286000" cy="320040"/>
          </a:xfrm>
          <a:prstGeom prst="rect">
            <a:avLst/>
          </a:prstGeom>
          <a:noFill/>
        </p:spPr>
        <p:txBody>
          <a:bodyPr wrap="square" lIns="0" rIns="0" tIns="0" bIns="0" anchor="t">
            <a:spAutoFit/>
          </a:bodyPr>
          <a:lstStyle/>
          <a:p>
            <a:r>
              <a:rPr sz="1300" b="0">
                <a:solidFill>
                  <a:srgbClr val="0F172A"/>
                </a:solidFill>
                <a:latin typeface="Segoe UI Semibold"/>
              </a:rPr>
              <a:t>Doublons d'actifs</a:t>
            </a:r>
          </a:p>
        </p:txBody>
      </p:sp>
      <p:sp>
        <p:nvSpPr>
          <p:cNvPr id="9" name="TextBox 8"/>
          <p:cNvSpPr txBox="1"/>
          <p:nvPr/>
        </p:nvSpPr>
        <p:spPr>
          <a:xfrm>
            <a:off x="3429000" y="1874519"/>
            <a:ext cx="2286000" cy="777240"/>
          </a:xfrm>
          <a:prstGeom prst="rect">
            <a:avLst/>
          </a:prstGeom>
          <a:noFill/>
        </p:spPr>
        <p:txBody>
          <a:bodyPr wrap="square" lIns="0" rIns="0" tIns="0" bIns="0" anchor="t">
            <a:spAutoFit/>
          </a:bodyPr>
          <a:lstStyle/>
          <a:p>
            <a:r>
              <a:rPr sz="1050" b="0">
                <a:solidFill>
                  <a:srgbClr val="475569"/>
                </a:solidFill>
                <a:latin typeface="Segoe UI"/>
              </a:rPr>
              <a:t>Le même système en trois lignes ; des rôles pris pour des actifs</a:t>
            </a:r>
          </a:p>
        </p:txBody>
      </p:sp>
      <p:sp>
        <p:nvSpPr>
          <p:cNvPr id="10" name="Rounded Rectangle 9"/>
          <p:cNvSpPr/>
          <p:nvPr/>
        </p:nvSpPr>
        <p:spPr>
          <a:xfrm>
            <a:off x="6035040" y="1280160"/>
            <a:ext cx="2651760" cy="1417320"/>
          </a:xfrm>
          <a:prstGeom prst="roundRect">
            <a:avLst>
              <a:gd name="adj" fmla="val 6000"/>
            </a:avLst>
          </a:prstGeom>
          <a:solidFill>
            <a:srgbClr val="FDECE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217920" y="1444751"/>
            <a:ext cx="2286000" cy="320040"/>
          </a:xfrm>
          <a:prstGeom prst="rect">
            <a:avLst/>
          </a:prstGeom>
          <a:noFill/>
        </p:spPr>
        <p:txBody>
          <a:bodyPr wrap="square" lIns="0" rIns="0" tIns="0" bIns="0" anchor="t">
            <a:spAutoFit/>
          </a:bodyPr>
          <a:lstStyle/>
          <a:p>
            <a:r>
              <a:rPr sz="1300" b="0">
                <a:solidFill>
                  <a:srgbClr val="0F172A"/>
                </a:solidFill>
                <a:latin typeface="Segoe UI Semibold"/>
              </a:rPr>
              <a:t>Citations inexistantes</a:t>
            </a:r>
          </a:p>
        </p:txBody>
      </p:sp>
      <p:sp>
        <p:nvSpPr>
          <p:cNvPr id="12" name="TextBox 11"/>
          <p:cNvSpPr txBox="1"/>
          <p:nvPr/>
        </p:nvSpPr>
        <p:spPr>
          <a:xfrm>
            <a:off x="6217920" y="1874519"/>
            <a:ext cx="2286000" cy="777240"/>
          </a:xfrm>
          <a:prstGeom prst="rect">
            <a:avLst/>
          </a:prstGeom>
          <a:noFill/>
        </p:spPr>
        <p:txBody>
          <a:bodyPr wrap="square" lIns="0" rIns="0" tIns="0" bIns="0" anchor="t">
            <a:spAutoFit/>
          </a:bodyPr>
          <a:lstStyle/>
          <a:p>
            <a:r>
              <a:rPr sz="1050" b="0">
                <a:solidFill>
                  <a:srgbClr val="475569"/>
                </a:solidFill>
                <a:latin typeface="Segoe UI"/>
              </a:rPr>
              <a:t>Signalées par le contrôle, pas toutes corrigées</a:t>
            </a:r>
          </a:p>
        </p:txBody>
      </p:sp>
      <p:sp>
        <p:nvSpPr>
          <p:cNvPr id="13" name="Rounded Rectangle 12"/>
          <p:cNvSpPr/>
          <p:nvPr/>
        </p:nvSpPr>
        <p:spPr>
          <a:xfrm>
            <a:off x="457200" y="2880360"/>
            <a:ext cx="2651760" cy="1417320"/>
          </a:xfrm>
          <a:prstGeom prst="roundRect">
            <a:avLst>
              <a:gd name="adj" fmla="val 6000"/>
            </a:avLst>
          </a:prstGeom>
          <a:solidFill>
            <a:srgbClr val="FEF3C7"/>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080" y="3044952"/>
            <a:ext cx="2286000" cy="320040"/>
          </a:xfrm>
          <a:prstGeom prst="rect">
            <a:avLst/>
          </a:prstGeom>
          <a:noFill/>
        </p:spPr>
        <p:txBody>
          <a:bodyPr wrap="square" lIns="0" rIns="0" tIns="0" bIns="0" anchor="t">
            <a:spAutoFit/>
          </a:bodyPr>
          <a:lstStyle/>
          <a:p>
            <a:r>
              <a:rPr sz="1300" b="0">
                <a:solidFill>
                  <a:srgbClr val="0F172A"/>
                </a:solidFill>
                <a:latin typeface="Segoe UI Semibold"/>
              </a:rPr>
              <a:t>Validation lourde</a:t>
            </a:r>
          </a:p>
        </p:txBody>
      </p:sp>
      <p:sp>
        <p:nvSpPr>
          <p:cNvPr id="15" name="TextBox 14"/>
          <p:cNvSpPr txBox="1"/>
          <p:nvPr/>
        </p:nvSpPr>
        <p:spPr>
          <a:xfrm>
            <a:off x="640080" y="3474720"/>
            <a:ext cx="2286000" cy="777240"/>
          </a:xfrm>
          <a:prstGeom prst="rect">
            <a:avLst/>
          </a:prstGeom>
          <a:noFill/>
        </p:spPr>
        <p:txBody>
          <a:bodyPr wrap="square" lIns="0" rIns="0" tIns="0" bIns="0" anchor="t">
            <a:spAutoFit/>
          </a:bodyPr>
          <a:lstStyle/>
          <a:p>
            <a:r>
              <a:rPr sz="1050" b="0">
                <a:solidFill>
                  <a:srgbClr val="475569"/>
                </a:solidFill>
                <a:latin typeface="Segoe UI"/>
              </a:rPr>
              <a:t>411 points à valider sur Nordval ; juges stricts</a:t>
            </a:r>
          </a:p>
        </p:txBody>
      </p:sp>
      <p:sp>
        <p:nvSpPr>
          <p:cNvPr id="16" name="Rounded Rectangle 15"/>
          <p:cNvSpPr/>
          <p:nvPr/>
        </p:nvSpPr>
        <p:spPr>
          <a:xfrm>
            <a:off x="3246120" y="2880360"/>
            <a:ext cx="2651760" cy="1417320"/>
          </a:xfrm>
          <a:prstGeom prst="roundRect">
            <a:avLst>
              <a:gd name="adj" fmla="val 6000"/>
            </a:avLst>
          </a:prstGeom>
          <a:solidFill>
            <a:srgbClr val="FEF3C7"/>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429000" y="3044952"/>
            <a:ext cx="2286000" cy="320040"/>
          </a:xfrm>
          <a:prstGeom prst="rect">
            <a:avLst/>
          </a:prstGeom>
          <a:noFill/>
        </p:spPr>
        <p:txBody>
          <a:bodyPr wrap="square" lIns="0" rIns="0" tIns="0" bIns="0" anchor="t">
            <a:spAutoFit/>
          </a:bodyPr>
          <a:lstStyle/>
          <a:p>
            <a:r>
              <a:rPr sz="1300" b="0">
                <a:solidFill>
                  <a:srgbClr val="0F172A"/>
                </a:solidFill>
                <a:latin typeface="Segoe UI Semibold"/>
              </a:rPr>
              <a:t>Contradictions bruyantes</a:t>
            </a:r>
          </a:p>
        </p:txBody>
      </p:sp>
      <p:sp>
        <p:nvSpPr>
          <p:cNvPr id="18" name="TextBox 17"/>
          <p:cNvSpPr txBox="1"/>
          <p:nvPr/>
        </p:nvSpPr>
        <p:spPr>
          <a:xfrm>
            <a:off x="3429000" y="3474720"/>
            <a:ext cx="2286000" cy="777240"/>
          </a:xfrm>
          <a:prstGeom prst="rect">
            <a:avLst/>
          </a:prstGeom>
          <a:noFill/>
        </p:spPr>
        <p:txBody>
          <a:bodyPr wrap="square" lIns="0" rIns="0" tIns="0" bIns="0" anchor="t">
            <a:spAutoFit/>
          </a:bodyPr>
          <a:lstStyle/>
          <a:p>
            <a:r>
              <a:rPr sz="1050" b="0">
                <a:solidFill>
                  <a:srgbClr val="475569"/>
                </a:solidFill>
                <a:latin typeface="Segoe UI"/>
              </a:rPr>
              <a:t>60 à 70 % de précision</a:t>
            </a:r>
          </a:p>
        </p:txBody>
      </p:sp>
      <p:sp>
        <p:nvSpPr>
          <p:cNvPr id="19" name="Rounded Rectangle 18"/>
          <p:cNvSpPr/>
          <p:nvPr/>
        </p:nvSpPr>
        <p:spPr>
          <a:xfrm>
            <a:off x="6035040" y="2880360"/>
            <a:ext cx="2651760" cy="1417320"/>
          </a:xfrm>
          <a:prstGeom prst="roundRect">
            <a:avLst>
              <a:gd name="adj" fmla="val 6000"/>
            </a:avLst>
          </a:prstGeom>
          <a:solidFill>
            <a:srgbClr val="FEF3C7"/>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17920" y="3044952"/>
            <a:ext cx="2286000" cy="320040"/>
          </a:xfrm>
          <a:prstGeom prst="rect">
            <a:avLst/>
          </a:prstGeom>
          <a:noFill/>
        </p:spPr>
        <p:txBody>
          <a:bodyPr wrap="square" lIns="0" rIns="0" tIns="0" bIns="0" anchor="t">
            <a:spAutoFit/>
          </a:bodyPr>
          <a:lstStyle/>
          <a:p>
            <a:r>
              <a:rPr sz="1300" b="0">
                <a:solidFill>
                  <a:srgbClr val="0F172A"/>
                </a:solidFill>
                <a:latin typeface="Segoe UI Semibold"/>
              </a:rPr>
              <a:t>Lenteur</a:t>
            </a:r>
          </a:p>
        </p:txBody>
      </p:sp>
      <p:sp>
        <p:nvSpPr>
          <p:cNvPr id="21" name="TextBox 20"/>
          <p:cNvSpPr txBox="1"/>
          <p:nvPr/>
        </p:nvSpPr>
        <p:spPr>
          <a:xfrm>
            <a:off x="6217920" y="3474720"/>
            <a:ext cx="2286000" cy="777240"/>
          </a:xfrm>
          <a:prstGeom prst="rect">
            <a:avLst/>
          </a:prstGeom>
          <a:noFill/>
        </p:spPr>
        <p:txBody>
          <a:bodyPr wrap="square" lIns="0" rIns="0" tIns="0" bIns="0" anchor="t">
            <a:spAutoFit/>
          </a:bodyPr>
          <a:lstStyle/>
          <a:p>
            <a:r>
              <a:rPr sz="1050" b="0">
                <a:solidFill>
                  <a:srgbClr val="475569"/>
                </a:solidFill>
                <a:latin typeface="Segoe UI"/>
              </a:rPr>
              <a:t>≈ 3 h pour un gros cas ; un seul modèle chargé à la fois</a:t>
            </a:r>
          </a:p>
        </p:txBody>
      </p:sp>
      <p:sp>
        <p:nvSpPr>
          <p:cNvPr id="22" name="TextBox 21"/>
          <p:cNvSpPr txBox="1"/>
          <p:nvPr/>
        </p:nvSpPr>
        <p:spPr>
          <a:xfrm>
            <a:off x="457200" y="4800600"/>
            <a:ext cx="3657600" cy="182880"/>
          </a:xfrm>
          <a:prstGeom prst="rect">
            <a:avLst/>
          </a:prstGeom>
          <a:noFill/>
        </p:spPr>
        <p:txBody>
          <a:bodyPr wrap="square" lIns="0" rIns="0" tIns="0" bIns="0" anchor="t">
            <a:spAutoFit/>
          </a:bodyPr>
          <a:lstStyle/>
          <a:p>
            <a:r>
              <a:rPr sz="800" b="0">
                <a:solidFill>
                  <a:srgbClr val="94A3B8"/>
                </a:solidFill>
                <a:latin typeface="Consolas"/>
              </a:rPr>
              <a:t>E21 · Agents IA &amp; analyse de risques</a:t>
            </a:r>
          </a:p>
        </p:txBody>
      </p:sp>
      <p:sp>
        <p:nvSpPr>
          <p:cNvPr id="23" name="TextBox 22"/>
          <p:cNvSpPr txBox="1"/>
          <p:nvPr/>
        </p:nvSpPr>
        <p:spPr>
          <a:xfrm>
            <a:off x="8321040" y="4800600"/>
            <a:ext cx="365760" cy="182880"/>
          </a:xfrm>
          <a:prstGeom prst="rect">
            <a:avLst/>
          </a:prstGeom>
          <a:noFill/>
        </p:spPr>
        <p:txBody>
          <a:bodyPr wrap="square" lIns="0" rIns="0" tIns="0" bIns="0" anchor="t">
            <a:spAutoFit/>
          </a:bodyPr>
          <a:lstStyle/>
          <a:p>
            <a:pPr algn="r"/>
            <a:r>
              <a:rPr sz="800" b="0">
                <a:solidFill>
                  <a:srgbClr val="94A3B8"/>
                </a:solidFill>
                <a:latin typeface="Consolas"/>
              </a:rPr>
              <a:t>26</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292608"/>
            <a:ext cx="8229600" cy="228600"/>
          </a:xfrm>
          <a:prstGeom prst="rect">
            <a:avLst/>
          </a:prstGeom>
          <a:noFill/>
        </p:spPr>
        <p:txBody>
          <a:bodyPr wrap="square" lIns="0" rIns="0" tIns="0" bIns="0" anchor="t">
            <a:spAutoFit/>
          </a:bodyPr>
          <a:lstStyle/>
          <a:p>
            <a:r>
              <a:rPr sz="1000" b="0">
                <a:solidFill>
                  <a:srgbClr val="0D9488"/>
                </a:solidFill>
                <a:latin typeface="Consolas"/>
              </a:rPr>
              <a:t>V2 · SÉCURITÉ DU SYSTÈME</a:t>
            </a:r>
          </a:p>
        </p:txBody>
      </p:sp>
      <p:sp>
        <p:nvSpPr>
          <p:cNvPr id="3" name="TextBox 2"/>
          <p:cNvSpPr txBox="1"/>
          <p:nvPr/>
        </p:nvSpPr>
        <p:spPr>
          <a:xfrm>
            <a:off x="457200" y="502920"/>
            <a:ext cx="8229600" cy="548640"/>
          </a:xfrm>
          <a:prstGeom prst="rect">
            <a:avLst/>
          </a:prstGeom>
          <a:noFill/>
        </p:spPr>
        <p:txBody>
          <a:bodyPr wrap="square" lIns="0" rIns="0" tIns="0" bIns="0" anchor="t">
            <a:spAutoFit/>
          </a:bodyPr>
          <a:lstStyle/>
          <a:p>
            <a:r>
              <a:rPr sz="2400" b="0">
                <a:solidFill>
                  <a:srgbClr val="0F172A"/>
                </a:solidFill>
                <a:latin typeface="Segoe UI Semibold"/>
              </a:rPr>
              <a:t>Les risques de notre propre système</a:t>
            </a:r>
          </a:p>
        </p:txBody>
      </p:sp>
      <p:sp>
        <p:nvSpPr>
          <p:cNvPr id="4" name="Rounded Rectangle 3"/>
          <p:cNvSpPr/>
          <p:nvPr/>
        </p:nvSpPr>
        <p:spPr>
          <a:xfrm>
            <a:off x="457200" y="1234440"/>
            <a:ext cx="3977639" cy="2880360"/>
          </a:xfrm>
          <a:prstGeom prst="roundRect">
            <a:avLst>
              <a:gd name="adj" fmla="val 6000"/>
            </a:avLst>
          </a:prstGeom>
          <a:solidFill>
            <a:srgbClr val="EAF7EE"/>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1371600"/>
            <a:ext cx="3474720" cy="228600"/>
          </a:xfrm>
          <a:prstGeom prst="rect">
            <a:avLst/>
          </a:prstGeom>
          <a:noFill/>
        </p:spPr>
        <p:txBody>
          <a:bodyPr wrap="square" lIns="0" rIns="0" tIns="0" bIns="0" anchor="t">
            <a:spAutoFit/>
          </a:bodyPr>
          <a:lstStyle/>
          <a:p>
            <a:r>
              <a:rPr sz="1000" b="1">
                <a:solidFill>
                  <a:srgbClr val="16A34A"/>
                </a:solidFill>
                <a:latin typeface="Consolas"/>
              </a:rPr>
              <a:t>TRAITÉ</a:t>
            </a:r>
          </a:p>
        </p:txBody>
      </p:sp>
      <p:sp>
        <p:nvSpPr>
          <p:cNvPr id="6" name="Rectangle 5"/>
          <p:cNvSpPr/>
          <p:nvPr/>
        </p:nvSpPr>
        <p:spPr>
          <a:xfrm>
            <a:off x="685800" y="1801368"/>
            <a:ext cx="82296" cy="82296"/>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86968" y="1737360"/>
            <a:ext cx="3410712" cy="457200"/>
          </a:xfrm>
          <a:prstGeom prst="rect">
            <a:avLst/>
          </a:prstGeom>
          <a:noFill/>
        </p:spPr>
        <p:txBody>
          <a:bodyPr wrap="square" lIns="0" rIns="0" tIns="0" bIns="0" anchor="t">
            <a:spAutoFit/>
          </a:bodyPr>
          <a:lstStyle/>
          <a:p>
            <a:r>
              <a:rPr sz="1050" b="0">
                <a:solidFill>
                  <a:srgbClr val="0F172A"/>
                </a:solidFill>
                <a:latin typeface="Segoe UI"/>
              </a:rPr>
              <a:t>Hallucination : preuve vérifiée, sources retirées</a:t>
            </a:r>
          </a:p>
        </p:txBody>
      </p:sp>
      <p:sp>
        <p:nvSpPr>
          <p:cNvPr id="8" name="Rectangle 7"/>
          <p:cNvSpPr/>
          <p:nvPr/>
        </p:nvSpPr>
        <p:spPr>
          <a:xfrm>
            <a:off x="685800" y="2258568"/>
            <a:ext cx="82296" cy="82296"/>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86968" y="2194560"/>
            <a:ext cx="3410712" cy="457200"/>
          </a:xfrm>
          <a:prstGeom prst="rect">
            <a:avLst/>
          </a:prstGeom>
          <a:noFill/>
        </p:spPr>
        <p:txBody>
          <a:bodyPr wrap="square" lIns="0" rIns="0" tIns="0" bIns="0" anchor="t">
            <a:spAutoFit/>
          </a:bodyPr>
          <a:lstStyle/>
          <a:p>
            <a:r>
              <a:rPr sz="1050" b="0">
                <a:solidFill>
                  <a:srgbClr val="0F172A"/>
                </a:solidFill>
                <a:latin typeface="Segoe UI"/>
              </a:rPr>
              <a:t>Injection : tout intrant est une donnée</a:t>
            </a:r>
          </a:p>
        </p:txBody>
      </p:sp>
      <p:sp>
        <p:nvSpPr>
          <p:cNvPr id="10" name="Rectangle 9"/>
          <p:cNvSpPr/>
          <p:nvPr/>
        </p:nvSpPr>
        <p:spPr>
          <a:xfrm>
            <a:off x="685800" y="2715768"/>
            <a:ext cx="82296" cy="82296"/>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86968" y="2651760"/>
            <a:ext cx="3410712" cy="457200"/>
          </a:xfrm>
          <a:prstGeom prst="rect">
            <a:avLst/>
          </a:prstGeom>
          <a:noFill/>
        </p:spPr>
        <p:txBody>
          <a:bodyPr wrap="square" lIns="0" rIns="0" tIns="0" bIns="0" anchor="t">
            <a:spAutoFit/>
          </a:bodyPr>
          <a:lstStyle/>
          <a:p>
            <a:r>
              <a:rPr sz="1050" b="0">
                <a:solidFill>
                  <a:srgbClr val="0F172A"/>
                </a:solidFill>
                <a:latin typeface="Segoe UI"/>
              </a:rPr>
              <a:t>Fuite : chaîne 100 % locale</a:t>
            </a:r>
          </a:p>
        </p:txBody>
      </p:sp>
      <p:sp>
        <p:nvSpPr>
          <p:cNvPr id="12" name="Rectangle 11"/>
          <p:cNvSpPr/>
          <p:nvPr/>
        </p:nvSpPr>
        <p:spPr>
          <a:xfrm>
            <a:off x="685800" y="3172968"/>
            <a:ext cx="82296" cy="82296"/>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86968" y="3108960"/>
            <a:ext cx="3410712" cy="457200"/>
          </a:xfrm>
          <a:prstGeom prst="rect">
            <a:avLst/>
          </a:prstGeom>
          <a:noFill/>
        </p:spPr>
        <p:txBody>
          <a:bodyPr wrap="square" lIns="0" rIns="0" tIns="0" bIns="0" anchor="t">
            <a:spAutoFit/>
          </a:bodyPr>
          <a:lstStyle/>
          <a:p>
            <a:r>
              <a:rPr sz="1050" b="0">
                <a:solidFill>
                  <a:srgbClr val="0F172A"/>
                </a:solidFill>
                <a:latin typeface="Segoe UI"/>
              </a:rPr>
              <a:t>Excès d'autonomie : le code seul écrit les livrables</a:t>
            </a:r>
          </a:p>
        </p:txBody>
      </p:sp>
      <p:sp>
        <p:nvSpPr>
          <p:cNvPr id="14" name="Rectangle 13"/>
          <p:cNvSpPr/>
          <p:nvPr/>
        </p:nvSpPr>
        <p:spPr>
          <a:xfrm>
            <a:off x="685800" y="3630168"/>
            <a:ext cx="82296" cy="82296"/>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86968" y="3566160"/>
            <a:ext cx="3410712" cy="457200"/>
          </a:xfrm>
          <a:prstGeom prst="rect">
            <a:avLst/>
          </a:prstGeom>
          <a:noFill/>
        </p:spPr>
        <p:txBody>
          <a:bodyPr wrap="square" lIns="0" rIns="0" tIns="0" bIns="0" anchor="t">
            <a:spAutoFit/>
          </a:bodyPr>
          <a:lstStyle/>
          <a:p>
            <a:r>
              <a:rPr sz="1050" b="0">
                <a:solidFill>
                  <a:srgbClr val="0F172A"/>
                </a:solidFill>
                <a:latin typeface="Segoe UI"/>
              </a:rPr>
              <a:t>Dépendance : modèles remplaçables</a:t>
            </a:r>
          </a:p>
        </p:txBody>
      </p:sp>
      <p:sp>
        <p:nvSpPr>
          <p:cNvPr id="16" name="Rounded Rectangle 15"/>
          <p:cNvSpPr/>
          <p:nvPr/>
        </p:nvSpPr>
        <p:spPr>
          <a:xfrm>
            <a:off x="4709160" y="1234440"/>
            <a:ext cx="3977639" cy="2880360"/>
          </a:xfrm>
          <a:prstGeom prst="roundRect">
            <a:avLst>
              <a:gd name="adj" fmla="val 6000"/>
            </a:avLst>
          </a:prstGeom>
          <a:solidFill>
            <a:srgbClr val="FDECE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937760" y="1371600"/>
            <a:ext cx="3474720" cy="228600"/>
          </a:xfrm>
          <a:prstGeom prst="rect">
            <a:avLst/>
          </a:prstGeom>
          <a:noFill/>
        </p:spPr>
        <p:txBody>
          <a:bodyPr wrap="square" lIns="0" rIns="0" tIns="0" bIns="0" anchor="t">
            <a:spAutoFit/>
          </a:bodyPr>
          <a:lstStyle/>
          <a:p>
            <a:r>
              <a:rPr sz="1000" b="1">
                <a:solidFill>
                  <a:srgbClr val="DC2626"/>
                </a:solidFill>
                <a:latin typeface="Consolas"/>
              </a:rPr>
              <a:t>NON CORRIGÉ · REPORTÉ</a:t>
            </a:r>
          </a:p>
        </p:txBody>
      </p:sp>
      <p:sp>
        <p:nvSpPr>
          <p:cNvPr id="18" name="Rectangle 17"/>
          <p:cNvSpPr/>
          <p:nvPr/>
        </p:nvSpPr>
        <p:spPr>
          <a:xfrm>
            <a:off x="4937760" y="1801368"/>
            <a:ext cx="82296" cy="82296"/>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138928" y="1737360"/>
            <a:ext cx="3410712" cy="457200"/>
          </a:xfrm>
          <a:prstGeom prst="rect">
            <a:avLst/>
          </a:prstGeom>
          <a:noFill/>
        </p:spPr>
        <p:txBody>
          <a:bodyPr wrap="square" lIns="0" rIns="0" tIns="0" bIns="0" anchor="t">
            <a:spAutoFit/>
          </a:bodyPr>
          <a:lstStyle/>
          <a:p>
            <a:r>
              <a:rPr sz="1050" b="0">
                <a:solidFill>
                  <a:srgbClr val="0F172A"/>
                </a:solidFill>
                <a:latin typeface="Segoe UI"/>
              </a:rPr>
              <a:t>Site sans authentification, port 8501 ouvert</a:t>
            </a:r>
          </a:p>
        </p:txBody>
      </p:sp>
      <p:sp>
        <p:nvSpPr>
          <p:cNvPr id="20" name="Rectangle 19"/>
          <p:cNvSpPr/>
          <p:nvPr/>
        </p:nvSpPr>
        <p:spPr>
          <a:xfrm>
            <a:off x="4937760" y="2258568"/>
            <a:ext cx="82296" cy="82296"/>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138928" y="2194560"/>
            <a:ext cx="3410712" cy="457200"/>
          </a:xfrm>
          <a:prstGeom prst="rect">
            <a:avLst/>
          </a:prstGeom>
          <a:noFill/>
        </p:spPr>
        <p:txBody>
          <a:bodyPr wrap="square" lIns="0" rIns="0" tIns="0" bIns="0" anchor="t">
            <a:spAutoFit/>
          </a:bodyPr>
          <a:lstStyle/>
          <a:p>
            <a:r>
              <a:rPr sz="1050" b="0">
                <a:solidFill>
                  <a:srgbClr val="0F172A"/>
                </a:solidFill>
                <a:latin typeface="Segoe UI"/>
              </a:rPr>
              <a:t>SSH root par mot de passe</a:t>
            </a:r>
          </a:p>
        </p:txBody>
      </p:sp>
      <p:sp>
        <p:nvSpPr>
          <p:cNvPr id="22" name="Rectangle 21"/>
          <p:cNvSpPr/>
          <p:nvPr/>
        </p:nvSpPr>
        <p:spPr>
          <a:xfrm>
            <a:off x="4937760" y="2715768"/>
            <a:ext cx="82296" cy="82296"/>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138928" y="2651760"/>
            <a:ext cx="3410712" cy="457200"/>
          </a:xfrm>
          <a:prstGeom prst="rect">
            <a:avLst/>
          </a:prstGeom>
          <a:noFill/>
        </p:spPr>
        <p:txBody>
          <a:bodyPr wrap="square" lIns="0" rIns="0" tIns="0" bIns="0" anchor="t">
            <a:spAutoFit/>
          </a:bodyPr>
          <a:lstStyle/>
          <a:p>
            <a:r>
              <a:rPr sz="1050" b="0">
                <a:solidFill>
                  <a:srgbClr val="0F172A"/>
                </a:solidFill>
                <a:latin typeface="Segoe UI"/>
              </a:rPr>
              <a:t>Ollama exposé sur le réseau local</a:t>
            </a:r>
          </a:p>
        </p:txBody>
      </p:sp>
      <p:sp>
        <p:nvSpPr>
          <p:cNvPr id="24" name="Rectangle 23"/>
          <p:cNvSpPr/>
          <p:nvPr/>
        </p:nvSpPr>
        <p:spPr>
          <a:xfrm>
            <a:off x="4937760" y="3172968"/>
            <a:ext cx="82296" cy="82296"/>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138928" y="3108960"/>
            <a:ext cx="3410712" cy="457200"/>
          </a:xfrm>
          <a:prstGeom prst="rect">
            <a:avLst/>
          </a:prstGeom>
          <a:noFill/>
        </p:spPr>
        <p:txBody>
          <a:bodyPr wrap="square" lIns="0" rIns="0" tIns="0" bIns="0" anchor="t">
            <a:spAutoFit/>
          </a:bodyPr>
          <a:lstStyle/>
          <a:p>
            <a:r>
              <a:rPr sz="1050" b="0">
                <a:solidFill>
                  <a:srgbClr val="0F172A"/>
                </a:solidFill>
                <a:latin typeface="Segoe UI"/>
              </a:rPr>
              <a:t>Conteneur exécuté en root</a:t>
            </a:r>
          </a:p>
        </p:txBody>
      </p:sp>
      <p:sp>
        <p:nvSpPr>
          <p:cNvPr id="26" name="Rectangle 25"/>
          <p:cNvSpPr/>
          <p:nvPr/>
        </p:nvSpPr>
        <p:spPr>
          <a:xfrm>
            <a:off x="4937760" y="3630168"/>
            <a:ext cx="82296" cy="82296"/>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138928" y="3566160"/>
            <a:ext cx="3410712" cy="457200"/>
          </a:xfrm>
          <a:prstGeom prst="rect">
            <a:avLst/>
          </a:prstGeom>
          <a:noFill/>
        </p:spPr>
        <p:txBody>
          <a:bodyPr wrap="square" lIns="0" rIns="0" tIns="0" bIns="0" anchor="t">
            <a:spAutoFit/>
          </a:bodyPr>
          <a:lstStyle/>
          <a:p>
            <a:r>
              <a:rPr sz="1050" b="0">
                <a:solidFill>
                  <a:srgbClr val="0F172A"/>
                </a:solidFill>
                <a:latin typeface="Segoe UI"/>
              </a:rPr>
              <a:t>Shell de l'orchestrateur manuel ouvert</a:t>
            </a:r>
          </a:p>
        </p:txBody>
      </p:sp>
      <p:sp>
        <p:nvSpPr>
          <p:cNvPr id="28" name="Rounded Rectangle 27"/>
          <p:cNvSpPr/>
          <p:nvPr/>
        </p:nvSpPr>
        <p:spPr>
          <a:xfrm>
            <a:off x="457200" y="4251960"/>
            <a:ext cx="8229600" cy="457200"/>
          </a:xfrm>
          <a:prstGeom prst="roundRect">
            <a:avLst>
              <a:gd name="adj" fmla="val 6000"/>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85800" y="4251960"/>
            <a:ext cx="7772400" cy="457200"/>
          </a:xfrm>
          <a:prstGeom prst="rect">
            <a:avLst/>
          </a:prstGeom>
          <a:noFill/>
        </p:spPr>
        <p:txBody>
          <a:bodyPr wrap="square" lIns="0" rIns="0" tIns="0" bIns="0" anchor="ctr">
            <a:spAutoFit/>
          </a:bodyPr>
          <a:lstStyle/>
          <a:p>
            <a:r>
              <a:rPr sz="1100" b="0">
                <a:solidFill>
                  <a:srgbClr val="2DD4BF"/>
                </a:solidFill>
                <a:latin typeface="Segoe UI Semibold"/>
              </a:rPr>
              <a:t>Aucune donnée réelle n'est traitée : le système n'est pas présenté comme prêt pour un usage réel.</a:t>
            </a:r>
          </a:p>
        </p:txBody>
      </p:sp>
      <p:sp>
        <p:nvSpPr>
          <p:cNvPr id="30" name="TextBox 29"/>
          <p:cNvSpPr txBox="1"/>
          <p:nvPr/>
        </p:nvSpPr>
        <p:spPr>
          <a:xfrm>
            <a:off x="457200" y="4800600"/>
            <a:ext cx="3657600" cy="182880"/>
          </a:xfrm>
          <a:prstGeom prst="rect">
            <a:avLst/>
          </a:prstGeom>
          <a:noFill/>
        </p:spPr>
        <p:txBody>
          <a:bodyPr wrap="square" lIns="0" rIns="0" tIns="0" bIns="0" anchor="t">
            <a:spAutoFit/>
          </a:bodyPr>
          <a:lstStyle/>
          <a:p>
            <a:r>
              <a:rPr sz="800" b="0">
                <a:solidFill>
                  <a:srgbClr val="94A3B8"/>
                </a:solidFill>
                <a:latin typeface="Consolas"/>
              </a:rPr>
              <a:t>E21 · Agents IA &amp; analyse de risques</a:t>
            </a:r>
          </a:p>
        </p:txBody>
      </p:sp>
      <p:sp>
        <p:nvSpPr>
          <p:cNvPr id="31" name="TextBox 30"/>
          <p:cNvSpPr txBox="1"/>
          <p:nvPr/>
        </p:nvSpPr>
        <p:spPr>
          <a:xfrm>
            <a:off x="8321040" y="4800600"/>
            <a:ext cx="365760" cy="182880"/>
          </a:xfrm>
          <a:prstGeom prst="rect">
            <a:avLst/>
          </a:prstGeom>
          <a:noFill/>
        </p:spPr>
        <p:txBody>
          <a:bodyPr wrap="square" lIns="0" rIns="0" tIns="0" bIns="0" anchor="t">
            <a:spAutoFit/>
          </a:bodyPr>
          <a:lstStyle/>
          <a:p>
            <a:pPr algn="r"/>
            <a:r>
              <a:rPr sz="800" b="0">
                <a:solidFill>
                  <a:srgbClr val="94A3B8"/>
                </a:solidFill>
                <a:latin typeface="Consolas"/>
              </a:rPr>
              <a:t>27</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292608"/>
            <a:ext cx="8229600" cy="228600"/>
          </a:xfrm>
          <a:prstGeom prst="rect">
            <a:avLst/>
          </a:prstGeom>
          <a:noFill/>
        </p:spPr>
        <p:txBody>
          <a:bodyPr wrap="square" lIns="0" rIns="0" tIns="0" bIns="0" anchor="t">
            <a:spAutoFit/>
          </a:bodyPr>
          <a:lstStyle/>
          <a:p>
            <a:r>
              <a:rPr sz="1000" b="0">
                <a:solidFill>
                  <a:srgbClr val="0D9488"/>
                </a:solidFill>
                <a:latin typeface="Consolas"/>
              </a:rPr>
              <a:t>V2 · DÉMONSTRATION</a:t>
            </a:r>
          </a:p>
        </p:txBody>
      </p:sp>
      <p:sp>
        <p:nvSpPr>
          <p:cNvPr id="3" name="TextBox 2"/>
          <p:cNvSpPr txBox="1"/>
          <p:nvPr/>
        </p:nvSpPr>
        <p:spPr>
          <a:xfrm>
            <a:off x="457200" y="502920"/>
            <a:ext cx="8229600" cy="548640"/>
          </a:xfrm>
          <a:prstGeom prst="rect">
            <a:avLst/>
          </a:prstGeom>
          <a:noFill/>
        </p:spPr>
        <p:txBody>
          <a:bodyPr wrap="square" lIns="0" rIns="0" tIns="0" bIns="0" anchor="t">
            <a:spAutoFit/>
          </a:bodyPr>
          <a:lstStyle/>
          <a:p>
            <a:r>
              <a:rPr sz="2400" b="0">
                <a:solidFill>
                  <a:srgbClr val="0F172A"/>
                </a:solidFill>
                <a:latin typeface="Segoe UI Semibold"/>
              </a:rPr>
              <a:t>Huit minutes, rien de long en direct</a:t>
            </a:r>
          </a:p>
        </p:txBody>
      </p:sp>
      <p:sp>
        <p:nvSpPr>
          <p:cNvPr id="4" name="Rectangle 3"/>
          <p:cNvSpPr/>
          <p:nvPr/>
        </p:nvSpPr>
        <p:spPr>
          <a:xfrm>
            <a:off x="457200" y="1234440"/>
            <a:ext cx="914400" cy="50292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234440"/>
            <a:ext cx="731520" cy="502920"/>
          </a:xfrm>
          <a:prstGeom prst="rect">
            <a:avLst/>
          </a:prstGeom>
          <a:noFill/>
        </p:spPr>
        <p:txBody>
          <a:bodyPr wrap="square" lIns="0" rIns="0" tIns="0" bIns="0" anchor="ctr">
            <a:spAutoFit/>
          </a:bodyPr>
          <a:lstStyle/>
          <a:p>
            <a:r>
              <a:rPr sz="1050" b="0">
                <a:solidFill>
                  <a:srgbClr val="FFFFFF"/>
                </a:solidFill>
                <a:latin typeface="Segoe UI Semibold"/>
              </a:rPr>
              <a:t>Min</a:t>
            </a:r>
          </a:p>
        </p:txBody>
      </p:sp>
      <p:sp>
        <p:nvSpPr>
          <p:cNvPr id="6" name="Rectangle 5"/>
          <p:cNvSpPr/>
          <p:nvPr/>
        </p:nvSpPr>
        <p:spPr>
          <a:xfrm>
            <a:off x="1371600" y="1234440"/>
            <a:ext cx="4023360" cy="50292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463040" y="1234440"/>
            <a:ext cx="3840480" cy="502920"/>
          </a:xfrm>
          <a:prstGeom prst="rect">
            <a:avLst/>
          </a:prstGeom>
          <a:noFill/>
        </p:spPr>
        <p:txBody>
          <a:bodyPr wrap="square" lIns="0" rIns="0" tIns="0" bIns="0" anchor="ctr">
            <a:spAutoFit/>
          </a:bodyPr>
          <a:lstStyle/>
          <a:p>
            <a:r>
              <a:rPr sz="1050" b="0">
                <a:solidFill>
                  <a:srgbClr val="FFFFFF"/>
                </a:solidFill>
                <a:latin typeface="Segoe UI Semibold"/>
              </a:rPr>
              <a:t>Écran</a:t>
            </a:r>
          </a:p>
        </p:txBody>
      </p:sp>
      <p:sp>
        <p:nvSpPr>
          <p:cNvPr id="8" name="Rectangle 7"/>
          <p:cNvSpPr/>
          <p:nvPr/>
        </p:nvSpPr>
        <p:spPr>
          <a:xfrm>
            <a:off x="5394960" y="1234440"/>
            <a:ext cx="3291840" cy="50292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0" y="1234440"/>
            <a:ext cx="3108960" cy="502920"/>
          </a:xfrm>
          <a:prstGeom prst="rect">
            <a:avLst/>
          </a:prstGeom>
          <a:noFill/>
        </p:spPr>
        <p:txBody>
          <a:bodyPr wrap="square" lIns="0" rIns="0" tIns="0" bIns="0" anchor="ctr">
            <a:spAutoFit/>
          </a:bodyPr>
          <a:lstStyle/>
          <a:p>
            <a:r>
              <a:rPr sz="1050" b="0">
                <a:solidFill>
                  <a:srgbClr val="FFFFFF"/>
                </a:solidFill>
                <a:latin typeface="Segoe UI Semibold"/>
              </a:rPr>
              <a:t>Message</a:t>
            </a:r>
          </a:p>
        </p:txBody>
      </p:sp>
      <p:sp>
        <p:nvSpPr>
          <p:cNvPr id="10" name="Rectangle 9"/>
          <p:cNvSpPr/>
          <p:nvPr/>
        </p:nvSpPr>
        <p:spPr>
          <a:xfrm>
            <a:off x="457200" y="1737360"/>
            <a:ext cx="914400" cy="50292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737360"/>
            <a:ext cx="731520" cy="502920"/>
          </a:xfrm>
          <a:prstGeom prst="rect">
            <a:avLst/>
          </a:prstGeom>
          <a:noFill/>
        </p:spPr>
        <p:txBody>
          <a:bodyPr wrap="square" lIns="0" rIns="0" tIns="0" bIns="0" anchor="ctr">
            <a:spAutoFit/>
          </a:bodyPr>
          <a:lstStyle/>
          <a:p>
            <a:r>
              <a:rPr sz="1050" b="0">
                <a:solidFill>
                  <a:srgbClr val="0F172A"/>
                </a:solidFill>
                <a:latin typeface="Segoe UI Semibold"/>
              </a:rPr>
              <a:t>0 – 1</a:t>
            </a:r>
          </a:p>
        </p:txBody>
      </p:sp>
      <p:sp>
        <p:nvSpPr>
          <p:cNvPr id="12" name="Rectangle 11"/>
          <p:cNvSpPr/>
          <p:nvPr/>
        </p:nvSpPr>
        <p:spPr>
          <a:xfrm>
            <a:off x="1371600" y="1737360"/>
            <a:ext cx="4023360" cy="50292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463040" y="1737360"/>
            <a:ext cx="3840480" cy="502920"/>
          </a:xfrm>
          <a:prstGeom prst="rect">
            <a:avLst/>
          </a:prstGeom>
          <a:noFill/>
        </p:spPr>
        <p:txBody>
          <a:bodyPr wrap="square" lIns="0" rIns="0" tIns="0" bIns="0" anchor="ctr">
            <a:spAutoFit/>
          </a:bodyPr>
          <a:lstStyle/>
          <a:p>
            <a:r>
              <a:rPr sz="1050" b="0">
                <a:solidFill>
                  <a:srgbClr val="0F172A"/>
                </a:solidFill>
                <a:latin typeface="Segoe UI"/>
              </a:rPr>
              <a:t>Page 1 · Documents déjà déposés</a:t>
            </a:r>
          </a:p>
        </p:txBody>
      </p:sp>
      <p:sp>
        <p:nvSpPr>
          <p:cNvPr id="14" name="Rectangle 13"/>
          <p:cNvSpPr/>
          <p:nvPr/>
        </p:nvSpPr>
        <p:spPr>
          <a:xfrm>
            <a:off x="5394960" y="1737360"/>
            <a:ext cx="3291840" cy="50292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486400" y="1737360"/>
            <a:ext cx="3108960" cy="502920"/>
          </a:xfrm>
          <a:prstGeom prst="rect">
            <a:avLst/>
          </a:prstGeom>
          <a:noFill/>
        </p:spPr>
        <p:txBody>
          <a:bodyPr wrap="square" lIns="0" rIns="0" tIns="0" bIns="0" anchor="ctr">
            <a:spAutoFit/>
          </a:bodyPr>
          <a:lstStyle/>
          <a:p>
            <a:r>
              <a:rPr sz="1050" b="0">
                <a:solidFill>
                  <a:srgbClr val="0F172A"/>
                </a:solidFill>
                <a:latin typeface="Segoe UI"/>
              </a:rPr>
              <a:t>Tout format ; tout est une donnée</a:t>
            </a:r>
          </a:p>
        </p:txBody>
      </p:sp>
      <p:sp>
        <p:nvSpPr>
          <p:cNvPr id="16" name="Rectangle 15"/>
          <p:cNvSpPr/>
          <p:nvPr/>
        </p:nvSpPr>
        <p:spPr>
          <a:xfrm>
            <a:off x="457200" y="2240280"/>
            <a:ext cx="914400" cy="502920"/>
          </a:xfrm>
          <a:prstGeom prst="rect">
            <a:avLst/>
          </a:prstGeom>
          <a:solidFill>
            <a:srgbClr val="F4F7FA"/>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48640" y="2240280"/>
            <a:ext cx="731520" cy="502920"/>
          </a:xfrm>
          <a:prstGeom prst="rect">
            <a:avLst/>
          </a:prstGeom>
          <a:noFill/>
        </p:spPr>
        <p:txBody>
          <a:bodyPr wrap="square" lIns="0" rIns="0" tIns="0" bIns="0" anchor="ctr">
            <a:spAutoFit/>
          </a:bodyPr>
          <a:lstStyle/>
          <a:p>
            <a:r>
              <a:rPr sz="1050" b="0">
                <a:solidFill>
                  <a:srgbClr val="0F172A"/>
                </a:solidFill>
                <a:latin typeface="Segoe UI Semibold"/>
              </a:rPr>
              <a:t>1 – 3</a:t>
            </a:r>
          </a:p>
        </p:txBody>
      </p:sp>
      <p:sp>
        <p:nvSpPr>
          <p:cNvPr id="18" name="Rectangle 17"/>
          <p:cNvSpPr/>
          <p:nvPr/>
        </p:nvSpPr>
        <p:spPr>
          <a:xfrm>
            <a:off x="1371600" y="2240280"/>
            <a:ext cx="4023360" cy="502920"/>
          </a:xfrm>
          <a:prstGeom prst="rect">
            <a:avLst/>
          </a:prstGeom>
          <a:solidFill>
            <a:srgbClr val="F4F7FA"/>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463040" y="2240280"/>
            <a:ext cx="3840480" cy="502920"/>
          </a:xfrm>
          <a:prstGeom prst="rect">
            <a:avLst/>
          </a:prstGeom>
          <a:noFill/>
        </p:spPr>
        <p:txBody>
          <a:bodyPr wrap="square" lIns="0" rIns="0" tIns="0" bIns="0" anchor="ctr">
            <a:spAutoFit/>
          </a:bodyPr>
          <a:lstStyle/>
          <a:p>
            <a:r>
              <a:rPr sz="1050" b="0">
                <a:solidFill>
                  <a:srgbClr val="0F172A"/>
                </a:solidFill>
                <a:latin typeface="Segoe UI"/>
              </a:rPr>
              <a:t>Connaissances : un fait, son extrait, une contradiction</a:t>
            </a:r>
          </a:p>
        </p:txBody>
      </p:sp>
      <p:sp>
        <p:nvSpPr>
          <p:cNvPr id="20" name="Rectangle 19"/>
          <p:cNvSpPr/>
          <p:nvPr/>
        </p:nvSpPr>
        <p:spPr>
          <a:xfrm>
            <a:off x="5394960" y="2240280"/>
            <a:ext cx="3291840" cy="502920"/>
          </a:xfrm>
          <a:prstGeom prst="rect">
            <a:avLst/>
          </a:prstGeom>
          <a:solidFill>
            <a:srgbClr val="F4F7FA"/>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486400" y="2240280"/>
            <a:ext cx="3108960" cy="502920"/>
          </a:xfrm>
          <a:prstGeom prst="rect">
            <a:avLst/>
          </a:prstGeom>
          <a:noFill/>
        </p:spPr>
        <p:txBody>
          <a:bodyPr wrap="square" lIns="0" rIns="0" tIns="0" bIns="0" anchor="ctr">
            <a:spAutoFit/>
          </a:bodyPr>
          <a:lstStyle/>
          <a:p>
            <a:r>
              <a:rPr sz="1050" b="0">
                <a:solidFill>
                  <a:srgbClr val="0F172A"/>
                </a:solidFill>
                <a:latin typeface="Segoe UI"/>
              </a:rPr>
              <a:t>La preuve existe, le désaccord est visible</a:t>
            </a:r>
          </a:p>
        </p:txBody>
      </p:sp>
      <p:sp>
        <p:nvSpPr>
          <p:cNvPr id="22" name="Rectangle 21"/>
          <p:cNvSpPr/>
          <p:nvPr/>
        </p:nvSpPr>
        <p:spPr>
          <a:xfrm>
            <a:off x="457200" y="2743200"/>
            <a:ext cx="914400" cy="50292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48640" y="2743200"/>
            <a:ext cx="731520" cy="502920"/>
          </a:xfrm>
          <a:prstGeom prst="rect">
            <a:avLst/>
          </a:prstGeom>
          <a:noFill/>
        </p:spPr>
        <p:txBody>
          <a:bodyPr wrap="square" lIns="0" rIns="0" tIns="0" bIns="0" anchor="ctr">
            <a:spAutoFit/>
          </a:bodyPr>
          <a:lstStyle/>
          <a:p>
            <a:r>
              <a:rPr sz="1050" b="0">
                <a:solidFill>
                  <a:srgbClr val="0F172A"/>
                </a:solidFill>
                <a:latin typeface="Segoe UI Semibold"/>
              </a:rPr>
              <a:t>3 – 5</a:t>
            </a:r>
          </a:p>
        </p:txBody>
      </p:sp>
      <p:sp>
        <p:nvSpPr>
          <p:cNvPr id="24" name="Rectangle 23"/>
          <p:cNvSpPr/>
          <p:nvPr/>
        </p:nvSpPr>
        <p:spPr>
          <a:xfrm>
            <a:off x="1371600" y="2743200"/>
            <a:ext cx="4023360" cy="50292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463040" y="2743200"/>
            <a:ext cx="3840480" cy="502920"/>
          </a:xfrm>
          <a:prstGeom prst="rect">
            <a:avLst/>
          </a:prstGeom>
          <a:noFill/>
        </p:spPr>
        <p:txBody>
          <a:bodyPr wrap="square" lIns="0" rIns="0" tIns="0" bIns="0" anchor="ctr">
            <a:spAutoFit/>
          </a:bodyPr>
          <a:lstStyle/>
          <a:p>
            <a:r>
              <a:rPr sz="1050" b="0">
                <a:solidFill>
                  <a:srgbClr val="0F172A"/>
                </a:solidFill>
                <a:latin typeface="Segoe UI"/>
              </a:rPr>
              <a:t>Page 3 · Registre, fiche d'un risque, clic sur une preuve</a:t>
            </a:r>
          </a:p>
        </p:txBody>
      </p:sp>
      <p:sp>
        <p:nvSpPr>
          <p:cNvPr id="26" name="Rectangle 25"/>
          <p:cNvSpPr/>
          <p:nvPr/>
        </p:nvSpPr>
        <p:spPr>
          <a:xfrm>
            <a:off x="5394960" y="2743200"/>
            <a:ext cx="3291840" cy="50292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486400" y="2743200"/>
            <a:ext cx="3108960" cy="502920"/>
          </a:xfrm>
          <a:prstGeom prst="rect">
            <a:avLst/>
          </a:prstGeom>
          <a:noFill/>
        </p:spPr>
        <p:txBody>
          <a:bodyPr wrap="square" lIns="0" rIns="0" tIns="0" bIns="0" anchor="ctr">
            <a:spAutoFit/>
          </a:bodyPr>
          <a:lstStyle/>
          <a:p>
            <a:r>
              <a:rPr sz="1050" b="0">
                <a:solidFill>
                  <a:srgbClr val="0F172A"/>
                </a:solidFill>
                <a:latin typeface="Segoe UI"/>
              </a:rPr>
              <a:t>document → preuve → risque</a:t>
            </a:r>
          </a:p>
        </p:txBody>
      </p:sp>
      <p:sp>
        <p:nvSpPr>
          <p:cNvPr id="28" name="Rectangle 27"/>
          <p:cNvSpPr/>
          <p:nvPr/>
        </p:nvSpPr>
        <p:spPr>
          <a:xfrm>
            <a:off x="457200" y="3246120"/>
            <a:ext cx="914400" cy="502920"/>
          </a:xfrm>
          <a:prstGeom prst="rect">
            <a:avLst/>
          </a:prstGeom>
          <a:solidFill>
            <a:srgbClr val="F4F7FA"/>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48640" y="3246120"/>
            <a:ext cx="731520" cy="502920"/>
          </a:xfrm>
          <a:prstGeom prst="rect">
            <a:avLst/>
          </a:prstGeom>
          <a:noFill/>
        </p:spPr>
        <p:txBody>
          <a:bodyPr wrap="square" lIns="0" rIns="0" tIns="0" bIns="0" anchor="ctr">
            <a:spAutoFit/>
          </a:bodyPr>
          <a:lstStyle/>
          <a:p>
            <a:r>
              <a:rPr sz="1050" b="0">
                <a:solidFill>
                  <a:srgbClr val="0F172A"/>
                </a:solidFill>
                <a:latin typeface="Segoe UI Semibold"/>
              </a:rPr>
              <a:t>5 – 7</a:t>
            </a:r>
          </a:p>
        </p:txBody>
      </p:sp>
      <p:sp>
        <p:nvSpPr>
          <p:cNvPr id="30" name="Rectangle 29"/>
          <p:cNvSpPr/>
          <p:nvPr/>
        </p:nvSpPr>
        <p:spPr>
          <a:xfrm>
            <a:off x="1371600" y="3246120"/>
            <a:ext cx="4023360" cy="502920"/>
          </a:xfrm>
          <a:prstGeom prst="rect">
            <a:avLst/>
          </a:prstGeom>
          <a:solidFill>
            <a:srgbClr val="F4F7FA"/>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463040" y="3246120"/>
            <a:ext cx="3840480" cy="502920"/>
          </a:xfrm>
          <a:prstGeom prst="rect">
            <a:avLst/>
          </a:prstGeom>
          <a:noFill/>
        </p:spPr>
        <p:txBody>
          <a:bodyPr wrap="square" lIns="0" rIns="0" tIns="0" bIns="0" anchor="ctr">
            <a:spAutoFit/>
          </a:bodyPr>
          <a:lstStyle/>
          <a:p>
            <a:r>
              <a:rPr sz="1050" b="0">
                <a:solidFill>
                  <a:srgbClr val="0F172A"/>
                </a:solidFill>
                <a:latin typeface="Segoe UI"/>
              </a:rPr>
              <a:t>Page 4 · Décider un risque, une contradiction, une question</a:t>
            </a:r>
          </a:p>
        </p:txBody>
      </p:sp>
      <p:sp>
        <p:nvSpPr>
          <p:cNvPr id="32" name="Rectangle 31"/>
          <p:cNvSpPr/>
          <p:nvPr/>
        </p:nvSpPr>
        <p:spPr>
          <a:xfrm>
            <a:off x="5394960" y="3246120"/>
            <a:ext cx="3291840" cy="502920"/>
          </a:xfrm>
          <a:prstGeom prst="rect">
            <a:avLst/>
          </a:prstGeom>
          <a:solidFill>
            <a:srgbClr val="F4F7FA"/>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5486400" y="3246120"/>
            <a:ext cx="3108960" cy="502920"/>
          </a:xfrm>
          <a:prstGeom prst="rect">
            <a:avLst/>
          </a:prstGeom>
          <a:noFill/>
        </p:spPr>
        <p:txBody>
          <a:bodyPr wrap="square" lIns="0" rIns="0" tIns="0" bIns="0" anchor="ctr">
            <a:spAutoFit/>
          </a:bodyPr>
          <a:lstStyle/>
          <a:p>
            <a:r>
              <a:rPr sz="1050" b="0">
                <a:solidFill>
                  <a:srgbClr val="0F172A"/>
                </a:solidFill>
                <a:latin typeface="Segoe UI"/>
              </a:rPr>
              <a:t>L'humain décide, avec le contexte</a:t>
            </a:r>
          </a:p>
        </p:txBody>
      </p:sp>
      <p:sp>
        <p:nvSpPr>
          <p:cNvPr id="34" name="Rectangle 33"/>
          <p:cNvSpPr/>
          <p:nvPr/>
        </p:nvSpPr>
        <p:spPr>
          <a:xfrm>
            <a:off x="457200" y="3749039"/>
            <a:ext cx="914400" cy="50292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548640" y="3749039"/>
            <a:ext cx="731520" cy="502920"/>
          </a:xfrm>
          <a:prstGeom prst="rect">
            <a:avLst/>
          </a:prstGeom>
          <a:noFill/>
        </p:spPr>
        <p:txBody>
          <a:bodyPr wrap="square" lIns="0" rIns="0" tIns="0" bIns="0" anchor="ctr">
            <a:spAutoFit/>
          </a:bodyPr>
          <a:lstStyle/>
          <a:p>
            <a:r>
              <a:rPr sz="1050" b="0">
                <a:solidFill>
                  <a:srgbClr val="0F172A"/>
                </a:solidFill>
                <a:latin typeface="Segoe UI Semibold"/>
              </a:rPr>
              <a:t>7 – 8</a:t>
            </a:r>
          </a:p>
        </p:txBody>
      </p:sp>
      <p:sp>
        <p:nvSpPr>
          <p:cNvPr id="36" name="Rectangle 35"/>
          <p:cNvSpPr/>
          <p:nvPr/>
        </p:nvSpPr>
        <p:spPr>
          <a:xfrm>
            <a:off x="1371600" y="3749039"/>
            <a:ext cx="4023360" cy="50292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463040" y="3749039"/>
            <a:ext cx="3840480" cy="502920"/>
          </a:xfrm>
          <a:prstGeom prst="rect">
            <a:avLst/>
          </a:prstGeom>
          <a:noFill/>
        </p:spPr>
        <p:txBody>
          <a:bodyPr wrap="square" lIns="0" rIns="0" tIns="0" bIns="0" anchor="ctr">
            <a:spAutoFit/>
          </a:bodyPr>
          <a:lstStyle/>
          <a:p>
            <a:r>
              <a:rPr sz="1050" b="0">
                <a:solidFill>
                  <a:srgbClr val="0F172A"/>
                </a:solidFill>
                <a:latin typeface="Segoe UI"/>
              </a:rPr>
              <a:t>Page 2 · Mise à jour proposée ; MISE-A-JOUR.md</a:t>
            </a:r>
          </a:p>
        </p:txBody>
      </p:sp>
      <p:sp>
        <p:nvSpPr>
          <p:cNvPr id="38" name="Rectangle 37"/>
          <p:cNvSpPr/>
          <p:nvPr/>
        </p:nvSpPr>
        <p:spPr>
          <a:xfrm>
            <a:off x="5394960" y="3749039"/>
            <a:ext cx="3291840" cy="50292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5486400" y="3749039"/>
            <a:ext cx="3108960" cy="502920"/>
          </a:xfrm>
          <a:prstGeom prst="rect">
            <a:avLst/>
          </a:prstGeom>
          <a:noFill/>
        </p:spPr>
        <p:txBody>
          <a:bodyPr wrap="square" lIns="0" rIns="0" tIns="0" bIns="0" anchor="ctr">
            <a:spAutoFit/>
          </a:bodyPr>
          <a:lstStyle/>
          <a:p>
            <a:r>
              <a:rPr sz="1050" b="0">
                <a:solidFill>
                  <a:srgbClr val="0F172A"/>
                </a:solidFill>
                <a:latin typeface="Segoe UI"/>
              </a:rPr>
              <a:t>3 créations, le reste identique</a:t>
            </a:r>
          </a:p>
        </p:txBody>
      </p:sp>
      <p:sp>
        <p:nvSpPr>
          <p:cNvPr id="40" name="Rounded Rectangle 39"/>
          <p:cNvSpPr/>
          <p:nvPr/>
        </p:nvSpPr>
        <p:spPr>
          <a:xfrm>
            <a:off x="457200" y="4389120"/>
            <a:ext cx="8229600" cy="347472"/>
          </a:xfrm>
          <a:prstGeom prst="roundRect">
            <a:avLst>
              <a:gd name="adj" fmla="val 6000"/>
            </a:avLst>
          </a:prstGeom>
          <a:solidFill>
            <a:srgbClr val="FEF3C7"/>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40080" y="4389120"/>
            <a:ext cx="7863840" cy="347472"/>
          </a:xfrm>
          <a:prstGeom prst="rect">
            <a:avLst/>
          </a:prstGeom>
          <a:noFill/>
        </p:spPr>
        <p:txBody>
          <a:bodyPr wrap="square" lIns="0" rIns="0" tIns="0" bIns="0" anchor="ctr">
            <a:spAutoFit/>
          </a:bodyPr>
          <a:lstStyle/>
          <a:p>
            <a:r>
              <a:rPr sz="1050" b="0">
                <a:solidFill>
                  <a:srgbClr val="B45309"/>
                </a:solidFill>
                <a:latin typeface="Segoe UI Semibold"/>
              </a:rPr>
              <a:t>Plan B : le dossier complet exporté (HTML) s'ouvre sans serveur, avec tous les liens.</a:t>
            </a:r>
          </a:p>
        </p:txBody>
      </p:sp>
      <p:sp>
        <p:nvSpPr>
          <p:cNvPr id="42" name="TextBox 41"/>
          <p:cNvSpPr txBox="1"/>
          <p:nvPr/>
        </p:nvSpPr>
        <p:spPr>
          <a:xfrm>
            <a:off x="457200" y="4800600"/>
            <a:ext cx="3657600" cy="182880"/>
          </a:xfrm>
          <a:prstGeom prst="rect">
            <a:avLst/>
          </a:prstGeom>
          <a:noFill/>
        </p:spPr>
        <p:txBody>
          <a:bodyPr wrap="square" lIns="0" rIns="0" tIns="0" bIns="0" anchor="t">
            <a:spAutoFit/>
          </a:bodyPr>
          <a:lstStyle/>
          <a:p>
            <a:r>
              <a:rPr sz="800" b="0">
                <a:solidFill>
                  <a:srgbClr val="94A3B8"/>
                </a:solidFill>
                <a:latin typeface="Consolas"/>
              </a:rPr>
              <a:t>E21 · Agents IA &amp; analyse de risques</a:t>
            </a:r>
          </a:p>
        </p:txBody>
      </p:sp>
      <p:sp>
        <p:nvSpPr>
          <p:cNvPr id="43" name="TextBox 42"/>
          <p:cNvSpPr txBox="1"/>
          <p:nvPr/>
        </p:nvSpPr>
        <p:spPr>
          <a:xfrm>
            <a:off x="8321040" y="4800600"/>
            <a:ext cx="365760" cy="182880"/>
          </a:xfrm>
          <a:prstGeom prst="rect">
            <a:avLst/>
          </a:prstGeom>
          <a:noFill/>
        </p:spPr>
        <p:txBody>
          <a:bodyPr wrap="square" lIns="0" rIns="0" tIns="0" bIns="0" anchor="t">
            <a:spAutoFit/>
          </a:bodyPr>
          <a:lstStyle/>
          <a:p>
            <a:pPr algn="r"/>
            <a:r>
              <a:rPr sz="800" b="0">
                <a:solidFill>
                  <a:srgbClr val="94A3B8"/>
                </a:solidFill>
                <a:latin typeface="Consolas"/>
              </a:rPr>
              <a:t>30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21</TotalTime>
  <Words>4520</Words>
  <Application>Microsoft Office PowerPoint</Application>
  <PresentationFormat>Affichage à l'écran (16:9)</PresentationFormat>
  <Paragraphs>805</Paragraphs>
  <Slides>29</Slides>
  <Notes>29</Notes>
  <HiddenSlides>0</HiddenSlides>
  <MMClips>0</MMClips>
  <ScaleCrop>false</ScaleCrop>
  <HeadingPairs>
    <vt:vector size="6" baseType="variant">
      <vt:variant>
        <vt:lpstr>Polices utilisées</vt:lpstr>
      </vt:variant>
      <vt:variant>
        <vt:i4>4</vt:i4>
      </vt:variant>
      <vt:variant>
        <vt:lpstr>Thème</vt:lpstr>
      </vt:variant>
      <vt:variant>
        <vt:i4>1</vt:i4>
      </vt:variant>
      <vt:variant>
        <vt:lpstr>Titres des diapositives</vt:lpstr>
      </vt:variant>
      <vt:variant>
        <vt:i4>29</vt:i4>
      </vt:variant>
    </vt:vector>
  </HeadingPairs>
  <TitlesOfParts>
    <vt:vector size="34" baseType="lpstr">
      <vt:lpstr>Arial</vt:lpstr>
      <vt:lpstr>Consolas</vt:lpstr>
      <vt:lpstr>Segoe UI</vt:lpstr>
      <vt:lpstr>Segoe UI Semibold</vt:lpstr>
      <vt:lpstr>Office Theme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Des agents IA pour analyser les risques — Soutenance E21</dc:title>
  <dc:subject>PptxGenJS Presentation</dc:subject>
  <dc:creator>PptxGenJS</dc:creator>
  <cp:lastModifiedBy>melvin r</cp:lastModifiedBy>
  <cp:revision>2</cp:revision>
  <dcterms:created xsi:type="dcterms:W3CDTF">2026-09-24T10:36:37Z</dcterms:created>
  <dcterms:modified xsi:type="dcterms:W3CDTF">2026-09-24T11:06:07Z</dcterms:modified>
</cp:coreProperties>
</file>