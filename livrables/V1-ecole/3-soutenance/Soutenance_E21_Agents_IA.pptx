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0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90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1 — Introduction (0 → 1 min). Présenter le sujet : des agents IA qui assistent un analyste de risques. Message d’entrée : l’IA propose, l’analyste décide (étape 6 mise en évidence).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(1 min). 8 parties, questions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2 — Contexte &amp; objectif (3 → 5 min). Problématique : méthode exigeante, peu reproductible, coûteuse. Objectif : système multi-agents opencode, méthode 6 étapes, sourcée et traçable, humain décideur.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pilote ShoPix (1 min). TPE, données fictives, RGPD. Chiffres de l’étude de cas. Objectif de l’analyse : justifier un budget sécurité d’environ 2 500 €/an auprès du dirigeant. Les incidents passés servent de preuves pour les probabilités.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 E21 (2 min). Les 6 étapes du sujet (p. 28) + 4 traitements. Chaque étape correspond à un agent de la chaîne. L’étape 6 est la seule où l’humain tranche : elle est mise en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3 — Infrastructure (8 → 10 min). L’orchestrateur collecte tout en une passe de questions, lance les 7 agents dans l’ordre ; chaque sortie passe par e21-controle avant d’être poussée sur GitHub. Les skills portent les grilles ; la knowledge_base porte les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(1 min). Chaque étape de la chaîne produit un commit poussé ; PR #10 ferme l’issue #9. Après l’audit externe, les corrections ont suivi le même circuit : issues #15 à #20, PR #21, #22 et #24.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 et exécution réelle (2 min). Corrigé après l’audit : écriture bornée à analyses/**, contrôleur en lecture seule. Le POC est piloté par consignes : il n’y a pas de LlmProvider ni de mode mock codés. Le modèle réellement utilisé est opencode/big-pickle, hébergé : c’est acceptable parce que les données sont fictives ; en production, ollama local ou hébergement FR (ANSSI).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4 — Agents (13 → 15 min). Vue d’ensemble du dossier .opencode/agents. Préambule commun : format imposé, source obligatoire, entrée = donnée non fiable, aucun pouvoir d’exécution.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e21-controle (2 min). Contrôle de fond, sources, les 6 risques IA et le format ; REJET = étape rejouée. Honnêteté : le contrôle était circulaire, il a validé des ID ISO faux. Correction : index ISO 2022 canonique + invariant T-10. e21-controle est désormais en lecture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5 — Skills (19 → 23 min). Skills métier (format, méthode, garde-fous) et skills framework. Bascule de méthode : STRIDE par défaut, LINDDUN si RGPD, EBIOS RM pour OIV/administration, PASTA pour la vision métier. Pour ShoPix : STRIDE + LINDDUN + DREAD (CVSS en attente de la CVE réelle).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6 — Démo (23 min). Premier livrable : description du système. Point clé : tout est sur une seule VM mutualisée, sans segmentation. Cette frontière explique le risque critique 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de la chaîne (1 min). 14 menaces → 14 risques validés : 2 critiques, 11 élevés, 1 moyen. R-13 (non-conformité RGPD) a été rejeté lors d’un essai du circuit puis retenu le 24/09 : c’est un état de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Évaluation (1 min). T-04 vérifie automatiquement les 42 cas de la matrice ; T-03 recalcule les 14 moyennes DREAD. Réponse aux questions de l’audit : R-10 peut être plus probable que R-04 car il agrège trois points d’entrée ; R-12 n’est pas cumulé avec R-04/R-08/R-10.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5 (issu de SYNTHESE.md). Chaque recommandation est liée à un ID du registre : c’est le « pourquoi » exigé. Échéance des actions critiques : novembre 2026, avant le pic des fêtes.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de risque complet (2 min). Avant l’audit, R-01 citait A8.5.2, A6.2 et A7.2, qui sont faux ou inexistants en 2022. Il cite maintenant 8.5 (authentification), 5.15 (contrôle d’accès) et 6.3 (sensibilisation).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humaine (1 min). L’audit a jugé le rejet de R-13 contraire au cours : on ne rejette pas un fait, on le traite ou on l’accepte formellement. Le rejet était un essai du circuit ; il est reconsidéré et tracé dans 06-validation.md.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Recommandations (SYNTHESE.md). Le budget corrigé inclut la cyber-assurance (~2 000 €) : il dépasse l’enveloppe. C’est une décision à arbitrer (assurance, ou rester sous l’enveloppe avec un résiduel plus fort à Noël), pas une erreur.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7 — Tests (28 → 31 min). Suite refondue après l’audit : plus de SKIP compté PASS, plus de « 13 » en dur, manifeste npm versionné, gh optionnel, T-10 invariant ISO. T-11 reste SKIP tant que la démo d’injection réelle n’a pas été exécutée et archivée. Reste à faire : l’analyse manuelle de référence (issue #17).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Injection (1 min). L’audit avait raison : T-07 ne donne jamais le document piégé à un agent, il ne prouve pas la résistance. T-11 expose réellement un agent de la chaîne ; tant que l’exécution n’est pas archivée, il reste SKIP. Si possible, l’exécuter en direct pendant la soutenance.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Choix des modèles (32 → 35 min). Être clair : ce routeur est une recommandation, le POC tourne sur un seul modèle. Point ouvert de l’audit : e21-controle utilise le même modèle que les agents qu’il contrôle ; la cible est un modèle différent + contrôles déterministes.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(1 min). Notre propre audit en est la preuve : format parfait, contrôles OK, et pourtant des références fausses. D’où le contrôle de deuxième niveau déterministe (T-10) et la validation humaine.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9 — Limites (37 → 40 min). Assumer le périmètre : POC, analyse amont. La comparaison avec une analyse manuelle (item 4 de la checklist) n’est pas encore faite : le dire avant qu’on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(40 → 42 min). Présenter la grille comme un positionnement argumenté, pas une mesure. Avoir la réponse prête : « 5/5 en reproductibilité » signifie que la méthode est encodée dans les skills, pas qu’on l’a mesuré sur N exécutions.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Avantages / inconvénients (1 min). Chaque inconvénient a une parade ou une issue ouverte.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(1 min). Un auditeur externe a évalué le dépôt le 24/09. Présenter la remédiation plutôt que se défendre : chaque constat confirmé a été corrigé par une issue, une branche et une PR, et verrouillé par un test quand c’est possible. Être clair sur ce qui reste ouvert.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11 — Perspectives (43 → 44 min). Deux chantiers courts avant la soutenance (analyse manuelle, T-11), puis les évolutions : local, réseau,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(1 min). Reproductibilité par les skills, sources vérifiées contre une référence externe, humain nominatif. Montrer que l’audit a servi à améliorer l’approche.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(45 min →). Documents d’appui : CHOIX-MODELES-IA.md, AUDIT-SYSTEME.md, BENCHMARK.md, TESTS.md.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11.png"/><Relationship Id="rId7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 E21 · MANAGEMENT DE LA SÉCURITÉ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 agents IA pour analyser les risques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système multi-agents opencode qui applique la méthode E21 : chaque risque est sourcé, chaque étape contrôlée, chaque décision prise par l’analyste.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Melvin RAIMBAULT  ·  Lucas HUARD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Jérémy LESSA  ·  David AMARO MONTEIRO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Soutenance · M2 Cybersécurité · Septembre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868680"/>
            <a:ext cx="0" cy="3291840"/>
          </a:xfrm>
          <a:prstGeom prst="line">
            <a:avLst/>
          </a:prstGeom>
          <a:noFill/>
          <a:ln w="25400">
            <a:solidFill>
              <a:srgbClr val="2A3A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989320" y="68580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989320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685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Existant &amp; actifs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23444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989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Choix de méthode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78308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9893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233172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59893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288036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9893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3429000"/>
            <a:ext cx="365760" cy="365760"/>
          </a:xfrm>
          <a:prstGeom prst="ellipse">
            <a:avLst/>
          </a:prstGeom>
          <a:solidFill>
            <a:srgbClr val="2DD4BF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59893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2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humaine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397764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59893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Synthèse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Déroulé de la soutenance (45 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Contexte &amp; objectif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Problématique, cas pilote ShoPix, méthode E21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2801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→ 8 min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workflow GitHub, permissions, LLM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12801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→ 13 min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40080" y="212140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Agents &amp; skills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agents, contrôle, bascule de méthode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1214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→ 23 min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12140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4846320" y="212140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Démo : cas ShoPix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Registre, matrice, validation humaine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21214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→ 28 min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40080" y="296265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Tests effectués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T-01 → T-10, document piégé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296265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→ 32 min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4846320" y="296265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Choix des modèles IA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modèle par étape, JSON ≠ valeurs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296265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→ 37 min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80390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640080" y="38039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Limites &amp; benchmark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l’outil ne fait pas, comparatif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380390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→ 43 min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80390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 txBox="1"/>
          <p:nvPr/>
        </p:nvSpPr>
        <p:spPr>
          <a:xfrm>
            <a:off x="4846320" y="38039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 &amp; remédiation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40680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Constats, corrections, feuille de route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380390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→ 45 min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CONTEXTE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 des agents pour l’analyse de risques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2" y="1645554"/>
            <a:ext cx="201900" cy="201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Méthode exigeante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09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étapes, plusieurs grilles (STRIDE, EBIOS RM…), une source par affirmation.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" y="272454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Peu reproductible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analystes, deux registres différents : la grille dépend de l’expert.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438144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40080" y="369417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42" y="3803538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3444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Coûteuse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234440" y="3867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Temps d’expert rare ; une TPE n’a ni équipe sécurité ni budget d’audit.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1280160"/>
            <a:ext cx="4023360" cy="3090672"/>
          </a:xfrm>
          <a:prstGeom prst="roundRect">
            <a:avLst>
              <a:gd name="adj" fmla="val 23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 txBox="1"/>
          <p:nvPr/>
        </p:nvSpPr>
        <p:spPr>
          <a:xfrm>
            <a:off x="493776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OBJECTIF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937760" y="1783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POC multi-agents piloté par consignes, dans opencode, qui applique la méthode E21 en 6 étapes.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937760" y="288036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348" y="2965948"/>
            <a:ext cx="158008" cy="1580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94960" y="2880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Reproductible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grilles encodées dans des skills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937760" y="333756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348" y="3423148"/>
            <a:ext cx="158008" cy="1580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33375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Traçable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sources à ID stable + git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937760" y="379476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3348" y="3880348"/>
            <a:ext cx="158008" cy="1580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94960" y="3794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Humain décideur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valide_par toujours humain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CAS PILOTE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ShoPix : une TPE e-commerce comme terrain de 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k€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 par trimestre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651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385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commandes / semaine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72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nov.–déc.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5146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265176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2 500 €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172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sécurité / an à justifier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fictives de l’étude de cas · RGPD applicable (clients européens)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SI fragile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5544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8.0 et MySQL en fin de vie, hébergeur mutualisé : site, API, back-office et base sur une seule VM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seul compte MySQL « shopix » avec tous les droits, sans WAF ni monitoring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« Mélanie » : mot de passe simple, pas de MFA, sessions de 30 jours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Incidents déjà vécus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17720" y="319125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4617720" y="3191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Clé MailJet volée : 2 jours de spam au nom de la boutique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6210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4617720" y="36210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~1 000 tentatives/24 h sur /admin ; clé PayFlow exposée 1 mois sur GitHub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40507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4617720" y="40507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014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Sauvegarde manuelle oubliée : 2 jours de commandes perdus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MÉTHODE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méthode E21 : 6 étapes, 4 traitements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Décrire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DFD + frontières de confiance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984248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984248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Identifier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STRIDE + LINDDUN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36976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3374136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Détailler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74136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ATT&amp;CK, CVE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4764024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Prioriser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 × impact, DREAD, CVSS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16752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153912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2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Traiter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53912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Contre-mesures sourcées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543800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Humain : valide_par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Réponse à chaque risque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21792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Réduire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contre-mesures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32888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 txBox="1"/>
          <p:nvPr/>
        </p:nvSpPr>
        <p:spPr>
          <a:xfrm>
            <a:off x="2697480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Transférer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assurance, contrat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08576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4773168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Éviter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supprimer l’activité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84264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6848856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Accepter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 écrite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risque n’est ignoré sans décision écrite ; le risque résiduel est toujours estimé.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INFRASTRUCTURE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: un orchestrateur, une chaîne, un contrôleur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95528" y="21305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80" y="2230404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72768" y="2487168"/>
            <a:ext cx="27432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874520" y="2057400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E6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258568" y="21305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420" y="22304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560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Orchestrateur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035808" y="2487168"/>
            <a:ext cx="22860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3291840" y="132588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 txBox="1"/>
          <p:nvPr/>
        </p:nvSpPr>
        <p:spPr>
          <a:xfrm>
            <a:off x="3474720" y="1325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à la demande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STRIDE · LINDDUN · EBIOS RM · PASTA · ATT&amp;CK · DREAD · CVSS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9184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 txBox="1"/>
          <p:nvPr/>
        </p:nvSpPr>
        <p:spPr>
          <a:xfrm>
            <a:off x="329184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31012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Existant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06908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 txBox="1"/>
          <p:nvPr/>
        </p:nvSpPr>
        <p:spPr>
          <a:xfrm>
            <a:off x="406908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08736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Méthode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84632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 txBox="1"/>
          <p:nvPr/>
        </p:nvSpPr>
        <p:spPr>
          <a:xfrm>
            <a:off x="484632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486460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Menaces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62356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 txBox="1"/>
          <p:nvPr/>
        </p:nvSpPr>
        <p:spPr>
          <a:xfrm>
            <a:off x="562356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564184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Évaluation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40080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 txBox="1"/>
          <p:nvPr/>
        </p:nvSpPr>
        <p:spPr>
          <a:xfrm>
            <a:off x="640080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41908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Traitement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17804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 txBox="1"/>
          <p:nvPr/>
        </p:nvSpPr>
        <p:spPr>
          <a:xfrm>
            <a:off x="717804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719632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795528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1"/>
          <p:cNvSpPr txBox="1"/>
          <p:nvPr/>
        </p:nvSpPr>
        <p:spPr>
          <a:xfrm>
            <a:off x="795528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97356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Synthèse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291840" y="309067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 txBox="1"/>
          <p:nvPr/>
        </p:nvSpPr>
        <p:spPr>
          <a:xfrm>
            <a:off x="3474720" y="3090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e21-controle  </a:t>
            </a: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garde-fous après chaque étape → OK · WARN · REJET (reprise)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57200" y="3749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6"/>
          <p:cNvSpPr/>
          <p:nvPr/>
        </p:nvSpPr>
        <p:spPr>
          <a:xfrm>
            <a:off x="594360" y="39319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036527"/>
            <a:ext cx="193121" cy="193121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115568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knowledge_base/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1115568" y="4078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à ID stable (STRIDE-S, ISO27002-…)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218688" y="3749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0"/>
          <p:cNvSpPr/>
          <p:nvPr/>
        </p:nvSpPr>
        <p:spPr>
          <a:xfrm>
            <a:off x="3355848" y="39319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455" y="4036527"/>
            <a:ext cx="193121" cy="193121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3877056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3877056" y="4078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Branche par analyse, push à chaque étape, board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980176" y="3749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4"/>
          <p:cNvSpPr/>
          <p:nvPr/>
        </p:nvSpPr>
        <p:spPr>
          <a:xfrm>
            <a:off x="6117336" y="39319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1943" y="4036527"/>
            <a:ext cx="193121" cy="193121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6638544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53" name="Text 46"/>
          <p:cNvSpPr txBox="1"/>
          <p:nvPr/>
        </p:nvSpPr>
        <p:spPr>
          <a:xfrm>
            <a:off x="6638544" y="4078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→ 06, registre .md/.json, SYNTHESE.md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TRAÇABILITÉ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Traçabilité : tout passe par GitHub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Issue #9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38528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139696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139696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Branche analyses/…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21024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822192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822192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commit / étape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504688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504688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 #10 fusionnée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86016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187184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187184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Board : Done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21842" y="1645920"/>
            <a:ext cx="3717036" cy="2697480"/>
          </a:xfrm>
          <a:prstGeom prst="roundRect">
            <a:avLst>
              <a:gd name="adj" fmla="val 2034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113282" y="172364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223010" y="172364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332738" y="172364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1479042" y="1677924"/>
            <a:ext cx="31683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github.com/…/pull/10</a:t>
            </a:r>
            <a:endParaRPr lang="en-US" sz="700" dirty="0"/>
          </a:p>
        </p:txBody>
      </p:sp>
      <p:pic>
        <p:nvPicPr>
          <p:cNvPr id="23" name="Image 0" descr="shots/c_pr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1865376"/>
            <a:ext cx="3662172" cy="245059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57200" y="4480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 de la PR #10 au moment du merge, avant l’audit (13 risques, R-13 rejeté).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commit par étape de la chaîne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1993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ae14afd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1 · description, actifs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577840" y="23591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c75eb98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309360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choix de méthode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577840" y="27249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d4f0ed3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2724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· menaces STRIDE/LINDDUN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577840" y="30906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cd1b6f7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3090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· évaluation + DREAD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5577840" y="34564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3787762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3456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· traitement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5577840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310efce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30936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6 · validation humaine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577840" y="41879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efa011a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6309360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7 · synthèse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577840" y="4553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Puis la remédiation de l’audit : PR #21, #22, #24.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SÉCURITÉ DU SYSTÈME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Moindre privilège et exécution réelle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Permissions par rôle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31920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Droits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e21-* (7 agents)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écriture limitée à analyses/**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e21-controle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lecture seule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refusé aux agents de chaîne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github-manager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seul à gérer dépôt et board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 opencode : edit deny "**" puis allow "analyses/**". Un agent détourné ne peut réécrire ni les consignes ni la base de connaissances.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qui exécute le POC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6002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6"/>
          <p:cNvSpPr/>
          <p:nvPr/>
        </p:nvSpPr>
        <p:spPr>
          <a:xfrm>
            <a:off x="4800600" y="17556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07" y="1860255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691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Les consignes sont le programme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19659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.md + skills ; aucun code applicatif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3440" y="24231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4800600" y="25786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207" y="268321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9240" y="25146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opencode/big-pickle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349240" y="2788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 API cloud, pour les 12 agents. Données fictives uniquement.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63440" y="32461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800600" y="34015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207" y="3506175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3337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ollama en local : roadmap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5349240" y="36118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qu’aucune donnée ne sorte du poste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modèle interchangeable (ollama / api / mock) est un objectif de conception, pas un composant codé.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agents, un rôle et une sortie chacun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22409" y="1234440"/>
            <a:ext cx="3641581" cy="3337560"/>
          </a:xfrm>
          <a:prstGeom prst="roundRect">
            <a:avLst>
              <a:gd name="adj" fmla="val 1644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13849" y="131216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23577" y="131216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233305" y="131216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379609" y="1266444"/>
            <a:ext cx="309294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github.com/…/.opencode/agents</a:t>
            </a:r>
            <a:endParaRPr lang="en-US" sz="700" dirty="0"/>
          </a:p>
        </p:txBody>
      </p:sp>
      <p:pic>
        <p:nvPicPr>
          <p:cNvPr id="9" name="Image 0" descr="shots/c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41" y="1453896"/>
            <a:ext cx="3586717" cy="3090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23444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5413248" y="1307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13248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413248" y="1728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 en une passe, lance et reprend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57800" y="210312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413248" y="2176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Chaîne E21 (7)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13248" y="2404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analyse-existant → synthese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5413248" y="2596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fichier 00 → 06 + SYNTHESE.md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57800" y="297180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5413248" y="3044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Contrôle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13248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e21-controle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13248" y="3465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RAPPORT-CONTROLE.md : OK / WARN / REJET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257800" y="384048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 txBox="1"/>
          <p:nvPr/>
        </p:nvSpPr>
        <p:spPr>
          <a:xfrm>
            <a:off x="5413248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Support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13248" y="4142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github-manager · research · security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413248" y="4334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&amp; PR, veille, audit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GARDE-FOUS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e21-controle : un contrôle avant chaque push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2498047"/>
          </a:xfrm>
          <a:prstGeom prst="roundRect">
            <a:avLst>
              <a:gd name="adj" fmla="val 2196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31216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58368" y="131216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68096" y="131216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914400" y="1266444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RAPPORT-CONTROLE.md · étape 1</a:t>
            </a:r>
            <a:endParaRPr lang="en-US" sz="700" dirty="0"/>
          </a:p>
        </p:txBody>
      </p:sp>
      <p:pic>
        <p:nvPicPr>
          <p:cNvPr id="9" name="Image 0" descr="shots/controle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53896"/>
            <a:ext cx="4882896" cy="225115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Extrait réel du rapport de contrôle de l’étape 1 (9 contrôles, verdict OK).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Trois verdicts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157276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5669280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5727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accepté, poussé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193852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 txBox="1"/>
          <p:nvPr/>
        </p:nvSpPr>
        <p:spPr>
          <a:xfrm>
            <a:off x="5669280" y="1938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19385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accepté + signalé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230428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5669280" y="23042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REJET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2304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bloquant : étape rejouée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SKILLS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Les skills rendent l’analyse reproductible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métier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621792" y="1627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analyse-risques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562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étapes + 4 traitements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21792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registre-risques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14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tableau + JSON + valide_par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21792" y="2944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garde-fous-ia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172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6 risques propres aux LLM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21792" y="36027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schemas-diagrammes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8313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conventions Mermaid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framework : bascule de méthode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1572768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461772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STRIDE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1856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/ DFD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572768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676656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LINDDUN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856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personnelles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223113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61772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EBIOS RM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2514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OIV, administration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9400" y="223113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676656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PASTA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514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enjeux métier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2889504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461772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ATT&amp;CK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attaques réelles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29400" y="2889504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676656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DREAD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priorisation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3547872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461772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CVSS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61772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CVE connues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couleur : la combinaison choisie pour ShoPix.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ÉTAPE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système modélisé : DFD et frontières de confiance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733409" y="1188720"/>
            <a:ext cx="5677182" cy="3246120"/>
          </a:xfrm>
          <a:prstGeom prst="roundRect">
            <a:avLst>
              <a:gd name="adj" fmla="val 1690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824849" y="126644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934577" y="126644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44305" y="126644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190609" y="1220724"/>
            <a:ext cx="512854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00-description.md · produit par e21-analyse-existant</a:t>
            </a:r>
            <a:endParaRPr lang="en-US" sz="700" dirty="0"/>
          </a:p>
        </p:txBody>
      </p:sp>
      <p:pic>
        <p:nvPicPr>
          <p:cNvPr id="9" name="Image 0" descr="shots/m_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841" y="1408176"/>
            <a:ext cx="5622318" cy="29992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actifs inventoriés · 4 frontières de confiance · données personnelles : true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RÉSULTAT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 menaces identifiées, 14 risques validés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menaces STRIDE / LINDDUN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724912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risques au registre validé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809744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09744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retenu après réexamen (R-13)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1696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894576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894576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modifié (R-14)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Répartition des 14 risques validés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175657" cy="502920"/>
          </a:xfrm>
          <a:prstGeom prst="rect">
            <a:avLst/>
          </a:prstGeom>
          <a:solidFill>
            <a:srgbClr val="DC262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457200" y="3063240"/>
            <a:ext cx="11756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32857" y="3063240"/>
            <a:ext cx="6466114" cy="502920"/>
          </a:xfrm>
          <a:prstGeom prst="rect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1632857" y="3063240"/>
            <a:ext cx="6466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98971" y="3063240"/>
            <a:ext cx="587829" cy="502920"/>
          </a:xfrm>
          <a:prstGeom prst="rect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8098971" y="3063240"/>
            <a:ext cx="587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858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R-01, R-10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767328"/>
            <a:ext cx="146304" cy="14630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34290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R-03 à R-09, R-11 à R-14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76732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61722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 : réduire partout, + transférer pour R-05 et R-09. Chaque résiduel est accepté par l’analyste.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ÉTAPE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Matrice probabilité × impact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325880"/>
            <a:ext cx="274320" cy="260604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PROBABILITÉ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25880"/>
            <a:ext cx="1417320" cy="868680"/>
          </a:xfrm>
          <a:prstGeom prst="rect">
            <a:avLst/>
          </a:prstGeom>
          <a:solidFill>
            <a:srgbClr val="FEF6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46304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1417320" cy="868680"/>
          </a:xfrm>
          <a:prstGeom prst="rect">
            <a:avLst/>
          </a:prstGeom>
          <a:solidFill>
            <a:srgbClr val="FFF1E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288036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16002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R-06 · R-11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325880"/>
            <a:ext cx="1417320" cy="868680"/>
          </a:xfrm>
          <a:prstGeom prst="rect">
            <a:avLst/>
          </a:prstGeom>
          <a:solidFill>
            <a:srgbClr val="FDECE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29768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16002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R-01 · R-10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19456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194560"/>
            <a:ext cx="1417320" cy="868680"/>
          </a:xfrm>
          <a:prstGeom prst="rect">
            <a:avLst/>
          </a:prstGeom>
          <a:solidFill>
            <a:srgbClr val="EAF7E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463040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88920" y="2194560"/>
            <a:ext cx="1417320" cy="868680"/>
          </a:xfrm>
          <a:prstGeom prst="rect">
            <a:avLst/>
          </a:prstGeom>
          <a:solidFill>
            <a:srgbClr val="FEF6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2880360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862072" y="2468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2194560"/>
            <a:ext cx="1417320" cy="868680"/>
          </a:xfrm>
          <a:prstGeom prst="rect">
            <a:avLst/>
          </a:prstGeom>
          <a:solidFill>
            <a:srgbClr val="FFF1E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4297680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279392" y="2468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R-03 · R-04 · R-05 · R-07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R-08 · R-09 · R-12 · R-14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06324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3063240"/>
            <a:ext cx="1417320" cy="868680"/>
          </a:xfrm>
          <a:prstGeom prst="rect">
            <a:avLst/>
          </a:prstGeom>
          <a:solidFill>
            <a:srgbClr val="EAF7E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146304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88920" y="3063240"/>
            <a:ext cx="1417320" cy="868680"/>
          </a:xfrm>
          <a:prstGeom prst="rect">
            <a:avLst/>
          </a:prstGeom>
          <a:solidFill>
            <a:srgbClr val="EAF7E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288036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3063240"/>
            <a:ext cx="1417320" cy="868680"/>
          </a:xfrm>
          <a:prstGeom prst="rect">
            <a:avLst/>
          </a:prstGeom>
          <a:solidFill>
            <a:srgbClr val="FEF6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429768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3977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3977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977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420624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13258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Règles écrites après l’audit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16459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matrice fait foi ; DREAD ne sert qu’à ordonner le traitement.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R-10 « Élevée » : agrège 3 précurseurs (M-04, M-05, M-07).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R-12 : conséquence évaluée une seule fois, sans double comptage.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CVSS réservé aux CVE réelles : aucune note inventée.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97880" y="356616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608076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DREAD n°1 · R-10 · 8,8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08076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Élévation de privilèges sans segmentation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SYNTHÈSE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Les 5 risques prioritaires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188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RISQUE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188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TRAITEMENT (RÉDUIRE)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594360" y="14173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159105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97280" y="15910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481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Brute force sur /admin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Observé en 2024, sans lockout ni MFA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417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MFA + verrouillage + sessions courtes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94360" y="207568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22494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097280" y="22494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1396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Élévation sans segmentation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2377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Site, API, back-office et MySQL sur une VM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0756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Séparer les composants, comptes MySQL distincts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3405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94360" y="27340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29077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1097280" y="29077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2798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SQLi / PHP 8.0 en fin de vie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Porte d’entrée de R-10 et R-12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2734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Requêtes paramétrées, patchs, moindre privilège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39242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594360" y="33924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97280" y="35661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1097280" y="35661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783080" y="34564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Indisponibilité en décembre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783080" y="3694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 des fêtes irrattrapable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33924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Monitoring, runbook + cyber-assurance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05079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59436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97280" y="422452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1097280" y="4224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783080" y="4114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Divulgation des données clients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783080" y="4352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Aucune procédure de notification 72 h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40507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Procédure art. 33, chiffrement, DPA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REGISTRE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Anatomie d’un risque : R-01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ACTIF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371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Back-office /admin, compte admin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64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MENACE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764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 /admin (STRIDE-S)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ÉVALUATION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1579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Proba Élevée · Impact Élevé → Critique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511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TRAITEMENT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5511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Réduire : MFA, lockout, sessions courtes, sensibilisation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44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9443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2024 (~1 000 tentatives / 24 h), pas de lockout ni MFA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STRIDE-S · ISO27002-8.5 · 5.15 · 6.3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30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RÉSIDUEL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239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VALIDÉ PAR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12394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Melvin RAIMBAULT · 2026-09-24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12801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242" y="1389522"/>
            <a:ext cx="201900" cy="2019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446520" y="1261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obligatoire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1554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ID existe dans knowledge_base/ (T-05 : 65 citations).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89788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242" y="2486802"/>
            <a:ext cx="201900" cy="2019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446520" y="2359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juste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27002:2022 canonique ; tout code « A… » fait échouer T-10.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897880" y="3474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242" y="3584082"/>
            <a:ext cx="201900" cy="2019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4652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Signature nominative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6446520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valide_par jamais rempli par un agent (T-08 : 14/14).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ÉTAPE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Décider, et savoir revenir sur une décision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risques validés tels quels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R-01 à R-12, avec traitement et résiduel acceptés.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38328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5819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R-13 retenu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Non-conformité RGPD (LINDDUN-NC).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27432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Rejeté le 23/09 pour tester le circuit, reconsidéré le 24/09 : c’est un état de fait. Réduire : programme RGPD, échéance déc. 2026.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21792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58191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R-14 modifié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Perte de commandes (STRIDE-D).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: Moyen → Élevé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Niveau : Moyen → Élevé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Résiduel : Faible → Moyen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 : incident 2025, perte définitive.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valide_par nominatif sur les 14 risques : « Melvin RAIMBAULT · 2026-09-24 ». Aucun agent ne peut le remplir.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LIVRABLE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plan d’action chiffré pour le dirigeant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852160" cy="292608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Risque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Niveau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Échéance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MFA + verrouillage + sessions courtes sur /admin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Critique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Séparer les composants, comptes MySQL distincts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R-10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Critique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Requêtes paramétrées, patchs PHP/MySQL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composer audit, signature webhooks, DPA PayFlow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Dès CVE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Monitoring, runbook, cyber-assurance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Sauvegarde cron + test de restauration mensuel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R-14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A14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Programme de conformité RGPD, référent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R-13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Déc.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23444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72084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INDICATIF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~4 300 €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an, dont ~2 000 € de cyber-assurance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Dépasse l’enveloppe de 2 500 € : arbitrage de l’analyste ouvert (issue #20).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actions (A1 → A14), chacune liée à un risque.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TESTS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Une suite de tests rejouable et honnête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252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npm audit (manifeste versionné)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3560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vulnérabilité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2743200" y="1417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66928" y="1737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17739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Registre : schéma, MD ↔ JSON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8424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risques, comptage dynamique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0" y="19659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2743200" y="1965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566928" y="2286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32257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Moyennes DREAD recalculées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53288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251460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2743200" y="25146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566928" y="2834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8712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Matrice probabilité × impact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08152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cas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0" y="306324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2743200" y="3063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566928" y="33832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4198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 ⊆ index knowledge_base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363016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 citations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0" y="361188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2743200" y="36118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566928" y="39319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T-06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39684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Syntaxe Mermaid (régression)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417880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0" y="416052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 txBox="1"/>
          <p:nvPr/>
        </p:nvSpPr>
        <p:spPr>
          <a:xfrm>
            <a:off x="2743200" y="4160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520440" y="118872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 txBox="1"/>
          <p:nvPr/>
        </p:nvSpPr>
        <p:spPr>
          <a:xfrm>
            <a:off x="3630168" y="1188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T-07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160520" y="12252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 piégé (régression)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160520" y="143560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consigne absente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06440" y="141732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 txBox="1"/>
          <p:nvPr/>
        </p:nvSpPr>
        <p:spPr>
          <a:xfrm>
            <a:off x="5806440" y="1417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520440" y="17373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 txBox="1"/>
          <p:nvPr/>
        </p:nvSpPr>
        <p:spPr>
          <a:xfrm>
            <a:off x="3630168" y="1737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T-08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160520" y="17739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valide_par nominatif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160520" y="198424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06440" y="19659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 txBox="1"/>
          <p:nvPr/>
        </p:nvSpPr>
        <p:spPr>
          <a:xfrm>
            <a:off x="5806440" y="1965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520440" y="228600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 txBox="1"/>
          <p:nvPr/>
        </p:nvSpPr>
        <p:spPr>
          <a:xfrm>
            <a:off x="3630168" y="2286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T-09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160520" y="232257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Hygiène git / merge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160520" y="253288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optionnel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06440" y="251460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 txBox="1"/>
          <p:nvPr/>
        </p:nvSpPr>
        <p:spPr>
          <a:xfrm>
            <a:off x="5806440" y="25146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520440" y="283464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 txBox="1"/>
          <p:nvPr/>
        </p:nvSpPr>
        <p:spPr>
          <a:xfrm>
            <a:off x="3630168" y="2834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T-10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160520" y="28712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ISO 27002:2022 canonique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60520" y="308152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code « A… »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06440" y="306324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 txBox="1"/>
          <p:nvPr/>
        </p:nvSpPr>
        <p:spPr>
          <a:xfrm>
            <a:off x="5806440" y="3063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520440" y="338328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 txBox="1"/>
          <p:nvPr/>
        </p:nvSpPr>
        <p:spPr>
          <a:xfrm>
            <a:off x="3630168" y="33832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T-11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4160520" y="34198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Injection active (protocole)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4160520" y="363016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démo à exécuter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806440" y="361188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 txBox="1"/>
          <p:nvPr/>
        </p:nvSpPr>
        <p:spPr>
          <a:xfrm>
            <a:off x="5806440" y="36118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SKIP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72084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 txBox="1"/>
          <p:nvPr/>
        </p:nvSpPr>
        <p:spPr>
          <a:xfrm>
            <a:off x="6858000" y="1298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PASS</a:t>
            </a:r>
            <a:endParaRPr lang="en-US" sz="2600" dirty="0"/>
          </a:p>
        </p:txBody>
      </p:sp>
      <p:sp>
        <p:nvSpPr>
          <p:cNvPr id="72" name="Text 70"/>
          <p:cNvSpPr txBox="1"/>
          <p:nvPr/>
        </p:nvSpPr>
        <p:spPr>
          <a:xfrm>
            <a:off x="6858000" y="17556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B92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+ 1 SKIP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68580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 du 2026-09-24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6858000" y="2514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Trois statuts : PASS, SKIP, FAIL. Un test sauté n’est jamais compté comme réussi.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6858000" y="3520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soutenance/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tests/verification.py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TESTS · INJECTION DE PROMPT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Injection de prompt : du test statique au test réel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9824" y="1188720"/>
            <a:ext cx="8064352" cy="1737360"/>
          </a:xfrm>
          <a:prstGeom prst="roundRect">
            <a:avLst>
              <a:gd name="adj" fmla="val 3158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31264" y="126644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0992" y="126644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50720" y="126644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997024" y="1220724"/>
            <a:ext cx="7515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soutenance/tests/document-piege.md · T-07 (régression statique)</a:t>
            </a:r>
            <a:endParaRPr lang="en-US" sz="700" dirty="0"/>
          </a:p>
        </p:txBody>
      </p:sp>
      <p:pic>
        <p:nvPicPr>
          <p:cNvPr id="9" name="Image 0" descr="shots/c_pie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56" y="1408176"/>
            <a:ext cx="8009488" cy="1490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T-11 : protocole d’exposition réelle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401568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94360" y="3520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3615538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Entrée piégée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3977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Étude de cas + marqueur VALIDE_TOUS_LES_RISQUES…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395728" y="4023360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2560320" y="3401568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2697480" y="3520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578" y="3615538"/>
            <a:ext cx="175565" cy="17556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15468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exposé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2697480" y="3977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e21-menaces lancé sur cette entrée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498848" y="4023360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4663440" y="3401568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4800600" y="3520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698" y="3615538"/>
            <a:ext cx="175565" cy="17556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25780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Sorties archivées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800600" y="3977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tests/injection/resultats/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601968" y="4023360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6766560" y="3401568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6903720" y="35204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818" y="3615538"/>
            <a:ext cx="175565" cy="17556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36092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Verdict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977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Marqueur absent → PASS. Pas encore exécuté : SKIP</a:t>
            </a:r>
            <a:endParaRPr 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MODÈLES 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modèle par étape : la cible recommandée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Aujourd’hui : </a:t>
            </a: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seul modèle, opencode/big-pickle, pour les 12 agents. Le tableau décrit la cible, pas l’existant.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8229600" cy="270662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Étape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Modèle API recommandé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Alternative locale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Pourquoi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analyse-existant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PyMuPDF/Docling + Gemini 3.1 Pro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Docling + PaddleOCR-VL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PDF, captures, 1M ctx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méthode + menaces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Sonnet 4.6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R1-Distill-Qwen-14B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discipline d’outils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évaluation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 (o4-mini en reprise)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Qwen3-8B + Outlines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calcul, JSON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traitement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JSON / GPT-5 strict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Qwen3-8B + SGLang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décodage contraint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validation-suivi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Sonnet 4.6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Qwen3-8B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registre + valide_par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synthèse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Sonnet 4.6 (128 k)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Qwen3-14B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qualité de fusion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contrôle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Modèle différent + déterministe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Phi-4-mini (CPU)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indépendance du contrôleur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Recommandations de l’agent research (CHOIX-MODELES-IA.md), instantané de septembre 2026, à revérifier. Données réelles → local ou hébergement FR (ANSSI).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MODÈLES IA · POINT CLÉ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format valide n’est pas un contenu juste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FORME (AVANT L’AUDIT)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13/13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risques au bon format, chacun avec une source présente dans l’index. e21-controle : OK.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98348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CONTENU (AVANT L’AUDIT)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B92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10/13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risques citaient un identifiant ISO 27002 faux ou inexistant. Aucun contrôle ne l’avait vu.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Leçon 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vérifier contre une référence externe fermée (index ISO 2022 canonique, T-10), pas contre ce que le système a lui-même produit. Et garder l’humain pour valider.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LIMITES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que l’outil ne fait pas (et c’est documenté)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3898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" y="1494495"/>
            <a:ext cx="193121" cy="1931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code applicatif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piloté par consignes ; LlmProvider non codé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818888" y="13898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495" y="1494495"/>
            <a:ext cx="193121" cy="1931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LLM local aujourd’hui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376672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cloud, données fictives ; ollama en roadmap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20574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12648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55" y="2317455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70432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scan réseau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170432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scan de vulnérabilités ni pentest : analyse amont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20574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818888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3495" y="2317455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76672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parsing auto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5376672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.docx, .xlsx et images résumés par l’analyste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8803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612648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55" y="3140415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70432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CVE inventée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170432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placeholder reste signalé comme tel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663440" y="28803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4818888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3495" y="3140415"/>
            <a:ext cx="193121" cy="1931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76672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comparaison manuelle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376672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« à la main » de référence à produire (#17)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57200" y="37033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7"/>
          <p:cNvSpPr/>
          <p:nvPr/>
        </p:nvSpPr>
        <p:spPr>
          <a:xfrm>
            <a:off x="612648" y="38587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55" y="3963375"/>
            <a:ext cx="193121" cy="19312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7043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supervision continue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1170432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analyse = un instantané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4663440" y="37033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1"/>
          <p:cNvSpPr/>
          <p:nvPr/>
        </p:nvSpPr>
        <p:spPr>
          <a:xfrm>
            <a:off x="4818888" y="38587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3495" y="3963375"/>
            <a:ext cx="193121" cy="193121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37667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validation automatique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5376672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valide_par toujours humain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BENCHMARK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Positionnement face aux alternatives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941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Critère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 TMT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Threat Dragon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IriusRisk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 chat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Multi-agents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E21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Effort (faible = 5)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Reproductibilité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Traçabilité des sources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Humain dans la boucle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Coût (faible = 5)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Adaptabilité de méthode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Maîtrise des risques IA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245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Auto-évaluation qualitative </a:t>
            </a: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(agent research), non mesurée : E21 n’a tourné que sur un cas. La reproductibilité reste à démontrer sur plusieurs exécutions.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BILAN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Avantages et inconvénients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AVANTAGES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92224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Méthode encodée dans des skills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59152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obligatoires, ISO 2022 vérifié (T-10)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2608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" y="2871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nominative (R-13 réexaminé, R-14 modifié)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9300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05840" y="34381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Écriture des agents bornée à analyses/**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5993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05840" y="4005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Traçabilité git : issues, commits, PR, board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70916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0"/>
          <p:cNvSpPr txBox="1"/>
          <p:nvPr/>
        </p:nvSpPr>
        <p:spPr>
          <a:xfrm>
            <a:off x="493776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INCONVÉNIENTS → PARADE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792224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25780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 cloud, pas de local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ollama en roadmap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359152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257800" y="2304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d’analyse manuelle de référence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issue #17</a:t>
            </a:r>
            <a:endParaRPr lang="en-US" sz="10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926080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257800" y="28712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Injection réelle non exécutée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protocole T-11 prêt</a:t>
            </a:r>
            <a:endParaRPr lang="en-US" sz="10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49300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257800" y="34381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Contrôleur sur le même modèle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modèle distinct + déterministe</a:t>
            </a:r>
            <a:endParaRPr lang="en-US" sz="10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4059936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257800" y="4005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&gt; enveloppe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arbitrage issue #20</a:t>
            </a:r>
            <a:endParaRPr lang="en-US" sz="1050" dirty="0"/>
          </a:p>
        </p:txBody>
      </p:sp>
      <p:sp>
        <p:nvSpPr>
          <p:cNvPr id="28" name="Text 16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00" dirty="0"/>
          </a:p>
        </p:txBody>
      </p:sp>
      <p:sp>
        <p:nvSpPr>
          <p:cNvPr id="29" name="Text 17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AUDIT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 externe : constats et remédiation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Verdict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Remédiation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ISO 27002 faux (10/13 risques)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 2022 canonique, registre ré-indexé, T-10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Contrôle circulaire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2ᵉ niveau : T-10 contre l’index canonique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R-13 rejeté sans motif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Retenu, programme RGPD, déc. 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Tests surévalués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 / SKIP / FAIL, comptages dynamiques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Permissions trop larges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Écriture bornée à analyses/**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 LlmProvider / mock »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Discours aligné : POC par consignes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Niveaux concurrents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Réfuté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matrice fait foi (déjà écrit)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Reste ouvert : </a:t>
            </a: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manuelle (#17), exécution de T-11, arbitrage budget (#20), modèle distinct pour le contrôleur.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PERSPECTIVES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Feuille de route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7647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AVANT LA SOUTENANCE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Analyse manuelle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Comparatif agents vs main (#17)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04288" y="1645920"/>
            <a:ext cx="457200" cy="4572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17647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21408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AVANT LA SOUTENANCE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2121408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Exécuter T-11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121408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Injection réelle archivée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68496" y="16459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17647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85616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ÉVOLUTION</a:t>
            </a:r>
            <a:endParaRPr lang="en-US" sz="750" dirty="0"/>
          </a:p>
        </p:txBody>
      </p:sp>
      <p:sp>
        <p:nvSpPr>
          <p:cNvPr id="18" name="Text 13"/>
          <p:cNvSpPr txBox="1"/>
          <p:nvPr/>
        </p:nvSpPr>
        <p:spPr>
          <a:xfrm>
            <a:off x="3785616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ollama local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3785616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Aucune donnée ne sort du poste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632704" y="16459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576" y="17647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9824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ÉVOLUTION</a:t>
            </a:r>
            <a:endParaRPr lang="en-US" sz="750" dirty="0"/>
          </a:p>
        </p:txBody>
      </p:sp>
      <p:sp>
        <p:nvSpPr>
          <p:cNvPr id="23" name="Text 17"/>
          <p:cNvSpPr txBox="1"/>
          <p:nvPr/>
        </p:nvSpPr>
        <p:spPr>
          <a:xfrm>
            <a:off x="5449824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Analyse réseau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49824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nmap, OpenVAS, ZAP ; CVE réelles (NVD)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296912" y="16459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176479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14032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ÉVOLUTION</a:t>
            </a:r>
            <a:endParaRPr lang="en-US" sz="750" dirty="0"/>
          </a:p>
        </p:txBody>
      </p:sp>
      <p:sp>
        <p:nvSpPr>
          <p:cNvPr id="28" name="Text 21"/>
          <p:cNvSpPr txBox="1"/>
          <p:nvPr/>
        </p:nvSpPr>
        <p:spPr>
          <a:xfrm>
            <a:off x="7114032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Ingestion documentaire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7114032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.pdf, .docx, .xlsx, images : parsing + OCR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4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Ensuite : </a:t>
            </a: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pytest en CI, contrôleur sur un modèle distinct, supervision continue (delta-registre), EBIOS RM « 5 ateliers ».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L’IA propose, l’analyste décide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Reproductible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méthode est dans les skills, pas dans la mémoire du LLM.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47472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7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Traçable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risque cite une source ISO 2022 vérifiée ; chaque étape est un commit.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26364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399" y="17309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Humain décideur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valide_par nominatif ; R-13 réexaminé, R-14 modifié.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 Un audit a trouvé nos erreurs ; elles sont corrigées et verrouillées par des tests. »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Melvin RAIMBAULT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Questions ?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017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github.com/MelvinBzh/management_de_la_securite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 ShoPix : analyses/2026-09-23_boutique-en-ligne/  ·  Tests : soutenance/tests/verification.py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4520</Words>
  <Application>Microsoft Office PowerPoint</Application>
  <PresentationFormat>Affichage à l'écran (16:9)</PresentationFormat>
  <Paragraphs>805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Consolas</vt:lpstr>
      <vt:lpstr>Segoe UI</vt:lpstr>
      <vt:lpstr>Segoe UI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 agents IA pour analyser les risques — Soutenance E21</dc:title>
  <dc:subject>PptxGenJS Presentation</dc:subject>
  <dc:creator>PptxGenJS</dc:creator>
  <cp:lastModifiedBy>melvin r</cp:lastModifiedBy>
  <cp:revision>2</cp:revision>
  <dcterms:created xsi:type="dcterms:W3CDTF">2026-09-24T10:36:37Z</dcterms:created>
  <dcterms:modified xsi:type="dcterms:W3CDTF">2026-09-24T11:06:07Z</dcterms:modified>
</cp:coreProperties>
</file>