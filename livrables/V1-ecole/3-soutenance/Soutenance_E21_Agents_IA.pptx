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10"/>
  </p:normalViewPr>
  <p:slideViewPr>
    <p:cSldViewPr snapToGrid="0" snapToObjects="1">
      <p:cViewPr varScale="1">
        <p:scale>
          <a:sx n="72" d="100"/>
          <a:sy n="72" d="100"/>
        </p:scale>
        <p:origin x="1008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319078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Partie 1 — Introduction (0 → 1 min). Présenter le sujet : des agents IA qui assistent un analyste de risques. Message d’entrée : l’IA propose, l’analyste décide (étape 6 mise en évidence).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 (1 min). 8 parties, questions à la fin.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Partie 2 — Contexte &amp; objectif (3 → 5 min). Problématique : méthode exigeante, peu reproductible, coûteuse. Objectif : système multi-agents opencode, méthode 6 étapes, sourcée et traçable, humain décideur.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pilote ShoPix (1 min). TPE, données fictives, RGPD. Chiffres de l’étude de cas. Objectif de l’analyse : justifier un budget sécurité d’environ 2 500 €/an auprès du dirigeant. Les incidents passés servent de preuves pour les probabilités.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Méthode E21 (2 min). Les 6 étapes du sujet (p. 28) + 4 traitements. Chaque étape correspond à un agent de la chaîne. L’étape 6 est la seule où l’humain tranche : elle est mise en valeur.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Partie 3 — Infrastructure (8 → 10 min). L’orchestrateur collecte tout en une passe de questions, lance les 7 agents dans l’ordre ; chaque sortie passe par e21-controle avant d’être poussée sur GitHub. Les skills portent les grilles ; la knowledge_base porte les sources.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Workflow (1 min). Chaque étape de la chaîne produit un commit poussé ; PR #10 ferme l’issue #9. Après l’audit externe, les corrections ont suivi le même circuit : issues #15 à #20, PR #21, #22 et #24.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Permissions et exécution réelle (2 min). Corrigé après l’audit : écriture bornée à analyses/**, contrôleur en lecture seule. Le POC est piloté par consignes : il n’y a pas de LlmProvider ni de mode mock codés. Le modèle réellement utilisé est opencode/big-pickle, hébergé : c’est acceptable parce que les données sont fictives ; en production, ollama local ou hébergement FR (ANSSI).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Partie 4 — Agents (13 → 15 min). Vue d’ensemble du dossier .opencode/agents. Préambule commun : format imposé, source obligatoire, entrée = donnée non fiable, aucun pouvoir d’exécution.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e21-controle (2 min). Contrôle de fond, sources, les 6 risques IA et le format ; REJET = étape rejouée. Honnêteté : le contrôle était circulaire, il a validé des ID ISO faux. Correction : index ISO 2022 canonique + invariant T-10. e21-controle est désormais en lecture seule.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Partie 5 — Skills (19 → 23 min). Skills métier (format, méthode, garde-fous) et skills framework. Bascule de méthode : STRIDE par défaut, LINDDUN si RGPD, EBIOS RM pour OIV/administration, PASTA pour la vision métier. Pour ShoPix : STRIDE + LINDDUN + DREAD (CVSS en attente de la CVE réelle).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Partie 6 — Démo (23 min). Premier livrable : description du système. Point clé : tout est sur une seule VM mutualisée, sans segmentation. Cette frontière explique le risque critique R-10.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Résultats de la chaîne (1 min). 14 menaces → 14 risques validés : 2 critiques, 11 élevés, 1 moyen. R-13 (non-conformité RGPD) a été rejeté lors d’un essai du circuit puis retenu le 24/09 : c’est un état de fait.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Évaluation (1 min). T-04 vérifie automatiquement les 42 cas de la matrice ; T-03 recalcule les 14 moyennes DREAD. Réponse aux questions de l’audit : R-10 peut être plus probable que R-04 car il agrège trois points d’entrée ; R-12 n’est pas cumulé avec R-04/R-08/R-10.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5 (issu de SYNTHESE.md). Chaque recommandation est liée à un ID du registre : c’est le « pourquoi » exigé. Échéance des actions critiques : novembre 2026, avant le pic des fêtes.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Exemple de risque complet (2 min). Avant l’audit, R-01 citait A8.5.2, A6.2 et A7.2, qui sont faux ou inexistants en 2022. Il cite maintenant 8.5 (authentification), 5.15 (contrôle d’accès) et 6.3 (sensibilisation).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Validation humaine (1 min). L’audit a jugé le rejet de R-13 contraire au cours : on ne rejette pas un fait, on le traite ou on l’accepte formellement. Le rejet était un essai du circuit ; il est reconsidéré et tracé dans 06-validation.md.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Recommandations (SYNTHESE.md). Le budget corrigé inclut la cyber-assurance (~2 000 €) : il dépasse l’enveloppe. C’est une décision à arbitrer (assurance, ou rester sous l’enveloppe avec un résiduel plus fort à Noël), pas une erreur.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Partie 7 — Tests (28 → 31 min). Suite refondue après l’audit : plus de SKIP compté PASS, plus de « 13 » en dur, manifeste npm versionné, gh optionnel, T-10 invariant ISO. T-11 reste SKIP tant que la démo d’injection réelle n’a pas été exécutée et archivée. Reste à faire : l’analyse manuelle de référence (issue #17).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Injection (1 min). L’audit avait raison : T-07 ne donne jamais le document piégé à un agent, il ne prouve pas la résistance. T-11 expose réellement un agent de la chaîne ; tant que l’exécution n’est pas archivée, il reste SKIP. Si possible, l’exécuter en direct pendant la soutenance.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Choix des modèles (32 → 35 min). Être clair : ce routeur est une recommandation, le POC tourne sur un seul modèle. Point ouvert de l’audit : e21-controle utilise le même modèle que les agents qu’il contrôle ; la cible est un modèle différent + contrôles déterministes.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clé (1 min). Notre propre audit en est la preuve : format parfait, contrôles OK, et pourtant des références fausses. D’où le contrôle de deuxième niveau déterministe (T-10) et la validation humaine.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Partie 9 — Limites (37 → 40 min). Assumer le périmètre : POC, analyse amont. La comparaison avec une analyse manuelle (item 4 de la checklist) n’est pas encore faite : le dire avant qu’on le demande.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Benchmark (40 → 42 min). Présenter la grille comme un positionnement argumenté, pas une mesure. Avoir la réponse prête : « 5/5 en reproductibilité » signifie que la méthode est encodée dans les skills, pas qu’on l’a mesuré sur N exécutions.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Avantages / inconvénients (1 min). Chaque inconvénient a une parade ou une issue ouverte.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Audit (1 min). Un auditeur externe a évalué le dépôt le 24/09. Présenter la remédiation plutôt que se défendre : chaque constat confirmé a été corrigé par une issue, une branche et une PR, et verrouillé par un test quand c’est possible. Être clair sur ce qui reste ouvert.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Partie 11 — Perspectives (43 → 44 min). Deux chantiers courts avant la soutenance (analyse manuelle, T-11), puis les évolutions : local, réseau, documents.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Conclusion (1 min). Reproductibilité par les skills, sources vérifiées contre une référence externe, humain nominatif. Montrer que l’audit a servi à améliorer l’approche.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 (45 min →). Documents d’appui : CHOIX-MODELES-IA.md, AUDIT-SYSTEME.md, BENCHMARK.md, TESTS.md.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10" Type="http://schemas.openxmlformats.org/officeDocument/2006/relationships/image" Target="../media/image35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PROJET E21 · MANAGEMENT DE LA SÉCURITÉ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8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 agents IA pour analyser les risques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8892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système multi-agents opencode qui applique la méthode E21 : chaque risque est sourcé, chaque étape contrôlée, chaque décision prise par l’analyste.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931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Melvin RAIMBAULT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251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Soutenance · M2 Cybersécurité · Septembre 2026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172200" y="868680"/>
            <a:ext cx="0" cy="3291840"/>
          </a:xfrm>
          <a:prstGeom prst="line">
            <a:avLst/>
          </a:prstGeom>
          <a:noFill/>
          <a:ln w="25400">
            <a:solidFill>
              <a:srgbClr val="2A3A5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Shape 6"/>
          <p:cNvSpPr/>
          <p:nvPr/>
        </p:nvSpPr>
        <p:spPr>
          <a:xfrm>
            <a:off x="5989320" y="685800"/>
            <a:ext cx="365760" cy="365760"/>
          </a:xfrm>
          <a:prstGeom prst="ellipse">
            <a:avLst/>
          </a:prstGeom>
          <a:solidFill>
            <a:srgbClr val="131D31"/>
          </a:solidFill>
          <a:ln w="15875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 txBox="1"/>
          <p:nvPr/>
        </p:nvSpPr>
        <p:spPr>
          <a:xfrm>
            <a:off x="5989320" y="685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DD4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6858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Existant &amp; actifs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89320" y="1234440"/>
            <a:ext cx="365760" cy="365760"/>
          </a:xfrm>
          <a:prstGeom prst="ellipse">
            <a:avLst/>
          </a:prstGeom>
          <a:solidFill>
            <a:srgbClr val="131D31"/>
          </a:solidFill>
          <a:ln w="15875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 txBox="1"/>
          <p:nvPr/>
        </p:nvSpPr>
        <p:spPr>
          <a:xfrm>
            <a:off x="5989320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DD4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492240" y="1234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Choix de méthode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89320" y="1783080"/>
            <a:ext cx="365760" cy="365760"/>
          </a:xfrm>
          <a:prstGeom prst="ellipse">
            <a:avLst/>
          </a:prstGeom>
          <a:solidFill>
            <a:srgbClr val="131D31"/>
          </a:solidFill>
          <a:ln w="15875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 txBox="1"/>
          <p:nvPr/>
        </p:nvSpPr>
        <p:spPr>
          <a:xfrm>
            <a:off x="5989320" y="1783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DD4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17830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Menaces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989320" y="2331720"/>
            <a:ext cx="365760" cy="365760"/>
          </a:xfrm>
          <a:prstGeom prst="ellipse">
            <a:avLst/>
          </a:prstGeom>
          <a:solidFill>
            <a:srgbClr val="131D31"/>
          </a:solidFill>
          <a:ln w="15875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 txBox="1"/>
          <p:nvPr/>
        </p:nvSpPr>
        <p:spPr>
          <a:xfrm>
            <a:off x="5989320" y="2331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DD4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23317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Évaluation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989320" y="2880360"/>
            <a:ext cx="365760" cy="365760"/>
          </a:xfrm>
          <a:prstGeom prst="ellipse">
            <a:avLst/>
          </a:prstGeom>
          <a:solidFill>
            <a:srgbClr val="131D31"/>
          </a:solidFill>
          <a:ln w="15875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 txBox="1"/>
          <p:nvPr/>
        </p:nvSpPr>
        <p:spPr>
          <a:xfrm>
            <a:off x="5989320" y="2880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DD4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492240" y="2880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Traitement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989320" y="3429000"/>
            <a:ext cx="365760" cy="365760"/>
          </a:xfrm>
          <a:prstGeom prst="ellipse">
            <a:avLst/>
          </a:prstGeom>
          <a:solidFill>
            <a:srgbClr val="2DD4BF"/>
          </a:solidFill>
          <a:ln w="15875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 txBox="1"/>
          <p:nvPr/>
        </p:nvSpPr>
        <p:spPr>
          <a:xfrm>
            <a:off x="598932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B122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492240" y="34290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D4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Validation humaine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989320" y="3977640"/>
            <a:ext cx="365760" cy="365760"/>
          </a:xfrm>
          <a:prstGeom prst="ellipse">
            <a:avLst/>
          </a:prstGeom>
          <a:solidFill>
            <a:srgbClr val="131D31"/>
          </a:solidFill>
          <a:ln w="15875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Text 25"/>
          <p:cNvSpPr txBox="1"/>
          <p:nvPr/>
        </p:nvSpPr>
        <p:spPr>
          <a:xfrm>
            <a:off x="5989320" y="3977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DD4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3977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Synthèse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Déroulé de la soutenance (45 min)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023360" cy="713232"/>
          </a:xfrm>
          <a:prstGeom prst="roundRect">
            <a:avLst>
              <a:gd name="adj" fmla="val 10256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 txBox="1"/>
          <p:nvPr/>
        </p:nvSpPr>
        <p:spPr>
          <a:xfrm>
            <a:off x="640080" y="1280160"/>
            <a:ext cx="548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D948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3898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Contexte &amp; objectif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664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Problématique, cas pilote ShoPix, méthode E21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1280160"/>
            <a:ext cx="777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→ 8 min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663440" y="1280160"/>
            <a:ext cx="4023360" cy="713232"/>
          </a:xfrm>
          <a:prstGeom prst="roundRect">
            <a:avLst>
              <a:gd name="adj" fmla="val 10256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 txBox="1"/>
          <p:nvPr/>
        </p:nvSpPr>
        <p:spPr>
          <a:xfrm>
            <a:off x="4846320" y="1280160"/>
            <a:ext cx="548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D948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40680" y="13898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Infrastructure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40680" y="1664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Architecture, workflow GitHub, permissions, LLM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0" y="1280160"/>
            <a:ext cx="777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→ 13 min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57200" y="2121408"/>
            <a:ext cx="4023360" cy="713232"/>
          </a:xfrm>
          <a:prstGeom prst="roundRect">
            <a:avLst>
              <a:gd name="adj" fmla="val 10256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 txBox="1"/>
          <p:nvPr/>
        </p:nvSpPr>
        <p:spPr>
          <a:xfrm>
            <a:off x="640080" y="2121408"/>
            <a:ext cx="548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D948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223113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Agents &amp; skills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50545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agents, contrôle, bascule de méthode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3566160" y="2121408"/>
            <a:ext cx="777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→ 23 min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663440" y="2121408"/>
            <a:ext cx="4023360" cy="713232"/>
          </a:xfrm>
          <a:prstGeom prst="roundRect">
            <a:avLst>
              <a:gd name="adj" fmla="val 10256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 txBox="1"/>
          <p:nvPr/>
        </p:nvSpPr>
        <p:spPr>
          <a:xfrm>
            <a:off x="4846320" y="2121408"/>
            <a:ext cx="548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D948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5440680" y="223113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Démo : cas ShoPix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440680" y="250545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Registre, matrice, validation humaine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7772400" y="2121408"/>
            <a:ext cx="777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 → 28 min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57200" y="2962656"/>
            <a:ext cx="4023360" cy="713232"/>
          </a:xfrm>
          <a:prstGeom prst="roundRect">
            <a:avLst>
              <a:gd name="adj" fmla="val 10256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 txBox="1"/>
          <p:nvPr/>
        </p:nvSpPr>
        <p:spPr>
          <a:xfrm>
            <a:off x="640080" y="2962656"/>
            <a:ext cx="548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D948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1234440" y="30723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Tests effectués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33467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T-01 → T-10, document piégé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3566160" y="2962656"/>
            <a:ext cx="777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 → 32 min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663440" y="2962656"/>
            <a:ext cx="4023360" cy="713232"/>
          </a:xfrm>
          <a:prstGeom prst="roundRect">
            <a:avLst>
              <a:gd name="adj" fmla="val 10256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8"/>
          <p:cNvSpPr txBox="1"/>
          <p:nvPr/>
        </p:nvSpPr>
        <p:spPr>
          <a:xfrm>
            <a:off x="4846320" y="2962656"/>
            <a:ext cx="548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D948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</a:t>
            </a:r>
            <a:endParaRPr lang="en-US" sz="2200" dirty="0"/>
          </a:p>
        </p:txBody>
      </p:sp>
      <p:sp>
        <p:nvSpPr>
          <p:cNvPr id="31" name="Text 29"/>
          <p:cNvSpPr txBox="1"/>
          <p:nvPr/>
        </p:nvSpPr>
        <p:spPr>
          <a:xfrm>
            <a:off x="5440680" y="30723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Choix des modèles IA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5440680" y="33467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modèle par étape, JSON ≠ valeurs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7772400" y="2962656"/>
            <a:ext cx="777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 → 37 min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57200" y="3803904"/>
            <a:ext cx="4023360" cy="713232"/>
          </a:xfrm>
          <a:prstGeom prst="roundRect">
            <a:avLst>
              <a:gd name="adj" fmla="val 10256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Text 33"/>
          <p:cNvSpPr txBox="1"/>
          <p:nvPr/>
        </p:nvSpPr>
        <p:spPr>
          <a:xfrm>
            <a:off x="640080" y="3803904"/>
            <a:ext cx="548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D948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07</a:t>
            </a:r>
            <a:endParaRPr lang="en-US" sz="2200" dirty="0"/>
          </a:p>
        </p:txBody>
      </p:sp>
      <p:sp>
        <p:nvSpPr>
          <p:cNvPr id="36" name="Text 34"/>
          <p:cNvSpPr txBox="1"/>
          <p:nvPr/>
        </p:nvSpPr>
        <p:spPr>
          <a:xfrm>
            <a:off x="1234440" y="39136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Limites &amp; benchmark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1234440" y="41879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 que l’outil ne fait pas, comparatif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3566160" y="3803904"/>
            <a:ext cx="777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37 → 43 min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4663440" y="3803904"/>
            <a:ext cx="4023360" cy="713232"/>
          </a:xfrm>
          <a:prstGeom prst="roundRect">
            <a:avLst>
              <a:gd name="adj" fmla="val 10256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" name="Text 38"/>
          <p:cNvSpPr txBox="1"/>
          <p:nvPr/>
        </p:nvSpPr>
        <p:spPr>
          <a:xfrm>
            <a:off x="4846320" y="3803904"/>
            <a:ext cx="548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D948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08</a:t>
            </a:r>
            <a:endParaRPr lang="en-US" sz="2200" dirty="0"/>
          </a:p>
        </p:txBody>
      </p:sp>
      <p:sp>
        <p:nvSpPr>
          <p:cNvPr id="41" name="Text 39"/>
          <p:cNvSpPr txBox="1"/>
          <p:nvPr/>
        </p:nvSpPr>
        <p:spPr>
          <a:xfrm>
            <a:off x="5440680" y="39136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Audit &amp; remédiation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5440680" y="41879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Constats, corrections, feuille de route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7772400" y="3803904"/>
            <a:ext cx="777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 → 45 min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8321040" y="48006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00" dirty="0"/>
          </a:p>
        </p:txBody>
      </p:sp>
      <p:sp>
        <p:nvSpPr>
          <p:cNvPr id="45" name="Text 43"/>
          <p:cNvSpPr txBox="1"/>
          <p:nvPr/>
        </p:nvSpPr>
        <p:spPr>
          <a:xfrm>
            <a:off x="457200" y="48006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E21 · Agents IA &amp; analyse de risques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· CONTEXTE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Pourquoi des agents pour l’analyse de risques 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931920" cy="932688"/>
          </a:xfrm>
          <a:prstGeom prst="roundRect">
            <a:avLst>
              <a:gd name="adj" fmla="val 7843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640080" y="1536192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442" y="1645554"/>
            <a:ext cx="201900" cy="2019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34440" y="143560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Méthode exigeante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234440" y="17099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Six étapes, plusieurs grilles (STRIDE, EBIOS RM…), une source par affirmation.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57200" y="2359152"/>
            <a:ext cx="3931920" cy="932688"/>
          </a:xfrm>
          <a:prstGeom prst="roundRect">
            <a:avLst>
              <a:gd name="adj" fmla="val 7843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Shape 7"/>
          <p:cNvSpPr/>
          <p:nvPr/>
        </p:nvSpPr>
        <p:spPr>
          <a:xfrm>
            <a:off x="640080" y="2615184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442" y="2724546"/>
            <a:ext cx="201900" cy="2019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234440" y="25146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Peu reproductible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1234440" y="27889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Deux analystes, deux registres différents : la grille dépend de l’expert.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57200" y="3438144"/>
            <a:ext cx="3931920" cy="932688"/>
          </a:xfrm>
          <a:prstGeom prst="roundRect">
            <a:avLst>
              <a:gd name="adj" fmla="val 7843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Shape 11"/>
          <p:cNvSpPr/>
          <p:nvPr/>
        </p:nvSpPr>
        <p:spPr>
          <a:xfrm>
            <a:off x="640080" y="3694176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442" y="3803538"/>
            <a:ext cx="201900" cy="2019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234440" y="359359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Coûteuse</a:t>
            </a:r>
            <a:endParaRPr 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1234440" y="386791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Temps d’expert rare ; une TPE n’a ni équipe sécurité ni budget d’audit.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4663440" y="1280160"/>
            <a:ext cx="4023360" cy="3090672"/>
          </a:xfrm>
          <a:prstGeom prst="roundRect">
            <a:avLst>
              <a:gd name="adj" fmla="val 2367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5"/>
          <p:cNvSpPr txBox="1"/>
          <p:nvPr/>
        </p:nvSpPr>
        <p:spPr>
          <a:xfrm>
            <a:off x="4937760" y="1481328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OBJECTIF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4937760" y="1783080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 POC multi-agents piloté par consignes, dans opencode, qui applique la méthode E21 en 6 étapes.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4937760" y="2880360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1C2942"/>
          </a:solidFill>
          <a:ln w="12700">
            <a:solidFill>
              <a:srgbClr val="1C294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3348" y="2965948"/>
            <a:ext cx="158008" cy="158008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5394960" y="288036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Reproductible</a:t>
            </a: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grilles encodées dans des skills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937760" y="3337560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1C2942"/>
          </a:solidFill>
          <a:ln w="12700">
            <a:solidFill>
              <a:srgbClr val="1C294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3348" y="3423148"/>
            <a:ext cx="158008" cy="158008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394960" y="333756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Traçable</a:t>
            </a: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sources à ID stable + git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4937760" y="3794760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1C2942"/>
          </a:solidFill>
          <a:ln w="12700">
            <a:solidFill>
              <a:srgbClr val="1C294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29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23348" y="3880348"/>
            <a:ext cx="158008" cy="158008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5394960" y="379476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Humain décideur</a:t>
            </a: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valide_par toujours humain</a:t>
            </a:r>
            <a:endParaRPr lang="en-US" sz="1100" dirty="0"/>
          </a:p>
        </p:txBody>
      </p:sp>
      <p:sp>
        <p:nvSpPr>
          <p:cNvPr id="31" name="Text 23"/>
          <p:cNvSpPr txBox="1"/>
          <p:nvPr/>
        </p:nvSpPr>
        <p:spPr>
          <a:xfrm>
            <a:off x="8321040" y="48006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00" dirty="0"/>
          </a:p>
        </p:txBody>
      </p:sp>
      <p:sp>
        <p:nvSpPr>
          <p:cNvPr id="32" name="Text 24"/>
          <p:cNvSpPr txBox="1"/>
          <p:nvPr/>
        </p:nvSpPr>
        <p:spPr>
          <a:xfrm>
            <a:off x="457200" y="48006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E21 · Agents IA &amp; analyse de risques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· CAS PILOTE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ShoPix : une TPE e-commerce comme terrain de test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1874520" cy="1097280"/>
          </a:xfrm>
          <a:prstGeom prst="roundRect">
            <a:avLst>
              <a:gd name="adj" fmla="val 6667"/>
            </a:avLst>
          </a:prstGeom>
          <a:solidFill>
            <a:srgbClr val="E6F7F4"/>
          </a:solidFill>
          <a:ln w="12700">
            <a:solidFill>
              <a:srgbClr val="E6F7F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 txBox="1"/>
          <p:nvPr/>
        </p:nvSpPr>
        <p:spPr>
          <a:xfrm>
            <a:off x="640080" y="141732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dirty="0">
                <a:solidFill>
                  <a:srgbClr val="0D948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15 k€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3852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 par trimestre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468880" y="1280160"/>
            <a:ext cx="1874520" cy="1097280"/>
          </a:xfrm>
          <a:prstGeom prst="roundRect">
            <a:avLst>
              <a:gd name="adj" fmla="val 6667"/>
            </a:avLst>
          </a:prstGeom>
          <a:solidFill>
            <a:srgbClr val="E6F7F4"/>
          </a:solidFill>
          <a:ln w="12700">
            <a:solidFill>
              <a:srgbClr val="E6F7F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 txBox="1"/>
          <p:nvPr/>
        </p:nvSpPr>
        <p:spPr>
          <a:xfrm>
            <a:off x="2651760" y="141732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dirty="0">
                <a:solidFill>
                  <a:srgbClr val="0D948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60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2651760" y="193852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commandes / semaine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514600"/>
            <a:ext cx="1874520" cy="1097280"/>
          </a:xfrm>
          <a:prstGeom prst="roundRect">
            <a:avLst>
              <a:gd name="adj" fmla="val 6667"/>
            </a:avLst>
          </a:prstGeom>
          <a:solidFill>
            <a:srgbClr val="E6F7F4"/>
          </a:solidFill>
          <a:ln w="12700">
            <a:solidFill>
              <a:srgbClr val="E6F7F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 txBox="1"/>
          <p:nvPr/>
        </p:nvSpPr>
        <p:spPr>
          <a:xfrm>
            <a:off x="640080" y="26517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dirty="0">
                <a:solidFill>
                  <a:srgbClr val="0D948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×3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17296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pic nov.–déc.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468880" y="2514600"/>
            <a:ext cx="1874520" cy="1097280"/>
          </a:xfrm>
          <a:prstGeom prst="roundRect">
            <a:avLst>
              <a:gd name="adj" fmla="val 6667"/>
            </a:avLst>
          </a:prstGeom>
          <a:solidFill>
            <a:srgbClr val="E6F7F4"/>
          </a:solidFill>
          <a:ln w="12700">
            <a:solidFill>
              <a:srgbClr val="E6F7F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 txBox="1"/>
          <p:nvPr/>
        </p:nvSpPr>
        <p:spPr>
          <a:xfrm>
            <a:off x="2651760" y="26517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dirty="0">
                <a:solidFill>
                  <a:srgbClr val="0D948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2 500 €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2651760" y="317296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budget sécurité / an à justifier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840480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Données fictives de l’étude de cas · RGPD applicable (clients européens)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4617720" y="12344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 SI fragile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617720" y="1554480"/>
            <a:ext cx="4023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PHP 8.0 et MySQL en fin de vie, hébergeur mutualisé : site, API, back-office et base sur une seule VM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seul compte MySQL « shopix » avec tous les droits, sans WAF ni monitoring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 « Mélanie » : mot de passe simple, pas de MFA, sessions de 30 jours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617720" y="28346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Incidents déjà vécus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4617720" y="3191256"/>
            <a:ext cx="548640" cy="219456"/>
          </a:xfrm>
          <a:prstGeom prst="roundRect">
            <a:avLst>
              <a:gd name="adj" fmla="val 50000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 txBox="1"/>
          <p:nvPr/>
        </p:nvSpPr>
        <p:spPr>
          <a:xfrm>
            <a:off x="4617720" y="3191256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26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2023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5303520" y="31546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Clé MailJet volée : 2 jours de spam au nom de la boutique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617720" y="3621024"/>
            <a:ext cx="548640" cy="219456"/>
          </a:xfrm>
          <a:prstGeom prst="roundRect">
            <a:avLst>
              <a:gd name="adj" fmla="val 50000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 txBox="1"/>
          <p:nvPr/>
        </p:nvSpPr>
        <p:spPr>
          <a:xfrm>
            <a:off x="4617720" y="362102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26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2024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5303520" y="358444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~1 000 tentatives/24 h sur /admin ; clé PayFlow exposée 1 mois sur GitHub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617720" y="4050792"/>
            <a:ext cx="548640" cy="219456"/>
          </a:xfrm>
          <a:prstGeom prst="roundRect">
            <a:avLst>
              <a:gd name="adj" fmla="val 50000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Text 25"/>
          <p:cNvSpPr txBox="1"/>
          <p:nvPr/>
        </p:nvSpPr>
        <p:spPr>
          <a:xfrm>
            <a:off x="4617720" y="4050792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26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2025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5303520" y="4014216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Sauvegarde manuelle oubliée : 2 jours de commandes perdus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8321040" y="48006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8006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E21 · Agents IA &amp; analyse de risques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· MÉTHODE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 méthode E21 : 6 étapes, 4 traitements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298448" cy="1600200"/>
          </a:xfrm>
          <a:prstGeom prst="roundRect">
            <a:avLst>
              <a:gd name="adj" fmla="val 5634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 txBox="1"/>
          <p:nvPr/>
        </p:nvSpPr>
        <p:spPr>
          <a:xfrm>
            <a:off x="594360" y="14356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dirty="0">
                <a:solidFill>
                  <a:srgbClr val="0D948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984248"/>
            <a:ext cx="1069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Décrire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286000"/>
            <a:ext cx="1069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DFD + frontières de confiance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1847088" y="1325880"/>
            <a:ext cx="1298448" cy="1600200"/>
          </a:xfrm>
          <a:prstGeom prst="roundRect">
            <a:avLst>
              <a:gd name="adj" fmla="val 5634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 txBox="1"/>
          <p:nvPr/>
        </p:nvSpPr>
        <p:spPr>
          <a:xfrm>
            <a:off x="1984248" y="14356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dirty="0">
                <a:solidFill>
                  <a:srgbClr val="0D948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984248" y="1984248"/>
            <a:ext cx="1069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Identifier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984248" y="2286000"/>
            <a:ext cx="1069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STRIDE + LINDDUN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236976" y="1325880"/>
            <a:ext cx="1298448" cy="1600200"/>
          </a:xfrm>
          <a:prstGeom prst="roundRect">
            <a:avLst>
              <a:gd name="adj" fmla="val 5634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 txBox="1"/>
          <p:nvPr/>
        </p:nvSpPr>
        <p:spPr>
          <a:xfrm>
            <a:off x="3374136" y="14356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dirty="0">
                <a:solidFill>
                  <a:srgbClr val="0D948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3374136" y="1984248"/>
            <a:ext cx="1069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Détailler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374136" y="2286000"/>
            <a:ext cx="1069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MITRE ATT&amp;CK, CVE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626864" y="1325880"/>
            <a:ext cx="1298448" cy="1600200"/>
          </a:xfrm>
          <a:prstGeom prst="roundRect">
            <a:avLst>
              <a:gd name="adj" fmla="val 5634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 txBox="1"/>
          <p:nvPr/>
        </p:nvSpPr>
        <p:spPr>
          <a:xfrm>
            <a:off x="4764024" y="14356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dirty="0">
                <a:solidFill>
                  <a:srgbClr val="0D948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4764024" y="1984248"/>
            <a:ext cx="1069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Prioriser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764024" y="2286000"/>
            <a:ext cx="1069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Proba × impact, DREAD, CVSS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016752" y="1325880"/>
            <a:ext cx="1298448" cy="1600200"/>
          </a:xfrm>
          <a:prstGeom prst="roundRect">
            <a:avLst>
              <a:gd name="adj" fmla="val 5634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 txBox="1"/>
          <p:nvPr/>
        </p:nvSpPr>
        <p:spPr>
          <a:xfrm>
            <a:off x="6153912" y="14356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dirty="0">
                <a:solidFill>
                  <a:srgbClr val="0D948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6153912" y="1984248"/>
            <a:ext cx="1069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Traiter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153912" y="2286000"/>
            <a:ext cx="1069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Contre-mesures sourcées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7406640" y="1325880"/>
            <a:ext cx="1298448" cy="1600200"/>
          </a:xfrm>
          <a:prstGeom prst="roundRect">
            <a:avLst>
              <a:gd name="adj" fmla="val 5634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 txBox="1"/>
          <p:nvPr/>
        </p:nvSpPr>
        <p:spPr>
          <a:xfrm>
            <a:off x="7543800" y="14356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dirty="0">
                <a:solidFill>
                  <a:srgbClr val="2DD4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7543800" y="1984248"/>
            <a:ext cx="1069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Valider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543800" y="2286000"/>
            <a:ext cx="1069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Humain : valide_par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3200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Réponse à chaque risque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57200" y="3547872"/>
            <a:ext cx="1965960" cy="566928"/>
          </a:xfrm>
          <a:prstGeom prst="roundRect">
            <a:avLst>
              <a:gd name="adj" fmla="val 12903"/>
            </a:avLst>
          </a:prstGeom>
          <a:solidFill>
            <a:srgbClr val="E6F7F4"/>
          </a:solidFill>
          <a:ln w="12700">
            <a:solidFill>
              <a:srgbClr val="E6F7F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8"/>
          <p:cNvSpPr txBox="1"/>
          <p:nvPr/>
        </p:nvSpPr>
        <p:spPr>
          <a:xfrm>
            <a:off x="621792" y="3593592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948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Réduire</a:t>
            </a:r>
            <a:endParaRPr lang="en-US" sz="1200" dirty="0"/>
          </a:p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contre-mesures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532888" y="3547872"/>
            <a:ext cx="1965960" cy="566928"/>
          </a:xfrm>
          <a:prstGeom prst="roundRect">
            <a:avLst>
              <a:gd name="adj" fmla="val 12903"/>
            </a:avLst>
          </a:prstGeom>
          <a:solidFill>
            <a:srgbClr val="E6F7F4"/>
          </a:solidFill>
          <a:ln w="12700">
            <a:solidFill>
              <a:srgbClr val="E6F7F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30"/>
          <p:cNvSpPr txBox="1"/>
          <p:nvPr/>
        </p:nvSpPr>
        <p:spPr>
          <a:xfrm>
            <a:off x="2697480" y="3593592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948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Transférer</a:t>
            </a:r>
            <a:endParaRPr lang="en-US" sz="1200" dirty="0"/>
          </a:p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assurance, contrat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608576" y="3547872"/>
            <a:ext cx="1965960" cy="566928"/>
          </a:xfrm>
          <a:prstGeom prst="roundRect">
            <a:avLst>
              <a:gd name="adj" fmla="val 12903"/>
            </a:avLst>
          </a:prstGeom>
          <a:solidFill>
            <a:srgbClr val="E6F7F4"/>
          </a:solidFill>
          <a:ln w="12700">
            <a:solidFill>
              <a:srgbClr val="E6F7F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2"/>
          <p:cNvSpPr txBox="1"/>
          <p:nvPr/>
        </p:nvSpPr>
        <p:spPr>
          <a:xfrm>
            <a:off x="4773168" y="3593592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948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Éviter</a:t>
            </a:r>
            <a:endParaRPr lang="en-US" sz="1200" dirty="0"/>
          </a:p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supprimer l’activité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684264" y="3547872"/>
            <a:ext cx="1965960" cy="566928"/>
          </a:xfrm>
          <a:prstGeom prst="roundRect">
            <a:avLst>
              <a:gd name="adj" fmla="val 12903"/>
            </a:avLst>
          </a:prstGeom>
          <a:solidFill>
            <a:srgbClr val="E6F7F4"/>
          </a:solidFill>
          <a:ln w="12700">
            <a:solidFill>
              <a:srgbClr val="E6F7F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Text 34"/>
          <p:cNvSpPr txBox="1"/>
          <p:nvPr/>
        </p:nvSpPr>
        <p:spPr>
          <a:xfrm>
            <a:off x="6848856" y="3593592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948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Accepter</a:t>
            </a:r>
            <a:endParaRPr lang="en-US" sz="1200" dirty="0"/>
          </a:p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décision écrite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Aucun risque n’est ignoré sans décision écrite ; le risque résiduel est toujours estimé.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8321040" y="48006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00" dirty="0"/>
          </a:p>
        </p:txBody>
      </p:sp>
      <p:sp>
        <p:nvSpPr>
          <p:cNvPr id="39" name="Text 37"/>
          <p:cNvSpPr txBox="1"/>
          <p:nvPr/>
        </p:nvSpPr>
        <p:spPr>
          <a:xfrm>
            <a:off x="457200" y="48006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E21 · Agents IA &amp; analyse de risques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· INFRASTRUCTURE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Architecture : un orchestrateur, une chaîne, un contrôleur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2057400"/>
            <a:ext cx="1097280" cy="868680"/>
          </a:xfrm>
          <a:prstGeom prst="roundRect">
            <a:avLst>
              <a:gd name="adj" fmla="val 8421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795528" y="2130552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C2942"/>
          </a:solidFill>
          <a:ln w="12700">
            <a:solidFill>
              <a:srgbClr val="1C294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80" y="2230404"/>
            <a:ext cx="184343" cy="18434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2560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Analyste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1572768" y="2487168"/>
            <a:ext cx="274320" cy="0"/>
          </a:xfrm>
          <a:prstGeom prst="line">
            <a:avLst/>
          </a:prstGeom>
          <a:noFill/>
          <a:ln w="15875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6"/>
          <p:cNvSpPr/>
          <p:nvPr/>
        </p:nvSpPr>
        <p:spPr>
          <a:xfrm>
            <a:off x="1874520" y="2057400"/>
            <a:ext cx="1143000" cy="868680"/>
          </a:xfrm>
          <a:prstGeom prst="roundRect">
            <a:avLst>
              <a:gd name="adj" fmla="val 8421"/>
            </a:avLst>
          </a:prstGeom>
          <a:solidFill>
            <a:srgbClr val="E6F7F4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Shape 7"/>
          <p:cNvSpPr/>
          <p:nvPr/>
        </p:nvSpPr>
        <p:spPr>
          <a:xfrm>
            <a:off x="2258568" y="2130552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58420" y="2230404"/>
            <a:ext cx="184343" cy="18434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874520" y="25603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D948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Orchestrateur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3035808" y="2487168"/>
            <a:ext cx="228600" cy="0"/>
          </a:xfrm>
          <a:prstGeom prst="line">
            <a:avLst/>
          </a:prstGeom>
          <a:noFill/>
          <a:ln w="15875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14" name="Shape 10"/>
          <p:cNvSpPr/>
          <p:nvPr/>
        </p:nvSpPr>
        <p:spPr>
          <a:xfrm>
            <a:off x="3291840" y="1325880"/>
            <a:ext cx="5394960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1"/>
          <p:cNvSpPr txBox="1"/>
          <p:nvPr/>
        </p:nvSpPr>
        <p:spPr>
          <a:xfrm>
            <a:off x="3474720" y="13258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Skills à la demande  </a:t>
            </a: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STRIDE · LINDDUN · EBIOS RM · PASTA · ATT&amp;CK · DREAD · CVSS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3291840" y="2057400"/>
            <a:ext cx="704088" cy="868680"/>
          </a:xfrm>
          <a:prstGeom prst="roundRect">
            <a:avLst>
              <a:gd name="adj" fmla="val 10390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3"/>
          <p:cNvSpPr txBox="1"/>
          <p:nvPr/>
        </p:nvSpPr>
        <p:spPr>
          <a:xfrm>
            <a:off x="3291840" y="2130552"/>
            <a:ext cx="704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D948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3310128" y="2487168"/>
            <a:ext cx="667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Existant</a:t>
            </a:r>
            <a:endParaRPr lang="en-US" sz="850" dirty="0"/>
          </a:p>
        </p:txBody>
      </p:sp>
      <p:sp>
        <p:nvSpPr>
          <p:cNvPr id="19" name="Shape 15"/>
          <p:cNvSpPr/>
          <p:nvPr/>
        </p:nvSpPr>
        <p:spPr>
          <a:xfrm>
            <a:off x="4069080" y="2057400"/>
            <a:ext cx="704088" cy="868680"/>
          </a:xfrm>
          <a:prstGeom prst="roundRect">
            <a:avLst>
              <a:gd name="adj" fmla="val 10390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6"/>
          <p:cNvSpPr txBox="1"/>
          <p:nvPr/>
        </p:nvSpPr>
        <p:spPr>
          <a:xfrm>
            <a:off x="4069080" y="2130552"/>
            <a:ext cx="704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D948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4087368" y="2487168"/>
            <a:ext cx="667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Méthode</a:t>
            </a:r>
            <a:endParaRPr lang="en-US" sz="850" dirty="0"/>
          </a:p>
        </p:txBody>
      </p:sp>
      <p:sp>
        <p:nvSpPr>
          <p:cNvPr id="22" name="Shape 18"/>
          <p:cNvSpPr/>
          <p:nvPr/>
        </p:nvSpPr>
        <p:spPr>
          <a:xfrm>
            <a:off x="4846320" y="2057400"/>
            <a:ext cx="704088" cy="868680"/>
          </a:xfrm>
          <a:prstGeom prst="roundRect">
            <a:avLst>
              <a:gd name="adj" fmla="val 10390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19"/>
          <p:cNvSpPr txBox="1"/>
          <p:nvPr/>
        </p:nvSpPr>
        <p:spPr>
          <a:xfrm>
            <a:off x="4846320" y="2130552"/>
            <a:ext cx="704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D948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500" dirty="0"/>
          </a:p>
        </p:txBody>
      </p:sp>
      <p:sp>
        <p:nvSpPr>
          <p:cNvPr id="24" name="Text 20"/>
          <p:cNvSpPr txBox="1"/>
          <p:nvPr/>
        </p:nvSpPr>
        <p:spPr>
          <a:xfrm>
            <a:off x="4864608" y="2487168"/>
            <a:ext cx="667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Menaces</a:t>
            </a:r>
            <a:endParaRPr lang="en-US" sz="850" dirty="0"/>
          </a:p>
        </p:txBody>
      </p:sp>
      <p:sp>
        <p:nvSpPr>
          <p:cNvPr id="25" name="Shape 21"/>
          <p:cNvSpPr/>
          <p:nvPr/>
        </p:nvSpPr>
        <p:spPr>
          <a:xfrm>
            <a:off x="5623560" y="2057400"/>
            <a:ext cx="704088" cy="868680"/>
          </a:xfrm>
          <a:prstGeom prst="roundRect">
            <a:avLst>
              <a:gd name="adj" fmla="val 10390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2"/>
          <p:cNvSpPr txBox="1"/>
          <p:nvPr/>
        </p:nvSpPr>
        <p:spPr>
          <a:xfrm>
            <a:off x="5623560" y="2130552"/>
            <a:ext cx="704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D948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 23"/>
          <p:cNvSpPr txBox="1"/>
          <p:nvPr/>
        </p:nvSpPr>
        <p:spPr>
          <a:xfrm>
            <a:off x="5641848" y="2487168"/>
            <a:ext cx="667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Évaluation</a:t>
            </a:r>
            <a:endParaRPr lang="en-US" sz="850" dirty="0"/>
          </a:p>
        </p:txBody>
      </p:sp>
      <p:sp>
        <p:nvSpPr>
          <p:cNvPr id="28" name="Shape 24"/>
          <p:cNvSpPr/>
          <p:nvPr/>
        </p:nvSpPr>
        <p:spPr>
          <a:xfrm>
            <a:off x="6400800" y="2057400"/>
            <a:ext cx="704088" cy="868680"/>
          </a:xfrm>
          <a:prstGeom prst="roundRect">
            <a:avLst>
              <a:gd name="adj" fmla="val 10390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5"/>
          <p:cNvSpPr txBox="1"/>
          <p:nvPr/>
        </p:nvSpPr>
        <p:spPr>
          <a:xfrm>
            <a:off x="6400800" y="2130552"/>
            <a:ext cx="704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D948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</a:t>
            </a:r>
            <a:endParaRPr lang="en-US" sz="1500" dirty="0"/>
          </a:p>
        </p:txBody>
      </p:sp>
      <p:sp>
        <p:nvSpPr>
          <p:cNvPr id="30" name="Text 26"/>
          <p:cNvSpPr txBox="1"/>
          <p:nvPr/>
        </p:nvSpPr>
        <p:spPr>
          <a:xfrm>
            <a:off x="6419088" y="2487168"/>
            <a:ext cx="667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Traitement</a:t>
            </a:r>
            <a:endParaRPr lang="en-US" sz="850" dirty="0"/>
          </a:p>
        </p:txBody>
      </p:sp>
      <p:sp>
        <p:nvSpPr>
          <p:cNvPr id="31" name="Shape 27"/>
          <p:cNvSpPr/>
          <p:nvPr/>
        </p:nvSpPr>
        <p:spPr>
          <a:xfrm>
            <a:off x="7178040" y="2057400"/>
            <a:ext cx="704088" cy="868680"/>
          </a:xfrm>
          <a:prstGeom prst="roundRect">
            <a:avLst>
              <a:gd name="adj" fmla="val 10390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28"/>
          <p:cNvSpPr txBox="1"/>
          <p:nvPr/>
        </p:nvSpPr>
        <p:spPr>
          <a:xfrm>
            <a:off x="7178040" y="2130552"/>
            <a:ext cx="704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DD4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</a:t>
            </a:r>
            <a:endParaRPr lang="en-US" sz="1500" dirty="0"/>
          </a:p>
        </p:txBody>
      </p:sp>
      <p:sp>
        <p:nvSpPr>
          <p:cNvPr id="33" name="Text 29"/>
          <p:cNvSpPr txBox="1"/>
          <p:nvPr/>
        </p:nvSpPr>
        <p:spPr>
          <a:xfrm>
            <a:off x="7196328" y="2487168"/>
            <a:ext cx="667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Validation</a:t>
            </a:r>
            <a:endParaRPr lang="en-US" sz="850" dirty="0"/>
          </a:p>
        </p:txBody>
      </p:sp>
      <p:sp>
        <p:nvSpPr>
          <p:cNvPr id="34" name="Shape 30"/>
          <p:cNvSpPr/>
          <p:nvPr/>
        </p:nvSpPr>
        <p:spPr>
          <a:xfrm>
            <a:off x="7955280" y="2057400"/>
            <a:ext cx="704088" cy="868680"/>
          </a:xfrm>
          <a:prstGeom prst="roundRect">
            <a:avLst>
              <a:gd name="adj" fmla="val 10390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Text 31"/>
          <p:cNvSpPr txBox="1"/>
          <p:nvPr/>
        </p:nvSpPr>
        <p:spPr>
          <a:xfrm>
            <a:off x="7955280" y="2130552"/>
            <a:ext cx="704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D948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</a:t>
            </a:r>
            <a:endParaRPr lang="en-US" sz="1500" dirty="0"/>
          </a:p>
        </p:txBody>
      </p:sp>
      <p:sp>
        <p:nvSpPr>
          <p:cNvPr id="36" name="Text 32"/>
          <p:cNvSpPr txBox="1"/>
          <p:nvPr/>
        </p:nvSpPr>
        <p:spPr>
          <a:xfrm>
            <a:off x="7973568" y="2487168"/>
            <a:ext cx="667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Synthèse</a:t>
            </a:r>
            <a:endParaRPr lang="en-US" sz="850" dirty="0"/>
          </a:p>
        </p:txBody>
      </p:sp>
      <p:sp>
        <p:nvSpPr>
          <p:cNvPr id="37" name="Shape 33"/>
          <p:cNvSpPr/>
          <p:nvPr/>
        </p:nvSpPr>
        <p:spPr>
          <a:xfrm>
            <a:off x="3291840" y="3090672"/>
            <a:ext cx="5394960" cy="457200"/>
          </a:xfrm>
          <a:prstGeom prst="roundRect">
            <a:avLst>
              <a:gd name="adj" fmla="val 16000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Text 34"/>
          <p:cNvSpPr txBox="1"/>
          <p:nvPr/>
        </p:nvSpPr>
        <p:spPr>
          <a:xfrm>
            <a:off x="3474720" y="309067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D4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e21-controle  </a:t>
            </a:r>
            <a:r>
              <a:rPr lang="en-US" sz="1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garde-fous après chaque étape → OK · WARN · REJET (reprise)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457200" y="3749040"/>
            <a:ext cx="2651760" cy="777240"/>
          </a:xfrm>
          <a:prstGeom prst="roundRect">
            <a:avLst>
              <a:gd name="adj" fmla="val 9412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" name="Shape 36"/>
          <p:cNvSpPr/>
          <p:nvPr/>
        </p:nvSpPr>
        <p:spPr>
          <a:xfrm>
            <a:off x="594360" y="3931920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E6F7F4"/>
          </a:solidFill>
          <a:ln w="12700">
            <a:solidFill>
              <a:srgbClr val="E6F7F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4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967" y="4036527"/>
            <a:ext cx="193121" cy="193121"/>
          </a:xfrm>
          <a:prstGeom prst="rect">
            <a:avLst/>
          </a:prstGeom>
        </p:spPr>
      </p:pic>
      <p:sp>
        <p:nvSpPr>
          <p:cNvPr id="42" name="Text 37"/>
          <p:cNvSpPr txBox="1"/>
          <p:nvPr/>
        </p:nvSpPr>
        <p:spPr>
          <a:xfrm>
            <a:off x="1115568" y="38221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knowledge_base/</a:t>
            </a:r>
            <a:endParaRPr lang="en-US" sz="1100" dirty="0"/>
          </a:p>
        </p:txBody>
      </p:sp>
      <p:sp>
        <p:nvSpPr>
          <p:cNvPr id="43" name="Text 38"/>
          <p:cNvSpPr txBox="1"/>
          <p:nvPr/>
        </p:nvSpPr>
        <p:spPr>
          <a:xfrm>
            <a:off x="1115568" y="4078224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Sources à ID stable (STRIDE-S, ISO27002-…)</a:t>
            </a:r>
            <a:endParaRPr lang="en-US" sz="900" dirty="0"/>
          </a:p>
        </p:txBody>
      </p:sp>
      <p:sp>
        <p:nvSpPr>
          <p:cNvPr id="44" name="Shape 39"/>
          <p:cNvSpPr/>
          <p:nvPr/>
        </p:nvSpPr>
        <p:spPr>
          <a:xfrm>
            <a:off x="3218688" y="3749040"/>
            <a:ext cx="2651760" cy="777240"/>
          </a:xfrm>
          <a:prstGeom prst="roundRect">
            <a:avLst>
              <a:gd name="adj" fmla="val 9412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5" name="Shape 40"/>
          <p:cNvSpPr/>
          <p:nvPr/>
        </p:nvSpPr>
        <p:spPr>
          <a:xfrm>
            <a:off x="3355848" y="3931920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E6F7F4"/>
          </a:solidFill>
          <a:ln w="12700">
            <a:solidFill>
              <a:srgbClr val="E6F7F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4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60455" y="4036527"/>
            <a:ext cx="193121" cy="193121"/>
          </a:xfrm>
          <a:prstGeom prst="rect">
            <a:avLst/>
          </a:prstGeom>
        </p:spPr>
      </p:pic>
      <p:sp>
        <p:nvSpPr>
          <p:cNvPr id="47" name="Text 41"/>
          <p:cNvSpPr txBox="1"/>
          <p:nvPr/>
        </p:nvSpPr>
        <p:spPr>
          <a:xfrm>
            <a:off x="3877056" y="38221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GitHub</a:t>
            </a:r>
            <a:endParaRPr lang="en-US" sz="1100" dirty="0"/>
          </a:p>
        </p:txBody>
      </p:sp>
      <p:sp>
        <p:nvSpPr>
          <p:cNvPr id="48" name="Text 42"/>
          <p:cNvSpPr txBox="1"/>
          <p:nvPr/>
        </p:nvSpPr>
        <p:spPr>
          <a:xfrm>
            <a:off x="3877056" y="4078224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Branche par analyse, push à chaque étape, board</a:t>
            </a:r>
            <a:endParaRPr lang="en-US" sz="900" dirty="0"/>
          </a:p>
        </p:txBody>
      </p:sp>
      <p:sp>
        <p:nvSpPr>
          <p:cNvPr id="49" name="Shape 43"/>
          <p:cNvSpPr/>
          <p:nvPr/>
        </p:nvSpPr>
        <p:spPr>
          <a:xfrm>
            <a:off x="5980176" y="3749040"/>
            <a:ext cx="2651760" cy="777240"/>
          </a:xfrm>
          <a:prstGeom prst="roundRect">
            <a:avLst>
              <a:gd name="adj" fmla="val 9412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0" name="Shape 44"/>
          <p:cNvSpPr/>
          <p:nvPr/>
        </p:nvSpPr>
        <p:spPr>
          <a:xfrm>
            <a:off x="6117336" y="3931920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E6F7F4"/>
          </a:solidFill>
          <a:ln w="12700">
            <a:solidFill>
              <a:srgbClr val="E6F7F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21943" y="4036527"/>
            <a:ext cx="193121" cy="193121"/>
          </a:xfrm>
          <a:prstGeom prst="rect">
            <a:avLst/>
          </a:prstGeom>
        </p:spPr>
      </p:pic>
      <p:sp>
        <p:nvSpPr>
          <p:cNvPr id="52" name="Text 45"/>
          <p:cNvSpPr txBox="1"/>
          <p:nvPr/>
        </p:nvSpPr>
        <p:spPr>
          <a:xfrm>
            <a:off x="6638544" y="38221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Livrables</a:t>
            </a:r>
            <a:endParaRPr lang="en-US" sz="1100" dirty="0"/>
          </a:p>
        </p:txBody>
      </p:sp>
      <p:sp>
        <p:nvSpPr>
          <p:cNvPr id="53" name="Text 46"/>
          <p:cNvSpPr txBox="1"/>
          <p:nvPr/>
        </p:nvSpPr>
        <p:spPr>
          <a:xfrm>
            <a:off x="6638544" y="4078224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00 → 06, registre .md/.json, SYNTHESE.md</a:t>
            </a:r>
            <a:endParaRPr lang="en-US" sz="900" dirty="0"/>
          </a:p>
        </p:txBody>
      </p:sp>
      <p:sp>
        <p:nvSpPr>
          <p:cNvPr id="54" name="Text 47"/>
          <p:cNvSpPr txBox="1"/>
          <p:nvPr/>
        </p:nvSpPr>
        <p:spPr>
          <a:xfrm>
            <a:off x="8321040" y="48006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00" dirty="0"/>
          </a:p>
        </p:txBody>
      </p:sp>
      <p:sp>
        <p:nvSpPr>
          <p:cNvPr id="55" name="Text 48"/>
          <p:cNvSpPr txBox="1"/>
          <p:nvPr/>
        </p:nvSpPr>
        <p:spPr>
          <a:xfrm>
            <a:off x="457200" y="48006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E21 · Agents IA &amp; analyse de risques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· TRAÇABILITÉ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Traçabilité : tout passe par GitHub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463040" cy="219456"/>
          </a:xfrm>
          <a:prstGeom prst="roundRect">
            <a:avLst>
              <a:gd name="adj" fmla="val 50000"/>
            </a:avLst>
          </a:prstGeom>
          <a:solidFill>
            <a:srgbClr val="E6F7F4"/>
          </a:solidFill>
          <a:ln w="12700">
            <a:solidFill>
              <a:srgbClr val="E6F7F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 txBox="1"/>
          <p:nvPr/>
        </p:nvSpPr>
        <p:spPr>
          <a:xfrm>
            <a:off x="457200" y="118872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0D948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Issue #9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938528" y="1298448"/>
            <a:ext cx="18288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2139696" y="1188720"/>
            <a:ext cx="1463040" cy="219456"/>
          </a:xfrm>
          <a:prstGeom prst="roundRect">
            <a:avLst>
              <a:gd name="adj" fmla="val 50000"/>
            </a:avLst>
          </a:prstGeom>
          <a:solidFill>
            <a:srgbClr val="E6F7F4"/>
          </a:solidFill>
          <a:ln w="12700">
            <a:solidFill>
              <a:srgbClr val="E6F7F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 txBox="1"/>
          <p:nvPr/>
        </p:nvSpPr>
        <p:spPr>
          <a:xfrm>
            <a:off x="2139696" y="118872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0D948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Branche analyses/…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621024" y="1298448"/>
            <a:ext cx="18288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3822192" y="1188720"/>
            <a:ext cx="1463040" cy="219456"/>
          </a:xfrm>
          <a:prstGeom prst="roundRect">
            <a:avLst>
              <a:gd name="adj" fmla="val 50000"/>
            </a:avLst>
          </a:prstGeom>
          <a:solidFill>
            <a:srgbClr val="E6F7F4"/>
          </a:solidFill>
          <a:ln w="12700">
            <a:solidFill>
              <a:srgbClr val="E6F7F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 txBox="1"/>
          <p:nvPr/>
        </p:nvSpPr>
        <p:spPr>
          <a:xfrm>
            <a:off x="3822192" y="118872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0D948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commit / étape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303520" y="1298448"/>
            <a:ext cx="18288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5504688" y="1188720"/>
            <a:ext cx="1463040" cy="219456"/>
          </a:xfrm>
          <a:prstGeom prst="roundRect">
            <a:avLst>
              <a:gd name="adj" fmla="val 50000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 txBox="1"/>
          <p:nvPr/>
        </p:nvSpPr>
        <p:spPr>
          <a:xfrm>
            <a:off x="5504688" y="118872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2DD4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 #10 fusionnée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986016" y="1298448"/>
            <a:ext cx="18288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16" name="Shape 14"/>
          <p:cNvSpPr/>
          <p:nvPr/>
        </p:nvSpPr>
        <p:spPr>
          <a:xfrm>
            <a:off x="7187184" y="1188720"/>
            <a:ext cx="1463040" cy="219456"/>
          </a:xfrm>
          <a:prstGeom prst="roundRect">
            <a:avLst>
              <a:gd name="adj" fmla="val 50000"/>
            </a:avLst>
          </a:prstGeom>
          <a:solidFill>
            <a:srgbClr val="E6F7F4"/>
          </a:solidFill>
          <a:ln w="12700">
            <a:solidFill>
              <a:srgbClr val="E6F7F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 txBox="1"/>
          <p:nvPr/>
        </p:nvSpPr>
        <p:spPr>
          <a:xfrm>
            <a:off x="7187184" y="118872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0D948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Board : Done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021842" y="1645920"/>
            <a:ext cx="3717036" cy="2697480"/>
          </a:xfrm>
          <a:prstGeom prst="roundRect">
            <a:avLst>
              <a:gd name="adj" fmla="val 2034"/>
            </a:avLst>
          </a:prstGeom>
          <a:solidFill>
            <a:srgbClr val="E9EEF4"/>
          </a:solidFill>
          <a:ln w="9525">
            <a:solidFill>
              <a:srgbClr val="D5DDE7"/>
            </a:solidFill>
            <a:prstDash val="solid"/>
          </a:ln>
          <a:effectLst>
            <a:outerShdw blurRad="101600" dist="38100" dir="5400000" algn="bl" rotWithShape="0">
              <a:srgbClr val="0B122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9" name="Shape 17"/>
          <p:cNvSpPr/>
          <p:nvPr/>
        </p:nvSpPr>
        <p:spPr>
          <a:xfrm>
            <a:off x="1113282" y="1723644"/>
            <a:ext cx="68580" cy="68580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Shape 18"/>
          <p:cNvSpPr/>
          <p:nvPr/>
        </p:nvSpPr>
        <p:spPr>
          <a:xfrm>
            <a:off x="1223010" y="1723644"/>
            <a:ext cx="68580" cy="6858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Shape 19"/>
          <p:cNvSpPr/>
          <p:nvPr/>
        </p:nvSpPr>
        <p:spPr>
          <a:xfrm>
            <a:off x="1332738" y="1723644"/>
            <a:ext cx="68580" cy="68580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 txBox="1"/>
          <p:nvPr/>
        </p:nvSpPr>
        <p:spPr>
          <a:xfrm>
            <a:off x="1479042" y="1677924"/>
            <a:ext cx="316839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github.com/…/pull/10</a:t>
            </a:r>
            <a:endParaRPr lang="en-US" sz="700" dirty="0"/>
          </a:p>
        </p:txBody>
      </p:sp>
      <p:pic>
        <p:nvPicPr>
          <p:cNvPr id="23" name="Image 0" descr="shots/c_pr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9274" y="1865376"/>
            <a:ext cx="3662172" cy="2450592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457200" y="4480560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Description de la PR #10 au moment du merge, avant l’audit (13 risques, R-13 rejeté).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5577840" y="1645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 commit par étape de la chaîne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5577840" y="199339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ae14afd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6309360" y="199339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Étape 1 · description, actifs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5577840" y="235915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c75eb98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6309360" y="23591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Étape 2 · choix de méthode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5577840" y="272491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d4f0ed3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6309360" y="272491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Étape 3 · menaces STRIDE/LINDDUN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5577840" y="309067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cd1b6f7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6309360" y="309067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Étape 4 · évaluation + DREAD</a:t>
            </a:r>
            <a:endParaRPr 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5577840" y="345643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3787762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6309360" y="345643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Étape 5 · traitement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5577840" y="382219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310efce</a:t>
            </a:r>
            <a:endParaRPr lang="en-US" sz="900" dirty="0"/>
          </a:p>
        </p:txBody>
      </p:sp>
      <p:sp>
        <p:nvSpPr>
          <p:cNvPr id="37" name="Text 34"/>
          <p:cNvSpPr txBox="1"/>
          <p:nvPr/>
        </p:nvSpPr>
        <p:spPr>
          <a:xfrm>
            <a:off x="6309360" y="382219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Étape 6 · validation humaine</a:t>
            </a:r>
            <a:endParaRPr lang="en-US" sz="950" dirty="0"/>
          </a:p>
        </p:txBody>
      </p:sp>
      <p:sp>
        <p:nvSpPr>
          <p:cNvPr id="38" name="Text 35"/>
          <p:cNvSpPr txBox="1"/>
          <p:nvPr/>
        </p:nvSpPr>
        <p:spPr>
          <a:xfrm>
            <a:off x="5577840" y="418795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efa011a</a:t>
            </a:r>
            <a:endParaRPr lang="en-US" sz="900" dirty="0"/>
          </a:p>
        </p:txBody>
      </p:sp>
      <p:sp>
        <p:nvSpPr>
          <p:cNvPr id="39" name="Text 36"/>
          <p:cNvSpPr txBox="1"/>
          <p:nvPr/>
        </p:nvSpPr>
        <p:spPr>
          <a:xfrm>
            <a:off x="6309360" y="41879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Étape 7 · synthèse</a:t>
            </a:r>
            <a:endParaRPr lang="en-US" sz="950" dirty="0"/>
          </a:p>
        </p:txBody>
      </p:sp>
      <p:sp>
        <p:nvSpPr>
          <p:cNvPr id="40" name="Text 37"/>
          <p:cNvSpPr txBox="1"/>
          <p:nvPr/>
        </p:nvSpPr>
        <p:spPr>
          <a:xfrm>
            <a:off x="5577840" y="455371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Puis la remédiation de l’audit : PR #21, #22, #24.</a:t>
            </a:r>
            <a:endParaRPr lang="en-US" sz="900" dirty="0"/>
          </a:p>
        </p:txBody>
      </p:sp>
      <p:sp>
        <p:nvSpPr>
          <p:cNvPr id="41" name="Text 38"/>
          <p:cNvSpPr txBox="1"/>
          <p:nvPr/>
        </p:nvSpPr>
        <p:spPr>
          <a:xfrm>
            <a:off x="8321040" y="48006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800" dirty="0"/>
          </a:p>
        </p:txBody>
      </p:sp>
      <p:sp>
        <p:nvSpPr>
          <p:cNvPr id="42" name="Text 39"/>
          <p:cNvSpPr txBox="1"/>
          <p:nvPr/>
        </p:nvSpPr>
        <p:spPr>
          <a:xfrm>
            <a:off x="457200" y="48006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E21 · Agents IA &amp; analyse de risques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· SÉCURITÉ DU SYSTÈME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Moindre privilège et exécution réelle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44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Permissions par rôle</a:t>
            </a:r>
            <a:endParaRPr lang="en-US" sz="13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3931920" cy="1920240"/>
        </p:xfrm>
        <a:graphic>
          <a:graphicData uri="http://schemas.openxmlformats.org/drawingml/2006/table">
            <a:tbl>
              <a:tblPr/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Agent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Droits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e21-* (7 agents)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écriture limitée à analyses/**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e21-controle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lecture seule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bash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refusé aux agents de chaîne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github-manager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seul à gérer dépôt et board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361188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Règle opencode : edit deny "**" puis allow "analyses/**". Un agent détourné ne peut réécrire ni les consignes ni la base de connaissances.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4663440" y="12344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Ce qui exécute le POC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663440" y="1600200"/>
            <a:ext cx="4023360" cy="713232"/>
          </a:xfrm>
          <a:prstGeom prst="roundRect">
            <a:avLst>
              <a:gd name="adj" fmla="val 10256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6"/>
          <p:cNvSpPr/>
          <p:nvPr/>
        </p:nvSpPr>
        <p:spPr>
          <a:xfrm>
            <a:off x="4800600" y="1755648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5207" y="1860255"/>
            <a:ext cx="193121" cy="19312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49240" y="169164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0D948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Les consignes sont le programme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5349240" y="1965960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Agents .md + skills ; aucun code applicatif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4663440" y="2423160"/>
            <a:ext cx="4023360" cy="713232"/>
          </a:xfrm>
          <a:prstGeom prst="roundRect">
            <a:avLst>
              <a:gd name="adj" fmla="val 10256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Shape 10"/>
          <p:cNvSpPr/>
          <p:nvPr/>
        </p:nvSpPr>
        <p:spPr>
          <a:xfrm>
            <a:off x="4800600" y="2578608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5207" y="2683215"/>
            <a:ext cx="193121" cy="193121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349240" y="251460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opencode/big-pickle</a:t>
            </a:r>
            <a:endParaRPr lang="en-US" sz="1150" dirty="0"/>
          </a:p>
        </p:txBody>
      </p:sp>
      <p:sp>
        <p:nvSpPr>
          <p:cNvPr id="17" name="Text 12"/>
          <p:cNvSpPr txBox="1"/>
          <p:nvPr/>
        </p:nvSpPr>
        <p:spPr>
          <a:xfrm>
            <a:off x="5349240" y="2788920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Modèle API cloud, pour les 12 agents. Données fictives uniquement.</a:t>
            </a:r>
            <a:endParaRPr lang="en-US" sz="950" dirty="0"/>
          </a:p>
        </p:txBody>
      </p:sp>
      <p:sp>
        <p:nvSpPr>
          <p:cNvPr id="18" name="Shape 13"/>
          <p:cNvSpPr/>
          <p:nvPr/>
        </p:nvSpPr>
        <p:spPr>
          <a:xfrm>
            <a:off x="4663440" y="3246120"/>
            <a:ext cx="4023360" cy="713232"/>
          </a:xfrm>
          <a:prstGeom prst="roundRect">
            <a:avLst>
              <a:gd name="adj" fmla="val 10256"/>
            </a:avLst>
          </a:prstGeom>
          <a:solidFill>
            <a:srgbClr val="FEF6E4"/>
          </a:solidFill>
          <a:ln w="12700">
            <a:solidFill>
              <a:srgbClr val="FEF6E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Shape 14"/>
          <p:cNvSpPr/>
          <p:nvPr/>
        </p:nvSpPr>
        <p:spPr>
          <a:xfrm>
            <a:off x="4800600" y="3401568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05207" y="3506175"/>
            <a:ext cx="193121" cy="1931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349240" y="333756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D9770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ollama en local : roadmap</a:t>
            </a:r>
            <a:endParaRPr lang="en-US" sz="1150" dirty="0"/>
          </a:p>
        </p:txBody>
      </p:sp>
      <p:sp>
        <p:nvSpPr>
          <p:cNvPr id="22" name="Text 16"/>
          <p:cNvSpPr txBox="1"/>
          <p:nvPr/>
        </p:nvSpPr>
        <p:spPr>
          <a:xfrm>
            <a:off x="5349240" y="3611880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Pour qu’aucune donnée ne sorte du poste</a:t>
            </a:r>
            <a:endParaRPr lang="en-US" sz="950" dirty="0"/>
          </a:p>
        </p:txBody>
      </p:sp>
      <p:sp>
        <p:nvSpPr>
          <p:cNvPr id="23" name="Text 17"/>
          <p:cNvSpPr txBox="1"/>
          <p:nvPr/>
        </p:nvSpPr>
        <p:spPr>
          <a:xfrm>
            <a:off x="4663440" y="41148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modèle interchangeable (ollama / api / mock) est un objectif de conception, pas un composant codé.</a:t>
            </a:r>
            <a:endParaRPr lang="en-US" sz="950" dirty="0"/>
          </a:p>
        </p:txBody>
      </p:sp>
      <p:sp>
        <p:nvSpPr>
          <p:cNvPr id="24" name="Text 18"/>
          <p:cNvSpPr txBox="1"/>
          <p:nvPr/>
        </p:nvSpPr>
        <p:spPr>
          <a:xfrm>
            <a:off x="8321040" y="48006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800" dirty="0"/>
          </a:p>
        </p:txBody>
      </p:sp>
      <p:sp>
        <p:nvSpPr>
          <p:cNvPr id="25" name="Text 19"/>
          <p:cNvSpPr txBox="1"/>
          <p:nvPr/>
        </p:nvSpPr>
        <p:spPr>
          <a:xfrm>
            <a:off x="457200" y="48006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E21 · Agents IA &amp; analyse de risques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· AGENTS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12 agents, un rôle et une sortie chacun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22409" y="1234440"/>
            <a:ext cx="3641581" cy="3337560"/>
          </a:xfrm>
          <a:prstGeom prst="roundRect">
            <a:avLst>
              <a:gd name="adj" fmla="val 1644"/>
            </a:avLst>
          </a:prstGeom>
          <a:solidFill>
            <a:srgbClr val="E9EEF4"/>
          </a:solidFill>
          <a:ln w="9525">
            <a:solidFill>
              <a:srgbClr val="D5DDE7"/>
            </a:solidFill>
            <a:prstDash val="solid"/>
          </a:ln>
          <a:effectLst>
            <a:outerShdw blurRad="101600" dist="38100" dir="5400000" algn="bl" rotWithShape="0">
              <a:srgbClr val="0B122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1013849" y="1312164"/>
            <a:ext cx="68580" cy="68580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1123577" y="1312164"/>
            <a:ext cx="68580" cy="6858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1233305" y="1312164"/>
            <a:ext cx="68580" cy="68580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 txBox="1"/>
          <p:nvPr/>
        </p:nvSpPr>
        <p:spPr>
          <a:xfrm>
            <a:off x="1379609" y="1266444"/>
            <a:ext cx="3092941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github.com/…/.opencode/agents</a:t>
            </a:r>
            <a:endParaRPr lang="en-US" sz="700" dirty="0"/>
          </a:p>
        </p:txBody>
      </p:sp>
      <p:pic>
        <p:nvPicPr>
          <p:cNvPr id="9" name="Image 0" descr="shots/c_ag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9841" y="1453896"/>
            <a:ext cx="3586717" cy="309067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257800" y="1234440"/>
            <a:ext cx="3429000" cy="749808"/>
          </a:xfrm>
          <a:prstGeom prst="roundRect">
            <a:avLst>
              <a:gd name="adj" fmla="val 9756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8"/>
          <p:cNvSpPr txBox="1"/>
          <p:nvPr/>
        </p:nvSpPr>
        <p:spPr>
          <a:xfrm>
            <a:off x="5413248" y="130759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Orchestration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5413248" y="153619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orchestrator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5413248" y="1728216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collecte en une passe, lance et reprend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5257800" y="2103120"/>
            <a:ext cx="3429000" cy="749808"/>
          </a:xfrm>
          <a:prstGeom prst="roundRect">
            <a:avLst>
              <a:gd name="adj" fmla="val 9756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2"/>
          <p:cNvSpPr txBox="1"/>
          <p:nvPr/>
        </p:nvSpPr>
        <p:spPr>
          <a:xfrm>
            <a:off x="5413248" y="217627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Chaîne E21 (7)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5413248" y="240487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analyse-existant → synthese</a:t>
            </a:r>
            <a:endParaRPr lang="en-US" sz="850" dirty="0"/>
          </a:p>
        </p:txBody>
      </p:sp>
      <p:sp>
        <p:nvSpPr>
          <p:cNvPr id="17" name="Text 14"/>
          <p:cNvSpPr txBox="1"/>
          <p:nvPr/>
        </p:nvSpPr>
        <p:spPr>
          <a:xfrm>
            <a:off x="5413248" y="2596896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fichier 00 → 06 + SYNTHESE.md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5257800" y="2971800"/>
            <a:ext cx="3429000" cy="749808"/>
          </a:xfrm>
          <a:prstGeom prst="roundRect">
            <a:avLst>
              <a:gd name="adj" fmla="val 9756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6"/>
          <p:cNvSpPr txBox="1"/>
          <p:nvPr/>
        </p:nvSpPr>
        <p:spPr>
          <a:xfrm>
            <a:off x="5413248" y="304495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DD4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Contrôle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5413248" y="32735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e21-controle</a:t>
            </a:r>
            <a:endParaRPr lang="en-US" sz="850" dirty="0"/>
          </a:p>
        </p:txBody>
      </p:sp>
      <p:sp>
        <p:nvSpPr>
          <p:cNvPr id="21" name="Text 18"/>
          <p:cNvSpPr txBox="1"/>
          <p:nvPr/>
        </p:nvSpPr>
        <p:spPr>
          <a:xfrm>
            <a:off x="5413248" y="3465576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RAPPORT-CONTROLE.md : OK / WARN / REJET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5257800" y="3840480"/>
            <a:ext cx="3429000" cy="749808"/>
          </a:xfrm>
          <a:prstGeom prst="roundRect">
            <a:avLst>
              <a:gd name="adj" fmla="val 9756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0"/>
          <p:cNvSpPr txBox="1"/>
          <p:nvPr/>
        </p:nvSpPr>
        <p:spPr>
          <a:xfrm>
            <a:off x="5413248" y="391363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Support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5413248" y="414223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github-manager · research · security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5413248" y="4334256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board &amp; PR, veille, audit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8321040" y="48006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800" dirty="0"/>
          </a:p>
        </p:txBody>
      </p:sp>
      <p:sp>
        <p:nvSpPr>
          <p:cNvPr id="27" name="Text 24"/>
          <p:cNvSpPr txBox="1"/>
          <p:nvPr/>
        </p:nvSpPr>
        <p:spPr>
          <a:xfrm>
            <a:off x="457200" y="48006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E21 · Agents IA &amp; analyse de risques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· GARDE-FOUS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e21-controle : un contrôle avant chaque push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4937760" cy="2498047"/>
          </a:xfrm>
          <a:prstGeom prst="roundRect">
            <a:avLst>
              <a:gd name="adj" fmla="val 2196"/>
            </a:avLst>
          </a:prstGeom>
          <a:solidFill>
            <a:srgbClr val="E9EEF4"/>
          </a:solidFill>
          <a:ln w="9525">
            <a:solidFill>
              <a:srgbClr val="D5DDE7"/>
            </a:solidFill>
            <a:prstDash val="solid"/>
          </a:ln>
          <a:effectLst>
            <a:outerShdw blurRad="101600" dist="38100" dir="5400000" algn="bl" rotWithShape="0">
              <a:srgbClr val="0B122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548640" y="1312164"/>
            <a:ext cx="68580" cy="68580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658368" y="1312164"/>
            <a:ext cx="68580" cy="6858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768096" y="1312164"/>
            <a:ext cx="68580" cy="68580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 txBox="1"/>
          <p:nvPr/>
        </p:nvSpPr>
        <p:spPr>
          <a:xfrm>
            <a:off x="914400" y="1266444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RAPPORT-CONTROLE.md · étape 1</a:t>
            </a:r>
            <a:endParaRPr lang="en-US" sz="700" dirty="0"/>
          </a:p>
        </p:txBody>
      </p:sp>
      <p:pic>
        <p:nvPicPr>
          <p:cNvPr id="9" name="Image 0" descr="shots/controle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1453896"/>
            <a:ext cx="4882896" cy="2251159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57200" y="40690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Extrait réel du rapport de contrôle de l’étape 1 (9 contrôles, verdict OK).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5669280" y="12344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Trois verdicts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0" y="1572768"/>
            <a:ext cx="731520" cy="219456"/>
          </a:xfrm>
          <a:prstGeom prst="roundRect">
            <a:avLst>
              <a:gd name="adj" fmla="val 50000"/>
            </a:avLst>
          </a:prstGeom>
          <a:solidFill>
            <a:srgbClr val="EAF7EE"/>
          </a:solidFill>
          <a:ln w="12700">
            <a:solidFill>
              <a:srgbClr val="EAF7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0"/>
          <p:cNvSpPr txBox="1"/>
          <p:nvPr/>
        </p:nvSpPr>
        <p:spPr>
          <a:xfrm>
            <a:off x="5669280" y="157276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6A34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OK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6537960" y="1572768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accepté, poussé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669280" y="1938528"/>
            <a:ext cx="731520" cy="219456"/>
          </a:xfrm>
          <a:prstGeom prst="roundRect">
            <a:avLst>
              <a:gd name="adj" fmla="val 50000"/>
            </a:avLst>
          </a:prstGeom>
          <a:solidFill>
            <a:srgbClr val="FEF6E4"/>
          </a:solidFill>
          <a:ln w="12700">
            <a:solidFill>
              <a:srgbClr val="FEF6E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 txBox="1"/>
          <p:nvPr/>
        </p:nvSpPr>
        <p:spPr>
          <a:xfrm>
            <a:off x="5669280" y="193852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9770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WARN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6537960" y="1938528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accepté + signalé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669280" y="2304288"/>
            <a:ext cx="731520" cy="219456"/>
          </a:xfrm>
          <a:prstGeom prst="roundRect">
            <a:avLst>
              <a:gd name="adj" fmla="val 50000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6"/>
          <p:cNvSpPr txBox="1"/>
          <p:nvPr/>
        </p:nvSpPr>
        <p:spPr>
          <a:xfrm>
            <a:off x="5669280" y="230428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26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REJET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6537960" y="2304288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bloquant : étape rejouée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8321040" y="48006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457200" y="48006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E21 · Agents IA &amp; analyse de risques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· SKILLS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Les skills rendent l’analyse reproductible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4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Skills métier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572768"/>
            <a:ext cx="3749040" cy="548640"/>
          </a:xfrm>
          <a:prstGeom prst="roundRect">
            <a:avLst>
              <a:gd name="adj" fmla="val 13333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 txBox="1"/>
          <p:nvPr/>
        </p:nvSpPr>
        <p:spPr>
          <a:xfrm>
            <a:off x="621792" y="1627632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analyse-risques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1856232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étapes + 4 traitements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57200" y="2231136"/>
            <a:ext cx="3749040" cy="548640"/>
          </a:xfrm>
          <a:prstGeom prst="roundRect">
            <a:avLst>
              <a:gd name="adj" fmla="val 13333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 txBox="1"/>
          <p:nvPr/>
        </p:nvSpPr>
        <p:spPr>
          <a:xfrm>
            <a:off x="621792" y="228600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registre-risques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21792" y="2514600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format tableau + JSON + valide_par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" y="2889504"/>
            <a:ext cx="3749040" cy="548640"/>
          </a:xfrm>
          <a:prstGeom prst="roundRect">
            <a:avLst>
              <a:gd name="adj" fmla="val 13333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 txBox="1"/>
          <p:nvPr/>
        </p:nvSpPr>
        <p:spPr>
          <a:xfrm>
            <a:off x="621792" y="2944368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garde-fous-ia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21792" y="3172968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6 risques propres aux LLM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3547872"/>
            <a:ext cx="3749040" cy="548640"/>
          </a:xfrm>
          <a:prstGeom prst="roundRect">
            <a:avLst>
              <a:gd name="adj" fmla="val 13333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 txBox="1"/>
          <p:nvPr/>
        </p:nvSpPr>
        <p:spPr>
          <a:xfrm>
            <a:off x="621792" y="3602736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schemas-diagrammes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21792" y="3831336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conventions Mermaid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4480560" y="12344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Skills framework : bascule de méthode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480560" y="1572768"/>
            <a:ext cx="2057400" cy="548640"/>
          </a:xfrm>
          <a:prstGeom prst="roundRect">
            <a:avLst>
              <a:gd name="adj" fmla="val 13333"/>
            </a:avLst>
          </a:prstGeom>
          <a:solidFill>
            <a:srgbClr val="E6F7F4"/>
          </a:solidFill>
          <a:ln w="12700">
            <a:solidFill>
              <a:srgbClr val="E6F7F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 txBox="1"/>
          <p:nvPr/>
        </p:nvSpPr>
        <p:spPr>
          <a:xfrm>
            <a:off x="4617720" y="16276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0D948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STRIDE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617720" y="185623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application / DFD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629400" y="1572768"/>
            <a:ext cx="2057400" cy="548640"/>
          </a:xfrm>
          <a:prstGeom prst="roundRect">
            <a:avLst>
              <a:gd name="adj" fmla="val 13333"/>
            </a:avLst>
          </a:prstGeom>
          <a:solidFill>
            <a:srgbClr val="E6F7F4"/>
          </a:solidFill>
          <a:ln w="12700">
            <a:solidFill>
              <a:srgbClr val="E6F7F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 txBox="1"/>
          <p:nvPr/>
        </p:nvSpPr>
        <p:spPr>
          <a:xfrm>
            <a:off x="6766560" y="16276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0D948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LINDDUN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766560" y="185623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données personnelles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480560" y="2231136"/>
            <a:ext cx="2057400" cy="548640"/>
          </a:xfrm>
          <a:prstGeom prst="roundRect">
            <a:avLst>
              <a:gd name="adj" fmla="val 13333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 txBox="1"/>
          <p:nvPr/>
        </p:nvSpPr>
        <p:spPr>
          <a:xfrm>
            <a:off x="4617720" y="22860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EBIOS RM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617720" y="251460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OIV, administration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629400" y="2231136"/>
            <a:ext cx="2057400" cy="548640"/>
          </a:xfrm>
          <a:prstGeom prst="roundRect">
            <a:avLst>
              <a:gd name="adj" fmla="val 13333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 txBox="1"/>
          <p:nvPr/>
        </p:nvSpPr>
        <p:spPr>
          <a:xfrm>
            <a:off x="6766560" y="22860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PASTA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6766560" y="251460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enjeux métier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480560" y="2889504"/>
            <a:ext cx="2057400" cy="548640"/>
          </a:xfrm>
          <a:prstGeom prst="roundRect">
            <a:avLst>
              <a:gd name="adj" fmla="val 13333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Text 29"/>
          <p:cNvSpPr txBox="1"/>
          <p:nvPr/>
        </p:nvSpPr>
        <p:spPr>
          <a:xfrm>
            <a:off x="4617720" y="294436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ATT&amp;CK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617720" y="317296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attaques réelles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629400" y="2889504"/>
            <a:ext cx="2057400" cy="548640"/>
          </a:xfrm>
          <a:prstGeom prst="roundRect">
            <a:avLst>
              <a:gd name="adj" fmla="val 13333"/>
            </a:avLst>
          </a:prstGeom>
          <a:solidFill>
            <a:srgbClr val="E6F7F4"/>
          </a:solidFill>
          <a:ln w="12700">
            <a:solidFill>
              <a:srgbClr val="E6F7F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2"/>
          <p:cNvSpPr txBox="1"/>
          <p:nvPr/>
        </p:nvSpPr>
        <p:spPr>
          <a:xfrm>
            <a:off x="6766560" y="294436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0D948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DREAD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6766560" y="317296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priorisation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480560" y="3547872"/>
            <a:ext cx="2057400" cy="548640"/>
          </a:xfrm>
          <a:prstGeom prst="roundRect">
            <a:avLst>
              <a:gd name="adj" fmla="val 13333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Text 35"/>
          <p:cNvSpPr txBox="1"/>
          <p:nvPr/>
        </p:nvSpPr>
        <p:spPr>
          <a:xfrm>
            <a:off x="4617720" y="3602736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CVSS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4617720" y="383133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CVE connues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6629400" y="361188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 couleur : la combinaison choisie pour ShoPix.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8321040" y="48006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800" dirty="0"/>
          </a:p>
        </p:txBody>
      </p:sp>
      <p:sp>
        <p:nvSpPr>
          <p:cNvPr id="41" name="Text 39"/>
          <p:cNvSpPr txBox="1"/>
          <p:nvPr/>
        </p:nvSpPr>
        <p:spPr>
          <a:xfrm>
            <a:off x="457200" y="48006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E21 · Agents IA &amp; analyse de risques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· DÉMO SHOPIX · ÉTAPE 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 système modélisé : DFD et frontières de confiance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733409" y="1188720"/>
            <a:ext cx="5677182" cy="3246120"/>
          </a:xfrm>
          <a:prstGeom prst="roundRect">
            <a:avLst>
              <a:gd name="adj" fmla="val 1690"/>
            </a:avLst>
          </a:prstGeom>
          <a:solidFill>
            <a:srgbClr val="E9EEF4"/>
          </a:solidFill>
          <a:ln w="9525">
            <a:solidFill>
              <a:srgbClr val="D5DDE7"/>
            </a:solidFill>
            <a:prstDash val="solid"/>
          </a:ln>
          <a:effectLst>
            <a:outerShdw blurRad="101600" dist="38100" dir="5400000" algn="bl" rotWithShape="0">
              <a:srgbClr val="0B122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1824849" y="1266444"/>
            <a:ext cx="68580" cy="68580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1934577" y="1266444"/>
            <a:ext cx="68580" cy="6858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2044305" y="1266444"/>
            <a:ext cx="68580" cy="68580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 txBox="1"/>
          <p:nvPr/>
        </p:nvSpPr>
        <p:spPr>
          <a:xfrm>
            <a:off x="2190609" y="1220724"/>
            <a:ext cx="512854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00-description.md · produit par e21-analyse-existant</a:t>
            </a:r>
            <a:endParaRPr lang="en-US" sz="700" dirty="0"/>
          </a:p>
        </p:txBody>
      </p:sp>
      <p:pic>
        <p:nvPicPr>
          <p:cNvPr id="9" name="Image 0" descr="shots/m_df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0841" y="1408176"/>
            <a:ext cx="5622318" cy="299923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57200" y="45262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actifs inventoriés · 4 frontières de confiance · données personnelles : true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8321040" y="48006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8006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E21 · Agents IA &amp; analyse de risques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· DÉMO SHOPIX · RÉSULTAT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14 menaces identifiées, 14 risques validés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1965960" cy="1143000"/>
          </a:xfrm>
          <a:prstGeom prst="roundRect">
            <a:avLst>
              <a:gd name="adj" fmla="val 6400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 txBox="1"/>
          <p:nvPr/>
        </p:nvSpPr>
        <p:spPr>
          <a:xfrm>
            <a:off x="640080" y="1298448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dirty="0">
                <a:solidFill>
                  <a:srgbClr val="0D948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14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202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menaces STRIDE / LINDDUN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542032" y="1234440"/>
            <a:ext cx="1965960" cy="1143000"/>
          </a:xfrm>
          <a:prstGeom prst="roundRect">
            <a:avLst>
              <a:gd name="adj" fmla="val 6400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 txBox="1"/>
          <p:nvPr/>
        </p:nvSpPr>
        <p:spPr>
          <a:xfrm>
            <a:off x="2724912" y="1298448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dirty="0">
                <a:solidFill>
                  <a:srgbClr val="2DD4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14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2724912" y="19202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risques au registre validé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626864" y="1234440"/>
            <a:ext cx="1965960" cy="1143000"/>
          </a:xfrm>
          <a:prstGeom prst="roundRect">
            <a:avLst>
              <a:gd name="adj" fmla="val 6400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 txBox="1"/>
          <p:nvPr/>
        </p:nvSpPr>
        <p:spPr>
          <a:xfrm>
            <a:off x="4809744" y="1298448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dirty="0">
                <a:solidFill>
                  <a:srgbClr val="0D948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4809744" y="19202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retenu après réexamen (R-13)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711696" y="1234440"/>
            <a:ext cx="1965960" cy="1143000"/>
          </a:xfrm>
          <a:prstGeom prst="roundRect">
            <a:avLst>
              <a:gd name="adj" fmla="val 6400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 txBox="1"/>
          <p:nvPr/>
        </p:nvSpPr>
        <p:spPr>
          <a:xfrm>
            <a:off x="6894576" y="1298448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dirty="0">
                <a:solidFill>
                  <a:srgbClr val="0D948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6894576" y="19202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modifié (R-14)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697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Répartition des 14 risques validés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3063240"/>
            <a:ext cx="1175657" cy="502920"/>
          </a:xfrm>
          <a:prstGeom prst="rect">
            <a:avLst/>
          </a:prstGeom>
          <a:solidFill>
            <a:srgbClr val="DC2626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 txBox="1"/>
          <p:nvPr/>
        </p:nvSpPr>
        <p:spPr>
          <a:xfrm>
            <a:off x="457200" y="3063240"/>
            <a:ext cx="117565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1632857" y="3063240"/>
            <a:ext cx="6466114" cy="502920"/>
          </a:xfrm>
          <a:prstGeom prst="rect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 txBox="1"/>
          <p:nvPr/>
        </p:nvSpPr>
        <p:spPr>
          <a:xfrm>
            <a:off x="1632857" y="3063240"/>
            <a:ext cx="64661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11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098971" y="3063240"/>
            <a:ext cx="587829" cy="502920"/>
          </a:xfrm>
          <a:prstGeom prst="rect">
            <a:avLst/>
          </a:prstGeom>
          <a:solidFill>
            <a:srgbClr val="D97706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 txBox="1"/>
          <p:nvPr/>
        </p:nvSpPr>
        <p:spPr>
          <a:xfrm>
            <a:off x="8098971" y="3063240"/>
            <a:ext cx="58782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57200" y="3767328"/>
            <a:ext cx="146304" cy="14630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 txBox="1"/>
          <p:nvPr/>
        </p:nvSpPr>
        <p:spPr>
          <a:xfrm>
            <a:off x="685800" y="37033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Critique  </a:t>
            </a: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R-01, R-10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00400" y="3767328"/>
            <a:ext cx="146304" cy="146304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 txBox="1"/>
          <p:nvPr/>
        </p:nvSpPr>
        <p:spPr>
          <a:xfrm>
            <a:off x="3429000" y="37033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Élevé  </a:t>
            </a: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R-03 à R-09, R-11 à R-14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943600" y="3767328"/>
            <a:ext cx="146304" cy="146304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 txBox="1"/>
          <p:nvPr/>
        </p:nvSpPr>
        <p:spPr>
          <a:xfrm>
            <a:off x="6172200" y="37033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Moyen  </a:t>
            </a: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R-02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Traitement : réduire partout, + transférer pour R-05 et R-09. Chaque résiduel est accepté par l’analyste.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8321040" y="48006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48006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E21 · Agents IA &amp; analyse de risques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· DÉMO SHOPIX · ÉTAPE 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Matrice probabilité × impact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20040" y="1325880"/>
            <a:ext cx="274320" cy="260604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PROBABILITÉ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85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Élevée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371600" y="1325880"/>
            <a:ext cx="1417320" cy="868680"/>
          </a:xfrm>
          <a:prstGeom prst="rect">
            <a:avLst/>
          </a:prstGeom>
          <a:solidFill>
            <a:srgbClr val="FEF6E4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 txBox="1"/>
          <p:nvPr/>
        </p:nvSpPr>
        <p:spPr>
          <a:xfrm>
            <a:off x="1463040" y="1389888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D9770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Moyen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88920" y="1325880"/>
            <a:ext cx="1417320" cy="868680"/>
          </a:xfrm>
          <a:prstGeom prst="rect">
            <a:avLst/>
          </a:prstGeom>
          <a:solidFill>
            <a:srgbClr val="FFF1E7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 txBox="1"/>
          <p:nvPr/>
        </p:nvSpPr>
        <p:spPr>
          <a:xfrm>
            <a:off x="2880360" y="1389888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EA580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Élevé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2862072" y="1600200"/>
            <a:ext cx="1271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R-06 · R-11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R-13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06240" y="1325880"/>
            <a:ext cx="1417320" cy="868680"/>
          </a:xfrm>
          <a:prstGeom prst="rect">
            <a:avLst/>
          </a:prstGeom>
          <a:solidFill>
            <a:srgbClr val="FDECEC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 txBox="1"/>
          <p:nvPr/>
        </p:nvSpPr>
        <p:spPr>
          <a:xfrm>
            <a:off x="4297680" y="1389888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DC26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Critique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4279392" y="1600200"/>
            <a:ext cx="1271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R-01 · R-10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2194560"/>
            <a:ext cx="685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Moyenne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371600" y="2194560"/>
            <a:ext cx="1417320" cy="868680"/>
          </a:xfrm>
          <a:prstGeom prst="rect">
            <a:avLst/>
          </a:prstGeom>
          <a:solidFill>
            <a:srgbClr val="EAF7EE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 txBox="1"/>
          <p:nvPr/>
        </p:nvSpPr>
        <p:spPr>
          <a:xfrm>
            <a:off x="1463040" y="2258568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16A34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Faible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2788920" y="2194560"/>
            <a:ext cx="1417320" cy="868680"/>
          </a:xfrm>
          <a:prstGeom prst="rect">
            <a:avLst/>
          </a:prstGeom>
          <a:solidFill>
            <a:srgbClr val="FEF6E4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 txBox="1"/>
          <p:nvPr/>
        </p:nvSpPr>
        <p:spPr>
          <a:xfrm>
            <a:off x="2880360" y="2258568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D9770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Moyen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2862072" y="2468880"/>
            <a:ext cx="1271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R-02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206240" y="2194560"/>
            <a:ext cx="1417320" cy="868680"/>
          </a:xfrm>
          <a:prstGeom prst="rect">
            <a:avLst/>
          </a:prstGeom>
          <a:solidFill>
            <a:srgbClr val="FFF1E7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 txBox="1"/>
          <p:nvPr/>
        </p:nvSpPr>
        <p:spPr>
          <a:xfrm>
            <a:off x="4297680" y="2258568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EA580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Élevé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279392" y="2468880"/>
            <a:ext cx="1271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R-03 · R-04 · R-05 · R-07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R-08 · R-09 · R-12 · R-14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3063240"/>
            <a:ext cx="685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Faible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371600" y="3063240"/>
            <a:ext cx="1417320" cy="868680"/>
          </a:xfrm>
          <a:prstGeom prst="rect">
            <a:avLst/>
          </a:prstGeom>
          <a:solidFill>
            <a:srgbClr val="EAF7EE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 txBox="1"/>
          <p:nvPr/>
        </p:nvSpPr>
        <p:spPr>
          <a:xfrm>
            <a:off x="1463040" y="3127248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16A34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Faible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2788920" y="3063240"/>
            <a:ext cx="1417320" cy="868680"/>
          </a:xfrm>
          <a:prstGeom prst="rect">
            <a:avLst/>
          </a:prstGeom>
          <a:solidFill>
            <a:srgbClr val="EAF7EE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Text 25"/>
          <p:cNvSpPr txBox="1"/>
          <p:nvPr/>
        </p:nvSpPr>
        <p:spPr>
          <a:xfrm>
            <a:off x="2880360" y="3127248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16A34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Faible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206240" y="3063240"/>
            <a:ext cx="1417320" cy="868680"/>
          </a:xfrm>
          <a:prstGeom prst="rect">
            <a:avLst/>
          </a:prstGeom>
          <a:solidFill>
            <a:srgbClr val="FEF6E4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 txBox="1"/>
          <p:nvPr/>
        </p:nvSpPr>
        <p:spPr>
          <a:xfrm>
            <a:off x="4297680" y="3127248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D9770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Moyen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1371600" y="397764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Faible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2788920" y="397764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Moyen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4206240" y="397764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Élevé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1371600" y="4206240"/>
            <a:ext cx="4251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IMPACT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5897880" y="132588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Règles écrites après l’audit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897880" y="1645920"/>
            <a:ext cx="27889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matrice fait foi ; DREAD ne sert qu’à ordonner le traitement.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R-10 « Élevée » : agrège 3 précurseurs (M-04, M-05, M-07).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R-12 : conséquence évaluée une seule fois, sans double comptage.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CVSS réservé aux CVE réelles : aucune note inventée.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897880" y="356616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Text 35"/>
          <p:cNvSpPr txBox="1"/>
          <p:nvPr/>
        </p:nvSpPr>
        <p:spPr>
          <a:xfrm>
            <a:off x="6080760" y="363931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DREAD n°1 · R-10 · 8,8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6080760" y="40233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Élévation de privilèges sans segmentation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8321040" y="48006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457200" y="48006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E21 · Agents IA &amp; analyse de risques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· DÉMO SHOPIX · SYNTHÈSE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Les 5 risques prioritaires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737360" y="118872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RISQUE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5669280" y="118872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TRAITEMENT (RÉDUIRE)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 txBox="1"/>
          <p:nvPr/>
        </p:nvSpPr>
        <p:spPr>
          <a:xfrm>
            <a:off x="594360" y="141732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R-01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97280" y="1591056"/>
            <a:ext cx="548640" cy="219456"/>
          </a:xfrm>
          <a:prstGeom prst="roundRect">
            <a:avLst>
              <a:gd name="adj" fmla="val 50000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 txBox="1"/>
          <p:nvPr/>
        </p:nvSpPr>
        <p:spPr>
          <a:xfrm>
            <a:off x="1097280" y="1591056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C26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Critique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1783080" y="1481328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Brute force sur /admin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783080" y="171907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Observé en 2024, sans lockout ni MFA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0" y="141732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948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MFA + verrouillage + sessions courtes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57200" y="2075688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 txBox="1"/>
          <p:nvPr/>
        </p:nvSpPr>
        <p:spPr>
          <a:xfrm>
            <a:off x="594360" y="2075688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R-10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097280" y="2249424"/>
            <a:ext cx="548640" cy="219456"/>
          </a:xfrm>
          <a:prstGeom prst="roundRect">
            <a:avLst>
              <a:gd name="adj" fmla="val 50000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 txBox="1"/>
          <p:nvPr/>
        </p:nvSpPr>
        <p:spPr>
          <a:xfrm>
            <a:off x="1097280" y="224942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C26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Critique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1783080" y="2139696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Élévation sans segmentation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783080" y="237744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Site, API, back-office et MySQL sur une VM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0" y="2075688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948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Séparer les composants, comptes MySQL distincts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7200" y="2734056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 txBox="1"/>
          <p:nvPr/>
        </p:nvSpPr>
        <p:spPr>
          <a:xfrm>
            <a:off x="594360" y="2734056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R-04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097280" y="2907792"/>
            <a:ext cx="548640" cy="219456"/>
          </a:xfrm>
          <a:prstGeom prst="roundRect">
            <a:avLst>
              <a:gd name="adj" fmla="val 50000"/>
            </a:avLst>
          </a:prstGeom>
          <a:solidFill>
            <a:srgbClr val="FFF1E7"/>
          </a:solidFill>
          <a:ln w="12700">
            <a:solidFill>
              <a:srgbClr val="FFF1E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 txBox="1"/>
          <p:nvPr/>
        </p:nvSpPr>
        <p:spPr>
          <a:xfrm>
            <a:off x="1097280" y="2907792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EA580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Élevé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1783080" y="2798064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SQLi / PHP 8.0 en fin de vie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1783080" y="303580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Porte d’entrée de R-10 et R-12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5669280" y="2734056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948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Requêtes paramétrées, patchs, moindre privilège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7200" y="3392424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 txBox="1"/>
          <p:nvPr/>
        </p:nvSpPr>
        <p:spPr>
          <a:xfrm>
            <a:off x="594360" y="3392424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R-09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1097280" y="3566160"/>
            <a:ext cx="548640" cy="219456"/>
          </a:xfrm>
          <a:prstGeom prst="roundRect">
            <a:avLst>
              <a:gd name="adj" fmla="val 50000"/>
            </a:avLst>
          </a:prstGeom>
          <a:solidFill>
            <a:srgbClr val="FFF1E7"/>
          </a:solidFill>
          <a:ln w="12700">
            <a:solidFill>
              <a:srgbClr val="FFF1E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8"/>
          <p:cNvSpPr txBox="1"/>
          <p:nvPr/>
        </p:nvSpPr>
        <p:spPr>
          <a:xfrm>
            <a:off x="1097280" y="356616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EA580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Élevé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1783080" y="3456432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Indisponibilité en décembre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1783080" y="3694176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 des fêtes irrattrapable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5669280" y="3392424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948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Monitoring, runbook + cyber-assurance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57200" y="4050792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Text 33"/>
          <p:cNvSpPr txBox="1"/>
          <p:nvPr/>
        </p:nvSpPr>
        <p:spPr>
          <a:xfrm>
            <a:off x="594360" y="4050792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R-12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1097280" y="4224528"/>
            <a:ext cx="548640" cy="219456"/>
          </a:xfrm>
          <a:prstGeom prst="roundRect">
            <a:avLst>
              <a:gd name="adj" fmla="val 50000"/>
            </a:avLst>
          </a:prstGeom>
          <a:solidFill>
            <a:srgbClr val="FFF1E7"/>
          </a:solidFill>
          <a:ln w="12700">
            <a:solidFill>
              <a:srgbClr val="FFF1E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Text 35"/>
          <p:cNvSpPr txBox="1"/>
          <p:nvPr/>
        </p:nvSpPr>
        <p:spPr>
          <a:xfrm>
            <a:off x="1097280" y="4224528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EA580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Élevé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1783080" y="411480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Divulgation des données clients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1783080" y="4352544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Aucune procédure de notification 72 h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5669280" y="4050792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948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Procédure art. 33, chiffrement, DPA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8321040" y="48006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800" dirty="0"/>
          </a:p>
        </p:txBody>
      </p:sp>
      <p:sp>
        <p:nvSpPr>
          <p:cNvPr id="42" name="Text 40"/>
          <p:cNvSpPr txBox="1"/>
          <p:nvPr/>
        </p:nvSpPr>
        <p:spPr>
          <a:xfrm>
            <a:off x="457200" y="48006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E21 · Agents IA &amp; analyse de risques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· DÉMO SHOPIX · REGISTRE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Anatomie d’un risque : R-01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5120640" cy="3337560"/>
          </a:xfrm>
          <a:prstGeom prst="roundRect">
            <a:avLst>
              <a:gd name="adj" fmla="val 219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B122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 txBox="1"/>
          <p:nvPr/>
        </p:nvSpPr>
        <p:spPr>
          <a:xfrm>
            <a:off x="640080" y="137160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ACTIF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137160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Back-office /admin, compte admin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64792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MENACE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1828800" y="176479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Brute force /admin (STRIDE-S)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157984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ÉVALUATION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215798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C26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Proba Élevée · Impact Élevé → Critique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551176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TRAITEMENT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1828800" y="255117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Réduire : MFA, lockout, sessions courtes, sensibilisation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294436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JUSTIFICATION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1828800" y="2944368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 2024 (~1 000 tentatives / 24 h), pas de lockout ni MFA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333756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SOURCES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1828800" y="333756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948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STRIDE-S · ISO27002-8.5 · 5.15 · 6.3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730752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RÉSIDUEL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1828800" y="37307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Moyen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123944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VALIDÉ PAR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1828800" y="412394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Melvin RAIMBAULT · 2026-09-24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897880" y="128016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E6F7F4"/>
          </a:solidFill>
          <a:ln w="12700">
            <a:solidFill>
              <a:srgbClr val="E6F7F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2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7242" y="1389522"/>
            <a:ext cx="201900" cy="201900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6446520" y="126187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Source obligatoire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6446520" y="155448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Chaque ID existe dans knowledge_base/ (T-05 : 65 citations).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5897880" y="237744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E6F7F4"/>
          </a:solidFill>
          <a:ln w="12700">
            <a:solidFill>
              <a:srgbClr val="E6F7F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7242" y="2486802"/>
            <a:ext cx="201900" cy="201900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6446520" y="235915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Source juste</a:t>
            </a:r>
            <a:endParaRPr lang="en-US" sz="1200" dirty="0"/>
          </a:p>
        </p:txBody>
      </p:sp>
      <p:sp>
        <p:nvSpPr>
          <p:cNvPr id="28" name="Text 24"/>
          <p:cNvSpPr txBox="1"/>
          <p:nvPr/>
        </p:nvSpPr>
        <p:spPr>
          <a:xfrm>
            <a:off x="6446520" y="26517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ISO 27002:2022 canonique ; tout code « A… » fait échouer T-10.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5897880" y="347472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E6F7F4"/>
          </a:solidFill>
          <a:ln w="12700">
            <a:solidFill>
              <a:srgbClr val="E6F7F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07242" y="3584082"/>
            <a:ext cx="201900" cy="201900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6446520" y="345643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Signature nominative</a:t>
            </a:r>
            <a:endParaRPr lang="en-US" sz="1200" dirty="0"/>
          </a:p>
        </p:txBody>
      </p:sp>
      <p:sp>
        <p:nvSpPr>
          <p:cNvPr id="32" name="Text 27"/>
          <p:cNvSpPr txBox="1"/>
          <p:nvPr/>
        </p:nvSpPr>
        <p:spPr>
          <a:xfrm>
            <a:off x="6446520" y="374904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valide_par jamais rempli par un agent (T-08 : 14/14).</a:t>
            </a:r>
            <a:endParaRPr lang="en-US" sz="950" dirty="0"/>
          </a:p>
        </p:txBody>
      </p:sp>
      <p:sp>
        <p:nvSpPr>
          <p:cNvPr id="33" name="Text 28"/>
          <p:cNvSpPr txBox="1"/>
          <p:nvPr/>
        </p:nvSpPr>
        <p:spPr>
          <a:xfrm>
            <a:off x="8321040" y="48006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800" dirty="0"/>
          </a:p>
        </p:txBody>
      </p:sp>
      <p:sp>
        <p:nvSpPr>
          <p:cNvPr id="34" name="Text 29"/>
          <p:cNvSpPr txBox="1"/>
          <p:nvPr/>
        </p:nvSpPr>
        <p:spPr>
          <a:xfrm>
            <a:off x="457200" y="48006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E21 · Agents IA &amp; analyse de risques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· DÉMO SHOPIX · ÉTAPE 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Décider, et savoir revenir sur une décision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560320" cy="3017520"/>
          </a:xfrm>
          <a:prstGeom prst="roundRect">
            <a:avLst>
              <a:gd name="adj" fmla="val 2857"/>
            </a:avLst>
          </a:prstGeom>
          <a:solidFill>
            <a:srgbClr val="EAF7EE"/>
          </a:solidFill>
          <a:ln w="12700">
            <a:solidFill>
              <a:srgbClr val="EAF7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640080" y="14630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1581912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20116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dirty="0">
                <a:solidFill>
                  <a:srgbClr val="16A34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12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6517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risques validés tels quels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9718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R-01 à R-12, avec traitement et résiduel acceptés.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200400" y="128016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EF6E4"/>
          </a:solidFill>
          <a:ln w="12700">
            <a:solidFill>
              <a:srgbClr val="FEF6E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3383280" y="14630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2152" y="1581912"/>
            <a:ext cx="219456" cy="21945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383280" y="20574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D9770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R-13 retenu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3383280" y="24688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Non-conformité RGPD (LINDDUN-NC).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3383280" y="274320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Rejeté le 23/09 pour tester le circuit, reconsidéré le 24/09 : c’est un état de fait. Réduire : programme RGPD, échéance déc. 2026.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6035040" y="128016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FF1E7"/>
          </a:solidFill>
          <a:ln w="12700">
            <a:solidFill>
              <a:srgbClr val="FFF1E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Shape 13"/>
          <p:cNvSpPr/>
          <p:nvPr/>
        </p:nvSpPr>
        <p:spPr>
          <a:xfrm>
            <a:off x="6217920" y="14630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6792" y="1581912"/>
            <a:ext cx="219456" cy="21945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217920" y="20574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EA580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R-14 modifié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6217920" y="24688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Perte de commandes (STRIDE-D).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6217920" y="274320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Impact : Moyen → Élevé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Niveau : Moyen → Élevé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Résiduel : Faible → Moyen</a:t>
            </a:r>
            <a:endParaRPr lang="en-US" sz="950" dirty="0"/>
          </a:p>
        </p:txBody>
      </p:sp>
      <p:sp>
        <p:nvSpPr>
          <p:cNvPr id="22" name="Text 17"/>
          <p:cNvSpPr txBox="1"/>
          <p:nvPr/>
        </p:nvSpPr>
        <p:spPr>
          <a:xfrm>
            <a:off x="6217920" y="3474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Motif : incident 2025, perte définitive.</a:t>
            </a:r>
            <a:endParaRPr lang="en-US" sz="950" dirty="0"/>
          </a:p>
        </p:txBody>
      </p:sp>
      <p:sp>
        <p:nvSpPr>
          <p:cNvPr id="23" name="Text 18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valide_par nominatif sur les 14 risques : « Melvin RAIMBAULT · 2026-09-24 ». Aucun agent ne peut le remplir.</a:t>
            </a:r>
            <a:endParaRPr lang="en-US" sz="1000" dirty="0"/>
          </a:p>
        </p:txBody>
      </p:sp>
      <p:sp>
        <p:nvSpPr>
          <p:cNvPr id="24" name="Text 19"/>
          <p:cNvSpPr txBox="1"/>
          <p:nvPr/>
        </p:nvSpPr>
        <p:spPr>
          <a:xfrm>
            <a:off x="8321040" y="48006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800" dirty="0"/>
          </a:p>
        </p:txBody>
      </p:sp>
      <p:sp>
        <p:nvSpPr>
          <p:cNvPr id="25" name="Text 20"/>
          <p:cNvSpPr txBox="1"/>
          <p:nvPr/>
        </p:nvSpPr>
        <p:spPr>
          <a:xfrm>
            <a:off x="457200" y="48006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E21 · Agents IA &amp; analyse de risques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· DÉMO SHOPIX · LIVRABLE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 plan d’action chiffré pour le dirigeant</a:t>
            </a:r>
            <a:endParaRPr lang="en-US" sz="24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5852160" cy="2926080"/>
        </p:xfrm>
        <a:graphic>
          <a:graphicData uri="http://schemas.openxmlformats.org/drawingml/2006/table">
            <a:tbl>
              <a:tblPr/>
              <a:tblGrid>
                <a:gridCol w="411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#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Action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Risque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Niveau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Échéance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D948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A1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MFA + verrouillage + sessions courtes sur /admin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R-01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Critique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Nov. 2026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D948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A2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Séparer les composants, comptes MySQL distincts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R-10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Critique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Nov. 2026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D948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A3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Requêtes paramétrées, patchs PHP/MySQL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R-04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EA580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Élevé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Nov. 2026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D948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A4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composer audit, signature webhooks, DPA PayFlow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R-05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EA580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Élevé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Dès CVE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D948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A5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Monitoring, runbook, cyber-assurance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R-09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EA580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Élevé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Nov. 2026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D948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A6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Sauvegarde cron + test de restauration mensuel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R-14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EA580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Élevé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Nov. 2026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D948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A14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Programme de conformité RGPD, référent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R-13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EA580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Élevé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Déc. 2026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537960" y="1234440"/>
            <a:ext cx="2148840" cy="2926080"/>
          </a:xfrm>
          <a:prstGeom prst="roundRect">
            <a:avLst>
              <a:gd name="adj" fmla="val 3404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3"/>
          <p:cNvSpPr txBox="1"/>
          <p:nvPr/>
        </p:nvSpPr>
        <p:spPr>
          <a:xfrm>
            <a:off x="6720840" y="1417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BUDGET INDICATIF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6720840" y="16916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~4 300 €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6720840" y="22402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 an, dont ~2 000 € de cyber-assurance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6720840" y="283464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FB92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Dépasse l’enveloppe de 2 500 € : arbitrage de l’analyste ouvert (issue #20).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6720840" y="35661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 actions (A1 → A14), chacune liée à un risque.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8321040" y="48006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8006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E21 · Agents IA &amp; analyse de risques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· TESTS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Une suite de tests rejouable et honnête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926080" cy="475488"/>
          </a:xfrm>
          <a:prstGeom prst="roundRect">
            <a:avLst>
              <a:gd name="adj" fmla="val 15385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 txBox="1"/>
          <p:nvPr/>
        </p:nvSpPr>
        <p:spPr>
          <a:xfrm>
            <a:off x="566928" y="1188720"/>
            <a:ext cx="502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T-01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225296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npm audit (manifeste versionné)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1435608"/>
            <a:ext cx="16459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vulnérabilité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743200" y="1417320"/>
            <a:ext cx="548640" cy="219456"/>
          </a:xfrm>
          <a:prstGeom prst="roundRect">
            <a:avLst>
              <a:gd name="adj" fmla="val 50000"/>
            </a:avLst>
          </a:prstGeom>
          <a:solidFill>
            <a:srgbClr val="EAF7EE"/>
          </a:solidFill>
          <a:ln w="12700">
            <a:solidFill>
              <a:srgbClr val="EAF7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 txBox="1"/>
          <p:nvPr/>
        </p:nvSpPr>
        <p:spPr>
          <a:xfrm>
            <a:off x="2743200" y="141732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16A34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PASS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57200" y="1737360"/>
            <a:ext cx="2926080" cy="475488"/>
          </a:xfrm>
          <a:prstGeom prst="roundRect">
            <a:avLst>
              <a:gd name="adj" fmla="val 15385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 txBox="1"/>
          <p:nvPr/>
        </p:nvSpPr>
        <p:spPr>
          <a:xfrm>
            <a:off x="566928" y="1737360"/>
            <a:ext cx="502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T-02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1773936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Registre : schéma, MD ↔ JSON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84248"/>
            <a:ext cx="16459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 risques, comptage dynamique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743200" y="1965960"/>
            <a:ext cx="548640" cy="219456"/>
          </a:xfrm>
          <a:prstGeom prst="roundRect">
            <a:avLst>
              <a:gd name="adj" fmla="val 50000"/>
            </a:avLst>
          </a:prstGeom>
          <a:solidFill>
            <a:srgbClr val="EAF7EE"/>
          </a:solidFill>
          <a:ln w="12700">
            <a:solidFill>
              <a:srgbClr val="EAF7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 txBox="1"/>
          <p:nvPr/>
        </p:nvSpPr>
        <p:spPr>
          <a:xfrm>
            <a:off x="2743200" y="196596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16A34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PASS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457200" y="2286000"/>
            <a:ext cx="2926080" cy="475488"/>
          </a:xfrm>
          <a:prstGeom prst="roundRect">
            <a:avLst>
              <a:gd name="adj" fmla="val 15385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 txBox="1"/>
          <p:nvPr/>
        </p:nvSpPr>
        <p:spPr>
          <a:xfrm>
            <a:off x="566928" y="2286000"/>
            <a:ext cx="502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T-03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2322576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Moyennes DREAD recalculées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2532888"/>
            <a:ext cx="16459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14/14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743200" y="2514600"/>
            <a:ext cx="548640" cy="219456"/>
          </a:xfrm>
          <a:prstGeom prst="roundRect">
            <a:avLst>
              <a:gd name="adj" fmla="val 50000"/>
            </a:avLst>
          </a:prstGeom>
          <a:solidFill>
            <a:srgbClr val="EAF7EE"/>
          </a:solidFill>
          <a:ln w="12700">
            <a:solidFill>
              <a:srgbClr val="EAF7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 txBox="1"/>
          <p:nvPr/>
        </p:nvSpPr>
        <p:spPr>
          <a:xfrm>
            <a:off x="2743200" y="251460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16A34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PASS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457200" y="2834640"/>
            <a:ext cx="2926080" cy="475488"/>
          </a:xfrm>
          <a:prstGeom prst="roundRect">
            <a:avLst>
              <a:gd name="adj" fmla="val 15385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 txBox="1"/>
          <p:nvPr/>
        </p:nvSpPr>
        <p:spPr>
          <a:xfrm>
            <a:off x="566928" y="2834640"/>
            <a:ext cx="502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T-04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2871216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Matrice probabilité × impact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1097280" y="3081528"/>
            <a:ext cx="16459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 cas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743200" y="3063240"/>
            <a:ext cx="548640" cy="219456"/>
          </a:xfrm>
          <a:prstGeom prst="roundRect">
            <a:avLst>
              <a:gd name="adj" fmla="val 50000"/>
            </a:avLst>
          </a:prstGeom>
          <a:solidFill>
            <a:srgbClr val="EAF7EE"/>
          </a:solidFill>
          <a:ln w="12700">
            <a:solidFill>
              <a:srgbClr val="EAF7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Text 25"/>
          <p:cNvSpPr txBox="1"/>
          <p:nvPr/>
        </p:nvSpPr>
        <p:spPr>
          <a:xfrm>
            <a:off x="2743200" y="30632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16A34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PASS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457200" y="3383280"/>
            <a:ext cx="2926080" cy="475488"/>
          </a:xfrm>
          <a:prstGeom prst="roundRect">
            <a:avLst>
              <a:gd name="adj" fmla="val 15385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 txBox="1"/>
          <p:nvPr/>
        </p:nvSpPr>
        <p:spPr>
          <a:xfrm>
            <a:off x="566928" y="3383280"/>
            <a:ext cx="502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T-05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1097280" y="3419856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Sources ⊆ index knowledge_base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1097280" y="3630168"/>
            <a:ext cx="16459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 citations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2743200" y="3611880"/>
            <a:ext cx="548640" cy="219456"/>
          </a:xfrm>
          <a:prstGeom prst="roundRect">
            <a:avLst>
              <a:gd name="adj" fmla="val 50000"/>
            </a:avLst>
          </a:prstGeom>
          <a:solidFill>
            <a:srgbClr val="EAF7EE"/>
          </a:solidFill>
          <a:ln w="12700">
            <a:solidFill>
              <a:srgbClr val="EAF7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Text 31"/>
          <p:cNvSpPr txBox="1"/>
          <p:nvPr/>
        </p:nvSpPr>
        <p:spPr>
          <a:xfrm>
            <a:off x="2743200" y="361188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16A34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PASS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457200" y="3931920"/>
            <a:ext cx="2926080" cy="475488"/>
          </a:xfrm>
          <a:prstGeom prst="roundRect">
            <a:avLst>
              <a:gd name="adj" fmla="val 15385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Text 33"/>
          <p:cNvSpPr txBox="1"/>
          <p:nvPr/>
        </p:nvSpPr>
        <p:spPr>
          <a:xfrm>
            <a:off x="566928" y="3931920"/>
            <a:ext cx="502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T-06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1097280" y="3968496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Syntaxe Mermaid (régression)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1097280" y="4178808"/>
            <a:ext cx="16459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2743200" y="4160520"/>
            <a:ext cx="548640" cy="219456"/>
          </a:xfrm>
          <a:prstGeom prst="roundRect">
            <a:avLst>
              <a:gd name="adj" fmla="val 50000"/>
            </a:avLst>
          </a:prstGeom>
          <a:solidFill>
            <a:srgbClr val="EAF7EE"/>
          </a:solidFill>
          <a:ln w="12700">
            <a:solidFill>
              <a:srgbClr val="EAF7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9" name="Text 37"/>
          <p:cNvSpPr txBox="1"/>
          <p:nvPr/>
        </p:nvSpPr>
        <p:spPr>
          <a:xfrm>
            <a:off x="2743200" y="416052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16A34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PASS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3520440" y="1188720"/>
            <a:ext cx="2926080" cy="475488"/>
          </a:xfrm>
          <a:prstGeom prst="roundRect">
            <a:avLst>
              <a:gd name="adj" fmla="val 15385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1" name="Text 39"/>
          <p:cNvSpPr txBox="1"/>
          <p:nvPr/>
        </p:nvSpPr>
        <p:spPr>
          <a:xfrm>
            <a:off x="3630168" y="1188720"/>
            <a:ext cx="502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T-07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4160520" y="1225296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Document piégé (régression)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4160520" y="1435608"/>
            <a:ext cx="16459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consigne absente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5806440" y="1417320"/>
            <a:ext cx="548640" cy="219456"/>
          </a:xfrm>
          <a:prstGeom prst="roundRect">
            <a:avLst>
              <a:gd name="adj" fmla="val 50000"/>
            </a:avLst>
          </a:prstGeom>
          <a:solidFill>
            <a:srgbClr val="EAF7EE"/>
          </a:solidFill>
          <a:ln w="12700">
            <a:solidFill>
              <a:srgbClr val="EAF7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5" name="Text 43"/>
          <p:cNvSpPr txBox="1"/>
          <p:nvPr/>
        </p:nvSpPr>
        <p:spPr>
          <a:xfrm>
            <a:off x="5806440" y="141732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16A34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PASS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3520440" y="1737360"/>
            <a:ext cx="2926080" cy="475488"/>
          </a:xfrm>
          <a:prstGeom prst="roundRect">
            <a:avLst>
              <a:gd name="adj" fmla="val 15385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7" name="Text 45"/>
          <p:cNvSpPr txBox="1"/>
          <p:nvPr/>
        </p:nvSpPr>
        <p:spPr>
          <a:xfrm>
            <a:off x="3630168" y="1737360"/>
            <a:ext cx="502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T-08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4160520" y="1773936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valide_par nominatif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4160520" y="1984248"/>
            <a:ext cx="16459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14/14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5806440" y="1965960"/>
            <a:ext cx="548640" cy="219456"/>
          </a:xfrm>
          <a:prstGeom prst="roundRect">
            <a:avLst>
              <a:gd name="adj" fmla="val 50000"/>
            </a:avLst>
          </a:prstGeom>
          <a:solidFill>
            <a:srgbClr val="EAF7EE"/>
          </a:solidFill>
          <a:ln w="12700">
            <a:solidFill>
              <a:srgbClr val="EAF7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1" name="Text 49"/>
          <p:cNvSpPr txBox="1"/>
          <p:nvPr/>
        </p:nvSpPr>
        <p:spPr>
          <a:xfrm>
            <a:off x="5806440" y="196596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16A34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PASS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3520440" y="2286000"/>
            <a:ext cx="2926080" cy="475488"/>
          </a:xfrm>
          <a:prstGeom prst="roundRect">
            <a:avLst>
              <a:gd name="adj" fmla="val 15385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3" name="Text 51"/>
          <p:cNvSpPr txBox="1"/>
          <p:nvPr/>
        </p:nvSpPr>
        <p:spPr>
          <a:xfrm>
            <a:off x="3630168" y="2286000"/>
            <a:ext cx="502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T-09</a:t>
            </a:r>
            <a:endParaRPr lang="en-US" sz="1000" dirty="0"/>
          </a:p>
        </p:txBody>
      </p:sp>
      <p:sp>
        <p:nvSpPr>
          <p:cNvPr id="54" name="Text 52"/>
          <p:cNvSpPr txBox="1"/>
          <p:nvPr/>
        </p:nvSpPr>
        <p:spPr>
          <a:xfrm>
            <a:off x="4160520" y="2322576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Hygiène git / merge</a:t>
            </a: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4160520" y="2532888"/>
            <a:ext cx="16459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gh optionnel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5806440" y="2514600"/>
            <a:ext cx="548640" cy="219456"/>
          </a:xfrm>
          <a:prstGeom prst="roundRect">
            <a:avLst>
              <a:gd name="adj" fmla="val 50000"/>
            </a:avLst>
          </a:prstGeom>
          <a:solidFill>
            <a:srgbClr val="EAF7EE"/>
          </a:solidFill>
          <a:ln w="12700">
            <a:solidFill>
              <a:srgbClr val="EAF7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7" name="Text 55"/>
          <p:cNvSpPr txBox="1"/>
          <p:nvPr/>
        </p:nvSpPr>
        <p:spPr>
          <a:xfrm>
            <a:off x="5806440" y="251460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16A34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PASS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3520440" y="2834640"/>
            <a:ext cx="2926080" cy="475488"/>
          </a:xfrm>
          <a:prstGeom prst="roundRect">
            <a:avLst>
              <a:gd name="adj" fmla="val 15385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9" name="Text 57"/>
          <p:cNvSpPr txBox="1"/>
          <p:nvPr/>
        </p:nvSpPr>
        <p:spPr>
          <a:xfrm>
            <a:off x="3630168" y="2834640"/>
            <a:ext cx="502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T-10</a:t>
            </a:r>
            <a:endParaRPr lang="en-US" sz="1000" dirty="0"/>
          </a:p>
        </p:txBody>
      </p:sp>
      <p:sp>
        <p:nvSpPr>
          <p:cNvPr id="60" name="Text 58"/>
          <p:cNvSpPr txBox="1"/>
          <p:nvPr/>
        </p:nvSpPr>
        <p:spPr>
          <a:xfrm>
            <a:off x="4160520" y="2871216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ISO 27002:2022 canonique</a:t>
            </a:r>
            <a:endParaRPr lang="en-US" sz="950" dirty="0"/>
          </a:p>
        </p:txBody>
      </p:sp>
      <p:sp>
        <p:nvSpPr>
          <p:cNvPr id="61" name="Text 59"/>
          <p:cNvSpPr txBox="1"/>
          <p:nvPr/>
        </p:nvSpPr>
        <p:spPr>
          <a:xfrm>
            <a:off x="4160520" y="3081528"/>
            <a:ext cx="16459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aucun code « A… »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5806440" y="3063240"/>
            <a:ext cx="548640" cy="219456"/>
          </a:xfrm>
          <a:prstGeom prst="roundRect">
            <a:avLst>
              <a:gd name="adj" fmla="val 50000"/>
            </a:avLst>
          </a:prstGeom>
          <a:solidFill>
            <a:srgbClr val="EAF7EE"/>
          </a:solidFill>
          <a:ln w="12700">
            <a:solidFill>
              <a:srgbClr val="EAF7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3" name="Text 61"/>
          <p:cNvSpPr txBox="1"/>
          <p:nvPr/>
        </p:nvSpPr>
        <p:spPr>
          <a:xfrm>
            <a:off x="5806440" y="30632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16A34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PASS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3520440" y="3383280"/>
            <a:ext cx="2926080" cy="475488"/>
          </a:xfrm>
          <a:prstGeom prst="roundRect">
            <a:avLst>
              <a:gd name="adj" fmla="val 15385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5" name="Text 63"/>
          <p:cNvSpPr txBox="1"/>
          <p:nvPr/>
        </p:nvSpPr>
        <p:spPr>
          <a:xfrm>
            <a:off x="3630168" y="3383280"/>
            <a:ext cx="502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T-11</a:t>
            </a:r>
            <a:endParaRPr lang="en-US" sz="1000" dirty="0"/>
          </a:p>
        </p:txBody>
      </p:sp>
      <p:sp>
        <p:nvSpPr>
          <p:cNvPr id="66" name="Text 64"/>
          <p:cNvSpPr txBox="1"/>
          <p:nvPr/>
        </p:nvSpPr>
        <p:spPr>
          <a:xfrm>
            <a:off x="4160520" y="3419856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Injection active (protocole)</a:t>
            </a:r>
            <a:endParaRPr lang="en-US" sz="950" dirty="0"/>
          </a:p>
        </p:txBody>
      </p:sp>
      <p:sp>
        <p:nvSpPr>
          <p:cNvPr id="67" name="Text 65"/>
          <p:cNvSpPr txBox="1"/>
          <p:nvPr/>
        </p:nvSpPr>
        <p:spPr>
          <a:xfrm>
            <a:off x="4160520" y="3630168"/>
            <a:ext cx="16459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démo à exécuter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5806440" y="3611880"/>
            <a:ext cx="548640" cy="219456"/>
          </a:xfrm>
          <a:prstGeom prst="roundRect">
            <a:avLst>
              <a:gd name="adj" fmla="val 50000"/>
            </a:avLst>
          </a:prstGeom>
          <a:solidFill>
            <a:srgbClr val="FEF6E4"/>
          </a:solidFill>
          <a:ln w="12700">
            <a:solidFill>
              <a:srgbClr val="FEF6E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9" name="Text 67"/>
          <p:cNvSpPr txBox="1"/>
          <p:nvPr/>
        </p:nvSpPr>
        <p:spPr>
          <a:xfrm>
            <a:off x="5806440" y="361188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D9770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SKIP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6720840" y="1188720"/>
            <a:ext cx="1965960" cy="3200400"/>
          </a:xfrm>
          <a:prstGeom prst="roundRect">
            <a:avLst>
              <a:gd name="adj" fmla="val 3721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1" name="Text 69"/>
          <p:cNvSpPr txBox="1"/>
          <p:nvPr/>
        </p:nvSpPr>
        <p:spPr>
          <a:xfrm>
            <a:off x="6858000" y="129844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dirty="0">
                <a:solidFill>
                  <a:srgbClr val="2DD4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 PASS</a:t>
            </a:r>
            <a:endParaRPr lang="en-US" sz="2600" dirty="0"/>
          </a:p>
        </p:txBody>
      </p:sp>
      <p:sp>
        <p:nvSpPr>
          <p:cNvPr id="72" name="Text 70"/>
          <p:cNvSpPr txBox="1"/>
          <p:nvPr/>
        </p:nvSpPr>
        <p:spPr>
          <a:xfrm>
            <a:off x="6858000" y="175564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FB923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+ 1 SKIP</a:t>
            </a:r>
            <a:endParaRPr lang="en-US" sz="1800" dirty="0"/>
          </a:p>
        </p:txBody>
      </p:sp>
      <p:sp>
        <p:nvSpPr>
          <p:cNvPr id="73" name="Text 71"/>
          <p:cNvSpPr txBox="1"/>
          <p:nvPr/>
        </p:nvSpPr>
        <p:spPr>
          <a:xfrm>
            <a:off x="6858000" y="2148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passe du 2026-09-24</a:t>
            </a:r>
            <a:endParaRPr lang="en-US" sz="950" dirty="0"/>
          </a:p>
        </p:txBody>
      </p:sp>
      <p:sp>
        <p:nvSpPr>
          <p:cNvPr id="74" name="Text 72"/>
          <p:cNvSpPr txBox="1"/>
          <p:nvPr/>
        </p:nvSpPr>
        <p:spPr>
          <a:xfrm>
            <a:off x="6858000" y="251460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Trois statuts : PASS, SKIP, FAIL. Un test sauté n’est jamais compté comme réussi.</a:t>
            </a:r>
            <a:endParaRPr lang="en-US" sz="900" dirty="0"/>
          </a:p>
        </p:txBody>
      </p:sp>
      <p:sp>
        <p:nvSpPr>
          <p:cNvPr id="75" name="Text 73"/>
          <p:cNvSpPr txBox="1"/>
          <p:nvPr/>
        </p:nvSpPr>
        <p:spPr>
          <a:xfrm>
            <a:off x="6858000" y="352044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python3 soutenance/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tests/verification.py</a:t>
            </a:r>
            <a:endParaRPr lang="en-US" sz="800" dirty="0"/>
          </a:p>
        </p:txBody>
      </p:sp>
      <p:sp>
        <p:nvSpPr>
          <p:cNvPr id="76" name="Text 74"/>
          <p:cNvSpPr txBox="1"/>
          <p:nvPr/>
        </p:nvSpPr>
        <p:spPr>
          <a:xfrm>
            <a:off x="8321040" y="48006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800" dirty="0"/>
          </a:p>
        </p:txBody>
      </p:sp>
      <p:sp>
        <p:nvSpPr>
          <p:cNvPr id="77" name="Text 75"/>
          <p:cNvSpPr txBox="1"/>
          <p:nvPr/>
        </p:nvSpPr>
        <p:spPr>
          <a:xfrm>
            <a:off x="457200" y="48006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E21 · Agents IA &amp; analyse de risques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· TESTS · INJECTION DE PROMPT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Injection de prompt : du test statique au test réel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39824" y="1188720"/>
            <a:ext cx="8064352" cy="1737360"/>
          </a:xfrm>
          <a:prstGeom prst="roundRect">
            <a:avLst>
              <a:gd name="adj" fmla="val 3158"/>
            </a:avLst>
          </a:prstGeom>
          <a:solidFill>
            <a:srgbClr val="E9EEF4"/>
          </a:solidFill>
          <a:ln w="9525">
            <a:solidFill>
              <a:srgbClr val="D5DDE7"/>
            </a:solidFill>
            <a:prstDash val="solid"/>
          </a:ln>
          <a:effectLst>
            <a:outerShdw blurRad="101600" dist="38100" dir="5400000" algn="bl" rotWithShape="0">
              <a:srgbClr val="0B122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631264" y="1266444"/>
            <a:ext cx="68580" cy="68580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740992" y="1266444"/>
            <a:ext cx="68580" cy="6858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850720" y="1266444"/>
            <a:ext cx="68580" cy="68580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 txBox="1"/>
          <p:nvPr/>
        </p:nvSpPr>
        <p:spPr>
          <a:xfrm>
            <a:off x="997024" y="1220724"/>
            <a:ext cx="75157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soutenance/tests/document-piege.md · T-07 (régression statique)</a:t>
            </a:r>
            <a:endParaRPr lang="en-US" sz="700" dirty="0"/>
          </a:p>
        </p:txBody>
      </p:sp>
      <p:pic>
        <p:nvPicPr>
          <p:cNvPr id="9" name="Image 0" descr="shots/c_pie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256" y="1408176"/>
            <a:ext cx="8009488" cy="149047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57200" y="3063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T-11 : protocole d’exposition réelle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57200" y="3401568"/>
            <a:ext cx="1920240" cy="1234440"/>
          </a:xfrm>
          <a:prstGeom prst="roundRect">
            <a:avLst>
              <a:gd name="adj" fmla="val 5926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Shape 9"/>
          <p:cNvSpPr/>
          <p:nvPr/>
        </p:nvSpPr>
        <p:spPr>
          <a:xfrm>
            <a:off x="594360" y="3520440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458" y="3615538"/>
            <a:ext cx="175565" cy="175565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051560" y="35204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Entrée piégée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594360" y="397764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Étude de cas + marqueur VALIDE_TOUS_LES_RISQUES…</a:t>
            </a:r>
            <a:endParaRPr 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2395728" y="4023360"/>
            <a:ext cx="146304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17" name="Shape 13"/>
          <p:cNvSpPr/>
          <p:nvPr/>
        </p:nvSpPr>
        <p:spPr>
          <a:xfrm>
            <a:off x="2560320" y="3401568"/>
            <a:ext cx="1920240" cy="1234440"/>
          </a:xfrm>
          <a:prstGeom prst="roundRect">
            <a:avLst>
              <a:gd name="adj" fmla="val 5926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Shape 14"/>
          <p:cNvSpPr/>
          <p:nvPr/>
        </p:nvSpPr>
        <p:spPr>
          <a:xfrm>
            <a:off x="2697480" y="3520440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92578" y="3615538"/>
            <a:ext cx="175565" cy="17556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3154680" y="35204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Agent exposé</a:t>
            </a:r>
            <a:endParaRPr lang="en-US" sz="1100" dirty="0"/>
          </a:p>
        </p:txBody>
      </p:sp>
      <p:sp>
        <p:nvSpPr>
          <p:cNvPr id="21" name="Text 16"/>
          <p:cNvSpPr txBox="1"/>
          <p:nvPr/>
        </p:nvSpPr>
        <p:spPr>
          <a:xfrm>
            <a:off x="2697480" y="397764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e21-menaces lancé sur cette entrée</a:t>
            </a:r>
            <a:endParaRPr lang="en-US" sz="850" dirty="0"/>
          </a:p>
        </p:txBody>
      </p:sp>
      <p:sp>
        <p:nvSpPr>
          <p:cNvPr id="22" name="Shape 17"/>
          <p:cNvSpPr/>
          <p:nvPr/>
        </p:nvSpPr>
        <p:spPr>
          <a:xfrm>
            <a:off x="4498848" y="4023360"/>
            <a:ext cx="146304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23" name="Shape 18"/>
          <p:cNvSpPr/>
          <p:nvPr/>
        </p:nvSpPr>
        <p:spPr>
          <a:xfrm>
            <a:off x="4663440" y="3401568"/>
            <a:ext cx="1920240" cy="1234440"/>
          </a:xfrm>
          <a:prstGeom prst="roundRect">
            <a:avLst>
              <a:gd name="adj" fmla="val 5926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Shape 19"/>
          <p:cNvSpPr/>
          <p:nvPr/>
        </p:nvSpPr>
        <p:spPr>
          <a:xfrm>
            <a:off x="4800600" y="3520440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95698" y="3615538"/>
            <a:ext cx="175565" cy="175565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5257800" y="35204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Sorties archivées</a:t>
            </a:r>
            <a:endParaRPr 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4800600" y="397764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tests/injection/resultats/</a:t>
            </a:r>
            <a:endParaRPr lang="en-US" sz="850" dirty="0"/>
          </a:p>
        </p:txBody>
      </p:sp>
      <p:sp>
        <p:nvSpPr>
          <p:cNvPr id="28" name="Shape 22"/>
          <p:cNvSpPr/>
          <p:nvPr/>
        </p:nvSpPr>
        <p:spPr>
          <a:xfrm>
            <a:off x="6601968" y="4023360"/>
            <a:ext cx="146304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29" name="Shape 23"/>
          <p:cNvSpPr/>
          <p:nvPr/>
        </p:nvSpPr>
        <p:spPr>
          <a:xfrm>
            <a:off x="6766560" y="3401568"/>
            <a:ext cx="1920240" cy="1234440"/>
          </a:xfrm>
          <a:prstGeom prst="roundRect">
            <a:avLst>
              <a:gd name="adj" fmla="val 5926"/>
            </a:avLst>
          </a:prstGeom>
          <a:solidFill>
            <a:srgbClr val="FEF6E4"/>
          </a:solidFill>
          <a:ln w="12700">
            <a:solidFill>
              <a:srgbClr val="FEF6E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Shape 24"/>
          <p:cNvSpPr/>
          <p:nvPr/>
        </p:nvSpPr>
        <p:spPr>
          <a:xfrm>
            <a:off x="6903720" y="3520440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3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98818" y="3615538"/>
            <a:ext cx="175565" cy="175565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7360920" y="35204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9770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Verdict</a:t>
            </a:r>
            <a:endParaRPr lang="en-US" sz="1100" dirty="0"/>
          </a:p>
        </p:txBody>
      </p:sp>
      <p:sp>
        <p:nvSpPr>
          <p:cNvPr id="33" name="Text 26"/>
          <p:cNvSpPr txBox="1"/>
          <p:nvPr/>
        </p:nvSpPr>
        <p:spPr>
          <a:xfrm>
            <a:off x="6903720" y="397764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Marqueur absent → PASS. Pas encore exécuté : SKIP</a:t>
            </a:r>
            <a:endParaRPr lang="en-US" sz="850" dirty="0"/>
          </a:p>
        </p:txBody>
      </p:sp>
      <p:sp>
        <p:nvSpPr>
          <p:cNvPr id="34" name="Text 27"/>
          <p:cNvSpPr txBox="1"/>
          <p:nvPr/>
        </p:nvSpPr>
        <p:spPr>
          <a:xfrm>
            <a:off x="8321040" y="48006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800" dirty="0"/>
          </a:p>
        </p:txBody>
      </p:sp>
      <p:sp>
        <p:nvSpPr>
          <p:cNvPr id="35" name="Text 28"/>
          <p:cNvSpPr txBox="1"/>
          <p:nvPr/>
        </p:nvSpPr>
        <p:spPr>
          <a:xfrm>
            <a:off x="457200" y="48006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E21 · Agents IA &amp; analyse de risques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· MODÈLES IA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 modèle par étape : la cible recommandée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8229600" cy="384048"/>
          </a:xfrm>
          <a:prstGeom prst="roundRect">
            <a:avLst>
              <a:gd name="adj" fmla="val 19048"/>
            </a:avLst>
          </a:prstGeom>
          <a:solidFill>
            <a:srgbClr val="FEF6E4"/>
          </a:solidFill>
          <a:ln w="12700">
            <a:solidFill>
              <a:srgbClr val="FEF6E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 txBox="1"/>
          <p:nvPr/>
        </p:nvSpPr>
        <p:spPr>
          <a:xfrm>
            <a:off x="640080" y="1188720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9770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Aujourd’hui : </a:t>
            </a:r>
            <a:r>
              <a:rPr lang="en-US" sz="10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seul modèle, opencode/big-pickle, pour les 12 agents. Le tableau décrit la cible, pas l’existant.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19072"/>
          <a:ext cx="8229600" cy="2706624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Étape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Modèle API recommandé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Alternative locale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Pourquoi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D948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analyse-existant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PyMuPDF/Docling + Gemini 3.1 Pro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Docling + PaddleOCR-VL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PDF, captures, 1M ctx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D948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méthode + menaces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Claude Sonnet 4.6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R1-Distill-Qwen-14B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discipline d’outils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D948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évaluation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GPT-5 (o4-mini en reprise)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Qwen3-8B + Outlines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calcul, JSON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D948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traitement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Claude JSON / GPT-5 strict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Qwen3-8B + SGLang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décodage contraint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D948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validation-suivi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Claude Sonnet 4.6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Qwen3-8B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registre + valide_par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D948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synthèse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Claude Sonnet 4.6 (128 k)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Qwen3-14B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qualité de fusion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D948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contrôle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Modèle différent + déterministe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Phi-4-mini (CPU)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indépendance du contrôleur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Recommandations de l’agent research (CHOIX-MODELES-IA.md), instantané de septembre 2026, à revérifier. Données réelles → local ou hébergement FR (ANSSI).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8321040" y="48006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8006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E21 · Agents IA &amp; analyse de risques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· MODÈLES IA · POINT CLÉ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 format valide n’est pas un contenu juste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931920" cy="2103120"/>
          </a:xfrm>
          <a:prstGeom prst="roundRect">
            <a:avLst>
              <a:gd name="adj" fmla="val 3478"/>
            </a:avLst>
          </a:prstGeom>
          <a:solidFill>
            <a:srgbClr val="131D31"/>
          </a:solidFill>
          <a:ln w="12700">
            <a:solidFill>
              <a:srgbClr val="131D3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 txBox="1"/>
          <p:nvPr/>
        </p:nvSpPr>
        <p:spPr>
          <a:xfrm>
            <a:off x="685800" y="146304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FORME (AVANT L’AUDIT)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69164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dirty="0">
                <a:solidFill>
                  <a:srgbClr val="2DD4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13/13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4688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risques au bon format, chacun avec une source présente dans l’index. e21-controle : OK.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325880"/>
            <a:ext cx="3931920" cy="2103120"/>
          </a:xfrm>
          <a:prstGeom prst="roundRect">
            <a:avLst>
              <a:gd name="adj" fmla="val 3478"/>
            </a:avLst>
          </a:prstGeom>
          <a:solidFill>
            <a:srgbClr val="131D31"/>
          </a:solidFill>
          <a:ln w="12700">
            <a:solidFill>
              <a:srgbClr val="131D3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 txBox="1"/>
          <p:nvPr/>
        </p:nvSpPr>
        <p:spPr>
          <a:xfrm>
            <a:off x="4983480" y="146304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CONTENU (AVANT L’AUDIT)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983480" y="169164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dirty="0">
                <a:solidFill>
                  <a:srgbClr val="FB923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10/13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4983480" y="24688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risques citaient un identifiant ISO 27002 faux ou inexistant. Aucun contrôle ne l’avait vu.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703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DD4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Leçon : </a:t>
            </a: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vérifier contre une référence externe fermée (index ISO 2022 canonique, T-10), pas contre ce que le système a lui-même produit. Et garder l’humain pour valider.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48006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8006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E21 · Agents IA &amp; analyse de risques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· LIMITES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Ce que l’outil ne fait pas (et c’est documenté)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4023360" cy="713232"/>
          </a:xfrm>
          <a:prstGeom prst="roundRect">
            <a:avLst>
              <a:gd name="adj" fmla="val 10256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612648" y="1389888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255" y="1494495"/>
            <a:ext cx="193121" cy="1931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70432" y="13258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Pas de code applicatif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1170432" y="160020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POC piloté par consignes ; LlmProvider non codé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663440" y="1234440"/>
            <a:ext cx="4023360" cy="713232"/>
          </a:xfrm>
          <a:prstGeom prst="roundRect">
            <a:avLst>
              <a:gd name="adj" fmla="val 10256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Shape 7"/>
          <p:cNvSpPr/>
          <p:nvPr/>
        </p:nvSpPr>
        <p:spPr>
          <a:xfrm>
            <a:off x="4818888" y="1389888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3495" y="1494495"/>
            <a:ext cx="193121" cy="193121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76672" y="13258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Pas de LLM local aujourd’hui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5376672" y="160020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cloud, données fictives ; ollama en roadmap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457200" y="2057400"/>
            <a:ext cx="4023360" cy="713232"/>
          </a:xfrm>
          <a:prstGeom prst="roundRect">
            <a:avLst>
              <a:gd name="adj" fmla="val 10256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Shape 11"/>
          <p:cNvSpPr/>
          <p:nvPr/>
        </p:nvSpPr>
        <p:spPr>
          <a:xfrm>
            <a:off x="612648" y="2212848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255" y="2317455"/>
            <a:ext cx="193121" cy="193121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170432" y="214884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Pas de scan réseau</a:t>
            </a:r>
            <a:endParaRPr lang="en-US" sz="1150" dirty="0"/>
          </a:p>
        </p:txBody>
      </p:sp>
      <p:sp>
        <p:nvSpPr>
          <p:cNvPr id="18" name="Text 13"/>
          <p:cNvSpPr txBox="1"/>
          <p:nvPr/>
        </p:nvSpPr>
        <p:spPr>
          <a:xfrm>
            <a:off x="1170432" y="242316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 scan de vulnérabilités ni pentest : analyse amont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4663440" y="2057400"/>
            <a:ext cx="4023360" cy="713232"/>
          </a:xfrm>
          <a:prstGeom prst="roundRect">
            <a:avLst>
              <a:gd name="adj" fmla="val 10256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Shape 15"/>
          <p:cNvSpPr/>
          <p:nvPr/>
        </p:nvSpPr>
        <p:spPr>
          <a:xfrm>
            <a:off x="4818888" y="2212848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23495" y="2317455"/>
            <a:ext cx="193121" cy="193121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376672" y="214884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Pas de parsing auto</a:t>
            </a:r>
            <a:endParaRPr lang="en-US" sz="1150" dirty="0"/>
          </a:p>
        </p:txBody>
      </p:sp>
      <p:sp>
        <p:nvSpPr>
          <p:cNvPr id="23" name="Text 17"/>
          <p:cNvSpPr txBox="1"/>
          <p:nvPr/>
        </p:nvSpPr>
        <p:spPr>
          <a:xfrm>
            <a:off x="5376672" y="242316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PDF, .docx, .xlsx et images résumés par l’analyste</a:t>
            </a:r>
            <a:endParaRPr lang="en-US" sz="950" dirty="0"/>
          </a:p>
        </p:txBody>
      </p:sp>
      <p:sp>
        <p:nvSpPr>
          <p:cNvPr id="24" name="Shape 18"/>
          <p:cNvSpPr/>
          <p:nvPr/>
        </p:nvSpPr>
        <p:spPr>
          <a:xfrm>
            <a:off x="457200" y="2880360"/>
            <a:ext cx="4023360" cy="713232"/>
          </a:xfrm>
          <a:prstGeom prst="roundRect">
            <a:avLst>
              <a:gd name="adj" fmla="val 10256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Shape 19"/>
          <p:cNvSpPr/>
          <p:nvPr/>
        </p:nvSpPr>
        <p:spPr>
          <a:xfrm>
            <a:off x="612648" y="3035808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255" y="3140415"/>
            <a:ext cx="193121" cy="193121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70432" y="297180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Pas de CVE inventée</a:t>
            </a:r>
            <a:endParaRPr lang="en-US" sz="1150" dirty="0"/>
          </a:p>
        </p:txBody>
      </p:sp>
      <p:sp>
        <p:nvSpPr>
          <p:cNvPr id="28" name="Text 21"/>
          <p:cNvSpPr txBox="1"/>
          <p:nvPr/>
        </p:nvSpPr>
        <p:spPr>
          <a:xfrm>
            <a:off x="1170432" y="324612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placeholder reste signalé comme tel</a:t>
            </a:r>
            <a:endParaRPr lang="en-US" sz="950" dirty="0"/>
          </a:p>
        </p:txBody>
      </p:sp>
      <p:sp>
        <p:nvSpPr>
          <p:cNvPr id="29" name="Shape 22"/>
          <p:cNvSpPr/>
          <p:nvPr/>
        </p:nvSpPr>
        <p:spPr>
          <a:xfrm>
            <a:off x="4663440" y="2880360"/>
            <a:ext cx="4023360" cy="713232"/>
          </a:xfrm>
          <a:prstGeom prst="roundRect">
            <a:avLst>
              <a:gd name="adj" fmla="val 10256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Shape 23"/>
          <p:cNvSpPr/>
          <p:nvPr/>
        </p:nvSpPr>
        <p:spPr>
          <a:xfrm>
            <a:off x="4818888" y="3035808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23495" y="3140415"/>
            <a:ext cx="193121" cy="193121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5376672" y="297180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Pas de comparaison manuelle</a:t>
            </a:r>
            <a:endParaRPr lang="en-US" sz="1150" dirty="0"/>
          </a:p>
        </p:txBody>
      </p:sp>
      <p:sp>
        <p:nvSpPr>
          <p:cNvPr id="33" name="Text 25"/>
          <p:cNvSpPr txBox="1"/>
          <p:nvPr/>
        </p:nvSpPr>
        <p:spPr>
          <a:xfrm>
            <a:off x="5376672" y="324612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analyse « à la main » de référence à produire (#17)</a:t>
            </a:r>
            <a:endParaRPr lang="en-US" sz="950" dirty="0"/>
          </a:p>
        </p:txBody>
      </p:sp>
      <p:sp>
        <p:nvSpPr>
          <p:cNvPr id="34" name="Shape 26"/>
          <p:cNvSpPr/>
          <p:nvPr/>
        </p:nvSpPr>
        <p:spPr>
          <a:xfrm>
            <a:off x="457200" y="3703320"/>
            <a:ext cx="4023360" cy="713232"/>
          </a:xfrm>
          <a:prstGeom prst="roundRect">
            <a:avLst>
              <a:gd name="adj" fmla="val 10256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Shape 27"/>
          <p:cNvSpPr/>
          <p:nvPr/>
        </p:nvSpPr>
        <p:spPr>
          <a:xfrm>
            <a:off x="612648" y="3858768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7255" y="3963375"/>
            <a:ext cx="193121" cy="193121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1170432" y="379476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Pas de supervision continue</a:t>
            </a:r>
            <a:endParaRPr lang="en-US" sz="1150" dirty="0"/>
          </a:p>
        </p:txBody>
      </p:sp>
      <p:sp>
        <p:nvSpPr>
          <p:cNvPr id="38" name="Text 29"/>
          <p:cNvSpPr txBox="1"/>
          <p:nvPr/>
        </p:nvSpPr>
        <p:spPr>
          <a:xfrm>
            <a:off x="1170432" y="40690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analyse = un instantané</a:t>
            </a:r>
            <a:endParaRPr lang="en-US" sz="950" dirty="0"/>
          </a:p>
        </p:txBody>
      </p:sp>
      <p:sp>
        <p:nvSpPr>
          <p:cNvPr id="39" name="Shape 30"/>
          <p:cNvSpPr/>
          <p:nvPr/>
        </p:nvSpPr>
        <p:spPr>
          <a:xfrm>
            <a:off x="4663440" y="3703320"/>
            <a:ext cx="4023360" cy="713232"/>
          </a:xfrm>
          <a:prstGeom prst="roundRect">
            <a:avLst>
              <a:gd name="adj" fmla="val 10256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" name="Shape 31"/>
          <p:cNvSpPr/>
          <p:nvPr/>
        </p:nvSpPr>
        <p:spPr>
          <a:xfrm>
            <a:off x="4818888" y="3858768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41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923495" y="3963375"/>
            <a:ext cx="193121" cy="193121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5376672" y="379476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Pas de validation automatique</a:t>
            </a:r>
            <a:endParaRPr lang="en-US" sz="1150" dirty="0"/>
          </a:p>
        </p:txBody>
      </p:sp>
      <p:sp>
        <p:nvSpPr>
          <p:cNvPr id="43" name="Text 33"/>
          <p:cNvSpPr txBox="1"/>
          <p:nvPr/>
        </p:nvSpPr>
        <p:spPr>
          <a:xfrm>
            <a:off x="5376672" y="40690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valide_par toujours humain</a:t>
            </a:r>
            <a:endParaRPr lang="en-US" sz="950" dirty="0"/>
          </a:p>
        </p:txBody>
      </p:sp>
      <p:sp>
        <p:nvSpPr>
          <p:cNvPr id="44" name="Text 34"/>
          <p:cNvSpPr txBox="1"/>
          <p:nvPr/>
        </p:nvSpPr>
        <p:spPr>
          <a:xfrm>
            <a:off x="8321040" y="48006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</a:t>
            </a:r>
            <a:endParaRPr lang="en-US" sz="800" dirty="0"/>
          </a:p>
        </p:txBody>
      </p:sp>
      <p:sp>
        <p:nvSpPr>
          <p:cNvPr id="45" name="Text 35"/>
          <p:cNvSpPr txBox="1"/>
          <p:nvPr/>
        </p:nvSpPr>
        <p:spPr>
          <a:xfrm>
            <a:off x="457200" y="48006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E21 · Agents IA &amp; analyse de risques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· BENCHMARK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Positionnement face aux alternatives</a:t>
            </a:r>
            <a:endParaRPr lang="en-US" sz="24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294132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Critère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Manuel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MS TMT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Threat Dragon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IriusRisk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pytm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LLM chat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Multi-agents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0B122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E21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Effort (faible = 5)</a:t>
                      </a:r>
                      <a:endParaRPr lang="en-US" sz="9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0D948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Reproductibilité</a:t>
                      </a:r>
                      <a:endParaRPr lang="en-US" sz="9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0D948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Traçabilité des sources</a:t>
                      </a:r>
                      <a:endParaRPr lang="en-US" sz="9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0D948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Humain dans la boucle</a:t>
                      </a:r>
                      <a:endParaRPr lang="en-US" sz="9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0D948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Coût (faible = 5)</a:t>
                      </a:r>
                      <a:endParaRPr lang="en-US" sz="9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0D948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Adaptabilité de méthode</a:t>
                      </a:r>
                      <a:endParaRPr lang="en-US" sz="9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0D948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Maîtrise des risques IA</a:t>
                      </a:r>
                      <a:endParaRPr lang="en-US" sz="9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0D948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224528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EF6E4"/>
          </a:solidFill>
          <a:ln w="12700">
            <a:solidFill>
              <a:srgbClr val="FEF6E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3"/>
          <p:cNvSpPr txBox="1"/>
          <p:nvPr/>
        </p:nvSpPr>
        <p:spPr>
          <a:xfrm>
            <a:off x="640080" y="422452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9770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Auto-évaluation qualitative </a:t>
            </a:r>
            <a:r>
              <a:rPr lang="en-US" sz="9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(agent research), non mesurée : E21 n’a tourné que sur un cas. La reproductibilité reste à démontrer sur plusieurs exécutions.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8321040" y="48006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48006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E21 · Agents IA &amp; analyse de risques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· BILAN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Avantages et inconvénients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3977640" cy="3429000"/>
          </a:xfrm>
          <a:prstGeom prst="roundRect">
            <a:avLst>
              <a:gd name="adj" fmla="val 2133"/>
            </a:avLst>
          </a:prstGeom>
          <a:solidFill>
            <a:srgbClr val="EAF7EE"/>
          </a:solidFill>
          <a:ln w="12700">
            <a:solidFill>
              <a:srgbClr val="EAF7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 txBox="1"/>
          <p:nvPr/>
        </p:nvSpPr>
        <p:spPr>
          <a:xfrm>
            <a:off x="685800" y="1371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6A3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AVANTAGES</a:t>
            </a:r>
            <a:endParaRPr lang="en-US" sz="10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792224"/>
            <a:ext cx="182880" cy="1828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05840" y="17373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Méthode encodée dans des skills</a:t>
            </a:r>
            <a:endParaRPr lang="en-US" sz="105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2359152"/>
            <a:ext cx="182880" cy="1828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05840" y="230428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Sources obligatoires, ISO 2022 vérifié (T-10)</a:t>
            </a:r>
            <a:endParaRPr lang="en-US" sz="105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2926080"/>
            <a:ext cx="182880" cy="1828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05840" y="2871216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Validation nominative (R-13 réexaminé, R-14 modifié)</a:t>
            </a:r>
            <a:endParaRPr lang="en-US" sz="105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3493008"/>
            <a:ext cx="182880" cy="18288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005840" y="3438144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Écriture des agents bornée à analyses/**</a:t>
            </a:r>
            <a:endParaRPr lang="en-US" sz="1050" dirty="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4059936"/>
            <a:ext cx="182880" cy="18288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005840" y="400507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Traçabilité git : issues, commits, PR, board</a:t>
            </a:r>
            <a:endParaRPr lang="en-US" sz="1050" dirty="0"/>
          </a:p>
        </p:txBody>
      </p:sp>
      <p:sp>
        <p:nvSpPr>
          <p:cNvPr id="16" name="Shape 9"/>
          <p:cNvSpPr/>
          <p:nvPr/>
        </p:nvSpPr>
        <p:spPr>
          <a:xfrm>
            <a:off x="4709160" y="1234440"/>
            <a:ext cx="3977640" cy="3429000"/>
          </a:xfrm>
          <a:prstGeom prst="roundRect">
            <a:avLst>
              <a:gd name="adj" fmla="val 2133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0"/>
          <p:cNvSpPr txBox="1"/>
          <p:nvPr/>
        </p:nvSpPr>
        <p:spPr>
          <a:xfrm>
            <a:off x="4937760" y="13716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INCONVÉNIENTS → PARADE</a:t>
            </a:r>
            <a:endParaRPr lang="en-US" sz="100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5192" y="1792224"/>
            <a:ext cx="182880" cy="18288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5257800" y="17373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Modèle cloud, pas de local</a:t>
            </a:r>
            <a:endParaRPr lang="en-US" sz="1050" dirty="0"/>
          </a:p>
          <a:p>
            <a:pPr marL="0" indent="0">
              <a:buNone/>
            </a:pPr>
            <a:r>
              <a:rPr lang="en-US" sz="950" dirty="0">
                <a:solidFill>
                  <a:srgbClr val="0D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ollama en roadmap</a:t>
            </a:r>
            <a:endParaRPr lang="en-US" sz="1050" dirty="0"/>
          </a:p>
        </p:txBody>
      </p:sp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5192" y="2359152"/>
            <a:ext cx="182880" cy="182880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5257800" y="230428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 d’analyse manuelle de référence</a:t>
            </a:r>
            <a:endParaRPr lang="en-US" sz="1050" dirty="0"/>
          </a:p>
          <a:p>
            <a:pPr marL="0" indent="0">
              <a:buNone/>
            </a:pPr>
            <a:r>
              <a:rPr lang="en-US" sz="950" dirty="0">
                <a:solidFill>
                  <a:srgbClr val="0D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issue #17</a:t>
            </a:r>
            <a:endParaRPr lang="en-US" sz="1050" dirty="0"/>
          </a:p>
        </p:txBody>
      </p:sp>
      <p:pic>
        <p:nvPicPr>
          <p:cNvPr id="22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5192" y="2926080"/>
            <a:ext cx="182880" cy="182880"/>
          </a:xfrm>
          <a:prstGeom prst="rect">
            <a:avLst/>
          </a:prstGeom>
        </p:spPr>
      </p:pic>
      <p:sp>
        <p:nvSpPr>
          <p:cNvPr id="23" name="Text 13"/>
          <p:cNvSpPr txBox="1"/>
          <p:nvPr/>
        </p:nvSpPr>
        <p:spPr>
          <a:xfrm>
            <a:off x="5257800" y="2871216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Injection réelle non exécutée</a:t>
            </a:r>
            <a:endParaRPr lang="en-US" sz="1050" dirty="0"/>
          </a:p>
          <a:p>
            <a:pPr marL="0" indent="0">
              <a:buNone/>
            </a:pPr>
            <a:r>
              <a:rPr lang="en-US" sz="950" dirty="0">
                <a:solidFill>
                  <a:srgbClr val="0D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protocole T-11 prêt</a:t>
            </a:r>
            <a:endParaRPr lang="en-US" sz="1050" dirty="0"/>
          </a:p>
        </p:txBody>
      </p:sp>
      <p:pic>
        <p:nvPicPr>
          <p:cNvPr id="24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5192" y="3493008"/>
            <a:ext cx="182880" cy="182880"/>
          </a:xfrm>
          <a:prstGeom prst="rect">
            <a:avLst/>
          </a:prstGeom>
        </p:spPr>
      </p:pic>
      <p:sp>
        <p:nvSpPr>
          <p:cNvPr id="25" name="Text 14"/>
          <p:cNvSpPr txBox="1"/>
          <p:nvPr/>
        </p:nvSpPr>
        <p:spPr>
          <a:xfrm>
            <a:off x="5257800" y="3438144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Contrôleur sur le même modèle</a:t>
            </a:r>
            <a:endParaRPr lang="en-US" sz="1050" dirty="0"/>
          </a:p>
          <a:p>
            <a:pPr marL="0" indent="0">
              <a:buNone/>
            </a:pPr>
            <a:r>
              <a:rPr lang="en-US" sz="950" dirty="0">
                <a:solidFill>
                  <a:srgbClr val="0D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modèle distinct + déterministe</a:t>
            </a:r>
            <a:endParaRPr lang="en-US" sz="1050" dirty="0"/>
          </a:p>
        </p:txBody>
      </p:sp>
      <p:pic>
        <p:nvPicPr>
          <p:cNvPr id="26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5192" y="4059936"/>
            <a:ext cx="182880" cy="182880"/>
          </a:xfrm>
          <a:prstGeom prst="rect">
            <a:avLst/>
          </a:prstGeom>
        </p:spPr>
      </p:pic>
      <p:sp>
        <p:nvSpPr>
          <p:cNvPr id="27" name="Text 15"/>
          <p:cNvSpPr txBox="1"/>
          <p:nvPr/>
        </p:nvSpPr>
        <p:spPr>
          <a:xfrm>
            <a:off x="5257800" y="400507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Budget &gt; enveloppe</a:t>
            </a:r>
            <a:endParaRPr lang="en-US" sz="1050" dirty="0"/>
          </a:p>
          <a:p>
            <a:pPr marL="0" indent="0">
              <a:buNone/>
            </a:pPr>
            <a:r>
              <a:rPr lang="en-US" sz="950" dirty="0">
                <a:solidFill>
                  <a:srgbClr val="0D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arbitrage issue #20</a:t>
            </a:r>
            <a:endParaRPr lang="en-US" sz="1050" dirty="0"/>
          </a:p>
        </p:txBody>
      </p:sp>
      <p:sp>
        <p:nvSpPr>
          <p:cNvPr id="28" name="Text 16"/>
          <p:cNvSpPr txBox="1"/>
          <p:nvPr/>
        </p:nvSpPr>
        <p:spPr>
          <a:xfrm>
            <a:off x="8321040" y="48006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</a:t>
            </a:r>
            <a:endParaRPr lang="en-US" sz="800" dirty="0"/>
          </a:p>
        </p:txBody>
      </p:sp>
      <p:sp>
        <p:nvSpPr>
          <p:cNvPr id="29" name="Text 17"/>
          <p:cNvSpPr txBox="1"/>
          <p:nvPr/>
        </p:nvSpPr>
        <p:spPr>
          <a:xfrm>
            <a:off x="457200" y="48006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E21 · Agents IA &amp; analyse de risques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· AUDIT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Audit externe : constats et remédiation</a:t>
            </a:r>
            <a:endParaRPr lang="en-US" sz="24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2926080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Constat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Verdict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Remédiation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ISO 27002 faux (10/13 risques)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Confirmé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Index 2022 canonique, registre ré-indexé, T-10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Contrôle circulaire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Confirmé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2ᵉ niveau : T-10 contre l’index canonique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R-13 rejeté sans motif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Confirmé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Retenu, programme RGPD, déc. 2026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Tests surévalués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Confirmé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PASS / SKIP / FAIL, comptages dynamiques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Permissions trop larges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Confirmé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Écriture bornée à analyses/**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« LlmProvider / mock »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Confirmé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Discours aligné : POC par consignes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Niveaux concurrents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Réfuté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 matrice fait foi (déjà écrit)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20624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3"/>
          <p:cNvSpPr txBox="1"/>
          <p:nvPr/>
        </p:nvSpPr>
        <p:spPr>
          <a:xfrm>
            <a:off x="640080" y="420624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C26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Reste ouvert : </a:t>
            </a:r>
            <a:r>
              <a:rPr lang="en-US" sz="10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analyse manuelle (#17), exécution de T-11, arbitrage budget (#20), modèle distinct pour le contrôleur.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8321040" y="48006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48006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E21 · Agents IA &amp; analyse de risques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· PERSPECTIVES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Feuille de route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822960" y="1874520"/>
            <a:ext cx="7498080" cy="0"/>
          </a:xfrm>
          <a:prstGeom prst="line">
            <a:avLst/>
          </a:prstGeom>
          <a:noFill/>
          <a:ln w="254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640080" y="1645920"/>
            <a:ext cx="457200" cy="457200"/>
          </a:xfrm>
          <a:prstGeom prst="ellipse">
            <a:avLst/>
          </a:prstGeom>
          <a:solidFill>
            <a:srgbClr val="0D9488"/>
          </a:solidFill>
          <a:ln w="190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1764792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2240280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AVANT LA SOUTENANCE</a:t>
            </a:r>
            <a:endParaRPr lang="en-US" sz="7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24505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Analyse manuelle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907792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Comparatif agents vs main (#17)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304288" y="1645920"/>
            <a:ext cx="457200" cy="457200"/>
          </a:xfrm>
          <a:prstGeom prst="ellipse">
            <a:avLst/>
          </a:prstGeom>
          <a:solidFill>
            <a:srgbClr val="0D9488"/>
          </a:solidFill>
          <a:ln w="190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3160" y="1764792"/>
            <a:ext cx="219456" cy="21945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121408" y="2240280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AVANT LA SOUTENANCE</a:t>
            </a:r>
            <a:endParaRPr lang="en-US" sz="750" dirty="0"/>
          </a:p>
        </p:txBody>
      </p:sp>
      <p:sp>
        <p:nvSpPr>
          <p:cNvPr id="13" name="Text 9"/>
          <p:cNvSpPr txBox="1"/>
          <p:nvPr/>
        </p:nvSpPr>
        <p:spPr>
          <a:xfrm>
            <a:off x="2121408" y="24505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Exécuter T-11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2121408" y="2907792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Injection réelle archivée</a:t>
            </a:r>
            <a:endParaRPr lang="en-US" sz="900" dirty="0"/>
          </a:p>
        </p:txBody>
      </p:sp>
      <p:sp>
        <p:nvSpPr>
          <p:cNvPr id="15" name="Shape 11"/>
          <p:cNvSpPr/>
          <p:nvPr/>
        </p:nvSpPr>
        <p:spPr>
          <a:xfrm>
            <a:off x="3968496" y="16459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87368" y="1764792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3785616" y="2240280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ÉVOLUTION</a:t>
            </a:r>
            <a:endParaRPr lang="en-US" sz="750" dirty="0"/>
          </a:p>
        </p:txBody>
      </p:sp>
      <p:sp>
        <p:nvSpPr>
          <p:cNvPr id="18" name="Text 13"/>
          <p:cNvSpPr txBox="1"/>
          <p:nvPr/>
        </p:nvSpPr>
        <p:spPr>
          <a:xfrm>
            <a:off x="3785616" y="24505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ollama local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3785616" y="2907792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Aucune donnée ne sort du poste</a:t>
            </a:r>
            <a:endParaRPr lang="en-US" sz="900" dirty="0"/>
          </a:p>
        </p:txBody>
      </p:sp>
      <p:sp>
        <p:nvSpPr>
          <p:cNvPr id="20" name="Shape 15"/>
          <p:cNvSpPr/>
          <p:nvPr/>
        </p:nvSpPr>
        <p:spPr>
          <a:xfrm>
            <a:off x="5632704" y="16459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51576" y="1764792"/>
            <a:ext cx="219456" cy="21945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449824" y="2240280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ÉVOLUTION</a:t>
            </a:r>
            <a:endParaRPr lang="en-US" sz="750" dirty="0"/>
          </a:p>
        </p:txBody>
      </p:sp>
      <p:sp>
        <p:nvSpPr>
          <p:cNvPr id="23" name="Text 17"/>
          <p:cNvSpPr txBox="1"/>
          <p:nvPr/>
        </p:nvSpPr>
        <p:spPr>
          <a:xfrm>
            <a:off x="5449824" y="24505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Analyse réseau</a:t>
            </a:r>
            <a:endParaRPr lang="en-US" sz="1150" dirty="0"/>
          </a:p>
        </p:txBody>
      </p:sp>
      <p:sp>
        <p:nvSpPr>
          <p:cNvPr id="24" name="Text 18"/>
          <p:cNvSpPr txBox="1"/>
          <p:nvPr/>
        </p:nvSpPr>
        <p:spPr>
          <a:xfrm>
            <a:off x="5449824" y="2907792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nmap, OpenVAS, ZAP ; CVE réelles (NVD)</a:t>
            </a:r>
            <a:endParaRPr lang="en-US" sz="900" dirty="0"/>
          </a:p>
        </p:txBody>
      </p:sp>
      <p:sp>
        <p:nvSpPr>
          <p:cNvPr id="25" name="Shape 19"/>
          <p:cNvSpPr/>
          <p:nvPr/>
        </p:nvSpPr>
        <p:spPr>
          <a:xfrm>
            <a:off x="7296912" y="16459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15784" y="1764792"/>
            <a:ext cx="219456" cy="21945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7114032" y="2240280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ÉVOLUTION</a:t>
            </a:r>
            <a:endParaRPr lang="en-US" sz="750" dirty="0"/>
          </a:p>
        </p:txBody>
      </p:sp>
      <p:sp>
        <p:nvSpPr>
          <p:cNvPr id="28" name="Text 21"/>
          <p:cNvSpPr txBox="1"/>
          <p:nvPr/>
        </p:nvSpPr>
        <p:spPr>
          <a:xfrm>
            <a:off x="7114032" y="24505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Ingestion documentaire</a:t>
            </a:r>
            <a:endParaRPr lang="en-US" sz="1150" dirty="0"/>
          </a:p>
        </p:txBody>
      </p:sp>
      <p:sp>
        <p:nvSpPr>
          <p:cNvPr id="29" name="Text 22"/>
          <p:cNvSpPr txBox="1"/>
          <p:nvPr/>
        </p:nvSpPr>
        <p:spPr>
          <a:xfrm>
            <a:off x="7114032" y="2907792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.pdf, .docx, .xlsx, images : parsing + OCR</a:t>
            </a:r>
            <a:endParaRPr lang="en-US" sz="900" dirty="0"/>
          </a:p>
        </p:txBody>
      </p:sp>
      <p:sp>
        <p:nvSpPr>
          <p:cNvPr id="30" name="Shape 23"/>
          <p:cNvSpPr/>
          <p:nvPr/>
        </p:nvSpPr>
        <p:spPr>
          <a:xfrm>
            <a:off x="457200" y="379476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E6F7F4"/>
          </a:solidFill>
          <a:ln w="12700">
            <a:solidFill>
              <a:srgbClr val="E6F7F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Text 24"/>
          <p:cNvSpPr txBox="1"/>
          <p:nvPr/>
        </p:nvSpPr>
        <p:spPr>
          <a:xfrm>
            <a:off x="640080" y="37947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948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Ensuite : </a:t>
            </a:r>
            <a:r>
              <a:rPr lang="en-US" sz="10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tests pytest en CI, contrôleur sur un modèle distinct, supervision continue (delta-registre), EBIOS RM « 5 ateliers ».</a:t>
            </a:r>
            <a:endParaRPr lang="en-US" sz="1050" dirty="0"/>
          </a:p>
        </p:txBody>
      </p:sp>
      <p:sp>
        <p:nvSpPr>
          <p:cNvPr id="32" name="Text 25"/>
          <p:cNvSpPr txBox="1"/>
          <p:nvPr/>
        </p:nvSpPr>
        <p:spPr>
          <a:xfrm>
            <a:off x="8321040" y="48006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</a:t>
            </a:r>
            <a:endParaRPr lang="en-US" sz="800" dirty="0"/>
          </a:p>
        </p:txBody>
      </p:sp>
      <p:sp>
        <p:nvSpPr>
          <p:cNvPr id="33" name="Text 26"/>
          <p:cNvSpPr txBox="1"/>
          <p:nvPr/>
        </p:nvSpPr>
        <p:spPr>
          <a:xfrm>
            <a:off x="457200" y="48006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E21 · Agents IA &amp; analyse de risques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CONCLUSION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L’IA propose, l’analyste décide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131D31"/>
          </a:solidFill>
          <a:ln w="12700">
            <a:solidFill>
              <a:srgbClr val="131D3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685800" y="16002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C2942"/>
          </a:solidFill>
          <a:ln w="12700">
            <a:solidFill>
              <a:srgbClr val="1C294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559" y="1730959"/>
            <a:ext cx="241402" cy="24140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85800" y="22402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Reproductible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60604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méthode est dans les skills, pas dans la mémoire du LLM.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246120" y="137160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131D31"/>
          </a:solidFill>
          <a:ln w="12700">
            <a:solidFill>
              <a:srgbClr val="131D3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Shape 7"/>
          <p:cNvSpPr/>
          <p:nvPr/>
        </p:nvSpPr>
        <p:spPr>
          <a:xfrm>
            <a:off x="3474720" y="16002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C2942"/>
          </a:solidFill>
          <a:ln w="12700">
            <a:solidFill>
              <a:srgbClr val="1C294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5479" y="1730959"/>
            <a:ext cx="241402" cy="24140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474720" y="22402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Traçable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3474720" y="260604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Chaque risque cite une source ISO 2022 vérifiée ; chaque étape est un commit.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035040" y="137160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131D31"/>
          </a:solidFill>
          <a:ln w="12700">
            <a:solidFill>
              <a:srgbClr val="131D3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Shape 11"/>
          <p:cNvSpPr/>
          <p:nvPr/>
        </p:nvSpPr>
        <p:spPr>
          <a:xfrm>
            <a:off x="6263640" y="16002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C2942"/>
          </a:solidFill>
          <a:ln w="12700">
            <a:solidFill>
              <a:srgbClr val="1C294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94399" y="1730959"/>
            <a:ext cx="241402" cy="24140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263640" y="22402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Humain décideur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6263640" y="260604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valide_par nominatif ; R-13 réexaminé, R-14 modifié.</a:t>
            </a:r>
            <a:endParaRPr lang="en-US" sz="105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3703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2DD4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« Un audit a trouvé nos erreurs ; elles sont corrigées et verrouillées par des tests. »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8321040" y="48006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</a:t>
            </a:r>
            <a:endParaRPr lang="en-US" sz="800" dirty="0"/>
          </a:p>
        </p:txBody>
      </p:sp>
      <p:sp>
        <p:nvSpPr>
          <p:cNvPr id="21" name="Text 16"/>
          <p:cNvSpPr txBox="1"/>
          <p:nvPr/>
        </p:nvSpPr>
        <p:spPr>
          <a:xfrm>
            <a:off x="457200" y="48006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E21 · Agents IA &amp; analyse de risques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0233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Melvin RAIMBAULT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MERCI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Questions ?</a:t>
            </a:r>
            <a:endParaRPr lang="en-US" sz="44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017520"/>
            <a:ext cx="292608" cy="2926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30175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github.com/MelvinBzh/management_de_la_securite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474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Analyse ShoPix : analyses/2026-09-23_boutique-en-ligne/  ·  Tests : soutenance/tests/verification.py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4520</Words>
  <Application>Microsoft Office PowerPoint</Application>
  <PresentationFormat>Affichage à l'écran (16:9)</PresentationFormat>
  <Paragraphs>805</Paragraphs>
  <Slides>29</Slides>
  <Notes>29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29</vt:i4>
      </vt:variant>
    </vt:vector>
  </HeadingPairs>
  <TitlesOfParts>
    <vt:vector size="34" baseType="lpstr">
      <vt:lpstr>Arial</vt:lpstr>
      <vt:lpstr>Consolas</vt:lpstr>
      <vt:lpstr>Segoe UI</vt:lpstr>
      <vt:lpstr>Segoe UI Semibold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 agents IA pour analyser les risques — Soutenance E21</dc:title>
  <dc:subject>PptxGenJS Presentation</dc:subject>
  <dc:creator>PptxGenJS</dc:creator>
  <cp:lastModifiedBy>melvin r</cp:lastModifiedBy>
  <cp:revision>2</cp:revision>
  <dcterms:created xsi:type="dcterms:W3CDTF">2026-09-24T10:36:37Z</dcterms:created>
  <dcterms:modified xsi:type="dcterms:W3CDTF">2026-09-24T11:06:07Z</dcterms:modified>
</cp:coreProperties>
</file>